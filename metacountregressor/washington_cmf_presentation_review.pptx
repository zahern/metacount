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40" Type="http://schemas.openxmlformats.org/officeDocument/2006/relationships/viewProps" Target="viewProps.xml" /><Relationship Id="rId39" Type="http://schemas.openxmlformats.org/officeDocument/2006/relationships/presProps" Target="presProps.xml" /><Relationship Id="rId1" Type="http://schemas.openxmlformats.org/officeDocument/2006/relationships/slideMaster" Target="slideMasters/slideMaster1.xml" /><Relationship Id="rId42" Type="http://schemas.openxmlformats.org/officeDocument/2006/relationships/tableStyles" Target="tableStyles.xml" /><Relationship Id="rId4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Washington Highway CMF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Hierarchical Crash Modification Factors</a:t>
            </a:r>
            <a:br/>
            <a:br/>
            <a:r>
              <a:rPr/>
              <a:t>MetaCount Research Group</a:t>
            </a:r>
          </a:p>
        </p:txBody>
      </p:sp>
      <p:sp>
        <p:nvSpPr>
          <p:cNvPr id="4" name="Date Placeholder 3"/>
          <p:cNvSpPr>
            <a:spLocks noGrp="1"/>
          </p:cNvSpPr>
          <p:nvPr>
            <p:ph idx="10" sz="half" type="dt"/>
          </p:nvPr>
        </p:nvSpPr>
        <p:spPr/>
        <p:txBody>
          <a:bodyPr/>
          <a:lstStyle/>
          <a:p>
            <a:pPr lvl="0" indent="0" marL="0">
              <a:buNone/>
            </a:pPr>
            <a:r>
              <a:rPr/>
              <a:t>2026-05-17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Overview</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Metric</a:t>
                      </a:r>
                    </a:p>
                  </a:txBody>
                  <a:tcPr/>
                </a:tc>
                <a:tc>
                  <a:txBody>
                    <a:bodyPr/>
                    <a:lstStyle/>
                    <a:p>
                      <a:pPr lvl="0" indent="0" marL="0">
                        <a:buNone/>
                      </a:pPr>
                      <a:r>
                        <a:rPr/>
                        <a:t>Value</a:t>
                      </a:r>
                    </a:p>
                  </a:txBody>
                  <a:tcPr/>
                </a:tc>
              </a:tr>
              <a:tr h="0">
                <a:tc>
                  <a:txBody>
                    <a:bodyPr/>
                    <a:lstStyle/>
                    <a:p>
                      <a:pPr lvl="0" indent="0" marL="0">
                        <a:buNone/>
                      </a:pPr>
                      <a:r>
                        <a:rPr/>
                        <a:t>Road segments</a:t>
                      </a:r>
                    </a:p>
                  </a:txBody>
                </a:tc>
                <a:tc>
                  <a:txBody>
                    <a:bodyPr/>
                    <a:lstStyle/>
                    <a:p>
                      <a:pPr lvl="0" indent="0" marL="0">
                        <a:buNone/>
                      </a:pPr>
                      <a:r>
                        <a:rPr/>
                        <a:t>275</a:t>
                      </a:r>
                    </a:p>
                  </a:txBody>
                </a:tc>
              </a:tr>
              <a:tr h="0">
                <a:tc>
                  <a:txBody>
                    <a:bodyPr/>
                    <a:lstStyle/>
                    <a:p>
                      <a:pPr lvl="0" indent="0" marL="0">
                        <a:buNone/>
                      </a:pPr>
                      <a:r>
                        <a:rPr/>
                        <a:t>Variables</a:t>
                      </a:r>
                    </a:p>
                  </a:txBody>
                </a:tc>
                <a:tc>
                  <a:txBody>
                    <a:bodyPr/>
                    <a:lstStyle/>
                    <a:p>
                      <a:pPr lvl="0" indent="0" marL="0">
                        <a:buNone/>
                      </a:pPr>
                      <a:r>
                        <a:rPr/>
                        <a:t>39</a:t>
                      </a:r>
                    </a:p>
                  </a:txBody>
                </a:tc>
              </a:tr>
              <a:tr h="0">
                <a:tc>
                  <a:txBody>
                    <a:bodyPr/>
                    <a:lstStyle/>
                    <a:p>
                      <a:pPr lvl="0" indent="0" marL="0">
                        <a:buNone/>
                      </a:pPr>
                      <a:r>
                        <a:rPr/>
                        <a:t>Response</a:t>
                      </a:r>
                    </a:p>
                  </a:txBody>
                </a:tc>
                <a:tc>
                  <a:txBody>
                    <a:bodyPr/>
                    <a:lstStyle/>
                    <a:p>
                      <a:pPr lvl="0" indent="0" marL="0">
                        <a:buNone/>
                      </a:pPr>
                      <a:r>
                        <a:rPr/>
                        <a:t>Crash count (FREQ)</a:t>
                      </a:r>
                    </a:p>
                  </a:txBody>
                </a:tc>
              </a:tr>
              <a:tr h="0">
                <a:tc>
                  <a:txBody>
                    <a:bodyPr/>
                    <a:lstStyle/>
                    <a:p>
                      <a:pPr lvl="0" indent="0" marL="0">
                        <a:buNone/>
                      </a:pPr>
                      <a:r>
                        <a:rPr/>
                        <a:t>Traffic</a:t>
                      </a:r>
                    </a:p>
                  </a:txBody>
                </a:tc>
                <a:tc>
                  <a:txBody>
                    <a:bodyPr/>
                    <a:lstStyle/>
                    <a:p>
                      <a:pPr lvl="0" indent="0" marL="0">
                        <a:buNone/>
                      </a:pPr>
                      <a:r>
                        <a:rPr/>
                        <a:t>AADT</a:t>
                      </a:r>
                    </a:p>
                  </a:txBody>
                </a:tc>
              </a:tr>
              <a:tr h="0">
                <a:tc>
                  <a:txBody>
                    <a:bodyPr/>
                    <a:lstStyle/>
                    <a:p>
                      <a:pPr lvl="0" indent="0" marL="0">
                        <a:buNone/>
                      </a:pPr>
                      <a:r>
                        <a:rPr/>
                        <a:t>Exposure</a:t>
                      </a:r>
                    </a:p>
                  </a:txBody>
                </a:tc>
                <a:tc>
                  <a:txBody>
                    <a:bodyPr/>
                    <a:lstStyle/>
                    <a:p>
                      <a:pPr lvl="0" indent="0" marL="0">
                        <a:buNone/>
                      </a:pPr>
                      <a:r>
                        <a:rPr/>
                        <a:t>Length (log offset)</a:t>
                      </a:r>
                    </a:p>
                  </a:txBody>
                </a:tc>
              </a:tr>
              <a:tr h="0">
                <a:tc>
                  <a:txBody>
                    <a:bodyPr/>
                    <a:lstStyle/>
                    <a:p>
                      <a:pPr lvl="0" indent="0" marL="0">
                        <a:buNone/>
                      </a:pPr>
                      <a:r>
                        <a:rPr/>
                        <a:t>Model family</a:t>
                      </a:r>
                    </a:p>
                  </a:txBody>
                </a:tc>
                <a:tc>
                  <a:txBody>
                    <a:bodyPr/>
                    <a:lstStyle/>
                    <a:p>
                      <a:pPr lvl="0" indent="0" marL="0">
                        <a:buNone/>
                      </a:pPr>
                      <a:r>
                        <a:rPr/>
                        <a:t>NB2</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Category</a:t>
                      </a:r>
                    </a:p>
                  </a:txBody>
                  <a:tcPr/>
                </a:tc>
                <a:tc>
                  <a:txBody>
                    <a:bodyPr/>
                    <a:lstStyle/>
                    <a:p>
                      <a:pPr lvl="0" indent="0" marL="0">
                        <a:buNone/>
                      </a:pPr>
                      <a:r>
                        <a:rPr/>
                        <a:t>Key Variables</a:t>
                      </a:r>
                    </a:p>
                  </a:txBody>
                  <a:tcPr/>
                </a:tc>
              </a:tr>
              <a:tr h="0">
                <a:tc>
                  <a:txBody>
                    <a:bodyPr/>
                    <a:lstStyle/>
                    <a:p>
                      <a:pPr lvl="0" indent="0" marL="0">
                        <a:buNone/>
                      </a:pPr>
                      <a:r>
                        <a:rPr/>
                        <a:t>Traffic</a:t>
                      </a:r>
                    </a:p>
                  </a:txBody>
                </a:tc>
                <a:tc>
                  <a:txBody>
                    <a:bodyPr/>
                    <a:lstStyle/>
                    <a:p>
                      <a:pPr lvl="0" indent="0" marL="0">
                        <a:buNone/>
                      </a:pPr>
                      <a:r>
                        <a:rPr/>
                        <a:t>AADT, PEAKHR, ADTLANE, EXPOSE</a:t>
                      </a:r>
                    </a:p>
                  </a:txBody>
                </a:tc>
              </a:tr>
              <a:tr h="0">
                <a:tc>
                  <a:txBody>
                    <a:bodyPr/>
                    <a:lstStyle/>
                    <a:p>
                      <a:pPr lvl="0" indent="0" marL="0">
                        <a:buNone/>
                      </a:pPr>
                      <a:r>
                        <a:rPr/>
                        <a:t>Geometry</a:t>
                      </a:r>
                    </a:p>
                  </a:txBody>
                </a:tc>
                <a:tc>
                  <a:txBody>
                    <a:bodyPr/>
                    <a:lstStyle/>
                    <a:p>
                      <a:pPr lvl="0" indent="0" marL="0">
                        <a:buNone/>
                      </a:pPr>
                      <a:r>
                        <a:rPr/>
                        <a:t>INCLANES, DECLANES, WIDTH, MEDWIDTH</a:t>
                      </a:r>
                    </a:p>
                  </a:txBody>
                </a:tc>
              </a:tr>
              <a:tr h="0">
                <a:tc>
                  <a:txBody>
                    <a:bodyPr/>
                    <a:lstStyle/>
                    <a:p>
                      <a:pPr lvl="0" indent="0" marL="0">
                        <a:buNone/>
                      </a:pPr>
                      <a:r>
                        <a:rPr/>
                        <a:t>Alignment</a:t>
                      </a:r>
                    </a:p>
                  </a:txBody>
                </a:tc>
                <a:tc>
                  <a:txBody>
                    <a:bodyPr/>
                    <a:lstStyle/>
                    <a:p>
                      <a:pPr lvl="0" indent="0" marL="0">
                        <a:buNone/>
                      </a:pPr>
                      <a:r>
                        <a:rPr/>
                        <a:t>CURVES, MINRAD, TANGENT, GRADEBR</a:t>
                      </a:r>
                    </a:p>
                  </a:txBody>
                </a:tc>
              </a:tr>
              <a:tr h="0">
                <a:tc>
                  <a:txBody>
                    <a:bodyPr/>
                    <a:lstStyle/>
                    <a:p>
                      <a:pPr lvl="0" indent="0" marL="0">
                        <a:buNone/>
                      </a:pPr>
                      <a:r>
                        <a:rPr/>
                        <a:t>Grade</a:t>
                      </a:r>
                    </a:p>
                  </a:txBody>
                </a:tc>
                <a:tc>
                  <a:txBody>
                    <a:bodyPr/>
                    <a:lstStyle/>
                    <a:p>
                      <a:pPr lvl="0" indent="0" marL="0">
                        <a:buNone/>
                      </a:pPr>
                      <a:r>
                        <a:rPr/>
                        <a:t>MIGRADE, MXGRADE, MXGRDIFF, SLOPE</a:t>
                      </a:r>
                    </a:p>
                  </a:txBody>
                </a:tc>
              </a:tr>
              <a:tr h="0">
                <a:tc>
                  <a:txBody>
                    <a:bodyPr/>
                    <a:lstStyle/>
                    <a:p>
                      <a:pPr lvl="0" indent="0" marL="0">
                        <a:buNone/>
                      </a:pPr>
                      <a:r>
                        <a:rPr/>
                        <a:t>Roadside</a:t>
                      </a:r>
                    </a:p>
                  </a:txBody>
                </a:tc>
                <a:tc>
                  <a:txBody>
                    <a:bodyPr/>
                    <a:lstStyle/>
                    <a:p>
                      <a:pPr lvl="0" indent="0" marL="0">
                        <a:buNone/>
                      </a:pPr>
                      <a:r>
                        <a:rPr/>
                        <a:t>MIMEDSH, MXMEDSH, ACCESS, FRICTION</a:t>
                      </a:r>
                    </a:p>
                  </a:txBody>
                </a:tc>
              </a:tr>
              <a:tr h="0">
                <a:tc>
                  <a:txBody>
                    <a:bodyPr/>
                    <a:lstStyle/>
                    <a:p>
                      <a:pPr lvl="0" indent="0" marL="0">
                        <a:buNone/>
                      </a:pPr>
                      <a:r>
                        <a:rPr/>
                        <a:t>Climate</a:t>
                      </a:r>
                    </a:p>
                  </a:txBody>
                </a:tc>
                <a:tc>
                  <a:txBody>
                    <a:bodyPr/>
                    <a:lstStyle/>
                    <a:p>
                      <a:pPr lvl="0" indent="0" marL="0">
                        <a:buNone/>
                      </a:pPr>
                      <a:r>
                        <a:rPr/>
                        <a:t>AVEPRE, AVESNOW, HISNOW, LOWPRE</a:t>
                      </a:r>
                    </a:p>
                  </a:txBody>
                </a:tc>
              </a:tr>
              <a:tr h="0">
                <a:tc>
                  <a:txBody>
                    <a:bodyPr/>
                    <a:lstStyle/>
                    <a:p>
                      <a:pPr lvl="0" indent="0" marL="0">
                        <a:buNone/>
                      </a:pPr>
                      <a:r>
                        <a:rPr/>
                        <a:t>Road class</a:t>
                      </a:r>
                    </a:p>
                  </a:txBody>
                </a:tc>
                <a:tc>
                  <a:txBody>
                    <a:bodyPr/>
                    <a:lstStyle/>
                    <a:p>
                      <a:pPr lvl="0" indent="0" marL="0">
                        <a:buNone/>
                      </a:pPr>
                      <a:r>
                        <a:rPr/>
                        <a:t>URB, FC, SINGLE, DOUBLE, TRAIN</a:t>
                      </a:r>
                    </a:p>
                  </a:txBody>
                </a:tc>
              </a:tr>
              <a:tr h="0">
                <a:tc>
                  <a:txBody>
                    <a:bodyPr/>
                    <a:lstStyle/>
                    <a:p>
                      <a:pPr lvl="0" indent="0" marL="0">
                        <a:buNone/>
                      </a:pPr>
                      <a:r>
                        <a:rPr/>
                        <a:t>Auxiliary</a:t>
                      </a:r>
                    </a:p>
                  </a:txBody>
                </a:tc>
                <a:tc>
                  <a:txBody>
                    <a:bodyPr/>
                    <a:lstStyle/>
                    <a:p>
                      <a:pPr lvl="0" indent="0" marL="0">
                        <a:buNone/>
                      </a:pPr>
                      <a:r>
                        <a:rPr/>
                        <a:t>INTPM, CPM, INTECHAG</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limLow>
                        <m:e>
                          <m:limLow>
                            <m:e>
                              <m:sSub>
                                <m:e>
                                  <m:r>
                                    <m:t>β</m:t>
                                  </m:r>
                                </m:e>
                                <m:sub>
                                  <m:r>
                                    <m:rPr>
                                      <m:nor/>
                                      <m:sty m:val="p"/>
                                    </m:rPr>
                                    <m:t>AADT</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AADT elasticity</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i</m:t>
                                  </m:r>
                                  <m:r>
                                    <m:t>j</m:t>
                                  </m:r>
                                </m:sub>
                              </m:sSub>
                            </m:e>
                            <m:lim>
                              <m:r>
                                <m:rPr>
                                  <m:sty m:val="p"/>
                                </m:rPr>
                                <m:t>⏟</m:t>
                              </m:r>
                            </m:lim>
                          </m:limLow>
                        </m:e>
                        <m:lim>
                          <m:r>
                            <m:rPr>
                              <m:nor/>
                              <m:sty m:val="p"/>
                            </m:rPr>
                            <m:t>Upper: direct</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Lower: modify elasticity</m:t>
                          </m:r>
                        </m:lim>
                      </m:limLow>
                      <m:r>
                        <m:rPr>
                          <m:sty m:val="p"/>
                        </m:rPr>
                        <m:t>+</m:t>
                      </m:r>
                      <m:r>
                        <m:rPr>
                          <m:sty m:val="p"/>
                        </m:rPr>
                        <m:t>log</m:t>
                      </m:r>
                      <m:d>
                        <m:dPr>
                          <m:begChr m:val="("/>
                          <m:sepChr m:val=""/>
                          <m:endChr m:val=")"/>
                          <m:grow/>
                        </m:dPr>
                        <m:e>
                          <m:sSub>
                            <m:e>
                              <m:r>
                                <m:t>L</m:t>
                              </m:r>
                            </m:e>
                            <m:sub>
                              <m:r>
                                <m:t>i</m:t>
                              </m:r>
                            </m:sub>
                          </m:sSub>
                        </m:e>
                      </m:d>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Upper terms</a:t>
                </a:r>
                <a:r>
                  <a:rPr/>
                  <a:t> — AADT-independent effect. CMF for a 1-unit change: </a:t>
                </a:r>
                <a14:m>
                  <m:oMath xmlns:m="http://schemas.openxmlformats.org/officeDocument/2006/math">
                    <m:r>
                      <m:rPr>
                        <m:nor/>
                        <m:sty m:val="p"/>
                      </m:rPr>
                      <m:t>CMF</m:t>
                    </m:r>
                    <m:r>
                      <m:rPr>
                        <m:sty m:val="p"/>
                      </m:rPr>
                      <m:t>=</m:t>
                    </m:r>
                    <m:sSup>
                      <m:e>
                        <m:r>
                          <m:t>e</m:t>
                        </m:r>
                      </m:e>
                      <m:sup>
                        <m:sSub>
                          <m:e>
                            <m:r>
                              <m:t>β</m:t>
                            </m:r>
                          </m:e>
                          <m:sub>
                            <m:r>
                              <m:t>j</m:t>
                            </m:r>
                          </m:sub>
                        </m:sSub>
                      </m:sup>
                    </m:sSup>
                  </m:oMath>
                </a14:m>
                <a:r>
                  <a:rPr/>
                  <a:t>. Same across all AADT levels.</a:t>
                </a:r>
              </a:p>
              <a:p>
                <a:pPr lvl="0" indent="0" marL="0">
                  <a:buNone/>
                </a:pPr>
                <a:r>
                  <a:rPr b="1"/>
                  <a:t>Lower terms</a:t>
                </a:r>
                <a:r>
                  <a:rPr/>
                  <a:t> — modify the AADT elasticity:</a:t>
                </a:r>
              </a:p>
              <a:p>
                <a:pPr lvl="0" indent="0" marL="0">
                  <a:buNone/>
                </a:pPr>
                <a14:m>
                  <m:oMathPara xmlns:m="http://schemas.openxmlformats.org/officeDocument/2006/math">
                    <m:oMathParaPr>
                      <m:jc m:val="center"/>
                    </m:oMathParaPr>
                    <m:oMath>
                      <m:sSub>
                        <m:e>
                          <m:r>
                            <m:t>e</m:t>
                          </m:r>
                        </m:e>
                        <m:sub>
                          <m:r>
                            <m:t>i</m:t>
                          </m:r>
                        </m:sub>
                      </m:sSub>
                      <m:r>
                        <m:rPr>
                          <m:sty m:val="p"/>
                        </m:rPr>
                        <m:t>=</m:t>
                      </m:r>
                      <m:sSub>
                        <m:e>
                          <m:r>
                            <m:t>β</m:t>
                          </m:r>
                        </m:e>
                        <m:sub>
                          <m:r>
                            <m:rPr>
                              <m:nor/>
                              <m:sty m:val="p"/>
                            </m:rPr>
                            <m:t>AADT</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&gt;</m:t>
                      </m:r>
                      <m:r>
                        <m:t>0</m:t>
                      </m:r>
                      <m:r>
                        <m:t> </m:t>
                      </m:r>
                      <m:r>
                        <m:rPr>
                          <m:nor/>
                          <m:sty m:val="p"/>
                        </m:rPr>
                        <m:t>(enforced)</m:t>
                      </m:r>
                    </m:oMath>
                  </m:oMathPara>
                </a14:m>
              </a:p>
              <a:p>
                <a:pPr lvl="0" indent="0" marL="0">
                  <a:buNone/>
                </a:pPr>
                <a:r>
                  <a:rPr/>
                  <a:t>CMF varies with traffic volume.</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b="1"/>
                  <a:t>Search strategy</a:t>
                </a:r>
              </a:p>
              <a:p>
                <a:pPr lvl="0" indent="-342900" marL="342900">
                  <a:buAutoNum type="arabicPeriod"/>
                </a:pPr>
                <a:r>
                  <a:rPr/>
                  <a:t>Random exploration: draw upper + lower variables from the candidate pool</a:t>
                </a:r>
              </a:p>
              <a:p>
                <a:pPr lvl="0" indent="-342900" marL="342900">
                  <a:buAutoNum type="arabicPeriod"/>
                </a:pPr>
                <a:r>
                  <a:rPr/>
                  <a:t>Score on validation set by </a:t>
                </a:r>
                <a:r>
                  <a:rPr b="1"/>
                  <a:t>Poisson deviance</a:t>
                </a:r>
                <a:r>
                  <a:rPr/>
                  <a:t> and </a:t>
                </a:r>
                <a:r>
                  <a:rPr b="1"/>
                  <a:t>RMSE</a:t>
                </a:r>
                <a:r>
                  <a:rPr/>
                  <a:t>; reject non-monotonic AADT</a:t>
                </a:r>
              </a:p>
              <a:p>
                <a:pPr lvl="0" indent="-342900" marL="342900">
                  <a:buAutoNum type="arabicPeriod"/>
                </a:pPr>
                <a:r>
                  <a:rPr/>
                  <a:t>Refinement stage: Simulated Annealing + Harmony Search</a:t>
                </a:r>
              </a:p>
              <a:p>
                <a:pPr lvl="0" indent="-342900" marL="342900">
                  <a:buAutoNum type="arabicPeriod"/>
                </a:pPr>
                <a:r>
                  <a:rPr/>
                  <a:t>Final refit on train + validation (80%); evaluate on held-out test (20%)</a:t>
                </a:r>
              </a:p>
              <a:p>
                <a:pPr lvl="0" indent="-342900" marL="342900">
                  <a:buAutoNum type="arabicPeriod"/>
                </a:pPr>
                <a:r>
                  <a:rPr/>
                  <a:t>Post-search random-parameters refit on the best spec</a:t>
                </a:r>
              </a:p>
              <a:p>
                <a:pPr lvl="0" indent="0" marL="0">
                  <a:buNone/>
                </a:pPr>
                <a:r>
                  <a:rPr b="1"/>
                  <a:t>Hierarchical CMF model</a:t>
                </a:r>
              </a:p>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d>
                        <m:dPr>
                          <m:begChr m:val="("/>
                          <m:sepChr m:val=""/>
                          <m:endChr m:val=")"/>
                          <m:grow/>
                        </m:dPr>
                        <m:e>
                          <m:sSub>
                            <m:e>
                              <m:r>
                                <m:t>A</m:t>
                              </m:r>
                            </m:e>
                            <m:sub>
                              <m:r>
                                <m:t>i</m:t>
                              </m:r>
                            </m:sub>
                          </m:sSub>
                        </m:e>
                      </m:d>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t>A</m:t>
                              </m:r>
                            </m:e>
                            <m:sub>
                              <m:r>
                                <m:t>i</m:t>
                              </m:r>
                            </m:sub>
                          </m:sSub>
                        </m:e>
                      </m:d>
                      <m:r>
                        <m:rPr>
                          <m:sty m:val="p"/>
                        </m:rPr>
                        <m:t>+</m:t>
                      </m:r>
                      <m:r>
                        <m:rPr>
                          <m:sty m:val="p"/>
                        </m:rPr>
                        <m:t>log</m:t>
                      </m:r>
                      <m:d>
                        <m:dPr>
                          <m:begChr m:val="("/>
                          <m:sepChr m:val=""/>
                          <m:endChr m:val=")"/>
                          <m:grow/>
                        </m:dPr>
                        <m:e>
                          <m:sSub>
                            <m:e>
                              <m:r>
                                <m:t>L</m:t>
                              </m:r>
                            </m:e>
                            <m:sub>
                              <m:r>
                                <m:t>i</m:t>
                              </m:r>
                            </m:sub>
                          </m:sSub>
                        </m:e>
                      </m:d>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Search Convergence</a:t>
            </a:r>
          </a:p>
        </p:txBody>
      </p:sp>
      <p:pic>
        <p:nvPicPr>
          <p:cNvPr descr="../results/ex16_3_cmf/search_convergence.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Convergence: proposed-path trace (dotted) + running best solid envelope for BIC (left) and Validation RMSE (right). Green = monotonic AADT, grey = non-monotonic (excluded), star = global best.</a:t>
            </a:r>
          </a:p>
        </p:txBody>
      </p:sp>
      <p:sp>
        <p:nvSpPr>
          <p:cNvPr id="3" name="Content Placeholder 2"/>
          <p:cNvSpPr>
            <a:spLocks noGrp="1"/>
          </p:cNvSpPr>
          <p:nvPr>
            <p:ph idx="1"/>
          </p:nvPr>
        </p:nvSpPr>
        <p:spPr/>
        <p:txBody>
          <a:bodyPr/>
          <a:lstStyle/>
          <a:p>
            <a:pPr lvl="0" indent="0" marL="0">
              <a:buNone/>
            </a:pPr>
            <a:r>
              <a:rPr/>
              <a:t>Dotted line = all proposed models · Solid envelope = running best · Green = monotonic AADT · Grey = excluded · Star = global best</a:t>
            </a:r>
          </a:p>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Refinement: Harmony Search &amp; SA</a:t>
            </a:r>
          </a:p>
        </p:txBody>
      </p:sp>
      <p:pic>
        <p:nvPicPr>
          <p:cNvPr descr="../results/ex16_3_cmf/refinement_phase_traces.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Both refinement phases shown together: Harmony Search (left) and Simulated Annealing (right). BIC and Validation RMSE axes are windowed to show only competitive models. Running-best envelopes in bold; per-iteration proposals in lighter dots.</a:t>
            </a:r>
          </a:p>
        </p:txBody>
      </p:sp>
      <p:sp>
        <p:nvSpPr>
          <p:cNvPr id="3" name="Content Placeholder 2"/>
          <p:cNvSpPr>
            <a:spLocks noGrp="1"/>
          </p:cNvSpPr>
          <p:nvPr>
            <p:ph idx="1"/>
          </p:nvPr>
        </p:nvSpPr>
        <p:spPr/>
        <p:txBody>
          <a:bodyPr/>
          <a:lstStyle/>
          <a:p>
            <a:pPr lvl="0" indent="0" marL="0">
              <a:buNone/>
            </a:pPr>
            <a:r>
              <a:rPr b="1"/>
              <a:t>Bottom line:</a:t>
            </a:r>
            <a:r>
              <a:rPr/>
              <a:t> both refinement methods converged to the same winning specification.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Phase</a:t>
                      </a:r>
                    </a:p>
                  </a:txBody>
                  <a:tcPr/>
                </a:tc>
                <a:tc>
                  <a:txBody>
                    <a:bodyPr/>
                    <a:lstStyle/>
                    <a:p>
                      <a:pPr lvl="0" indent="0" marL="0" algn="r">
                        <a:buNone/>
                      </a:pPr>
                      <a:r>
                        <a:rPr/>
                        <a:t>Best iteration</a:t>
                      </a:r>
                    </a:p>
                  </a:txBody>
                  <a:tcPr/>
                </a:tc>
                <a:tc>
                  <a:txBody>
                    <a:bodyPr/>
                    <a:lstStyle/>
                    <a:p>
                      <a:pPr lvl="0" indent="0" marL="0" algn="r">
                        <a:buNone/>
                      </a:pPr>
                      <a:r>
                        <a:rPr/>
                        <a:t>Best BIC</a:t>
                      </a:r>
                    </a:p>
                  </a:txBody>
                  <a:tcPr/>
                </a:tc>
                <a:tc>
                  <a:txBody>
                    <a:bodyPr/>
                    <a:lstStyle/>
                    <a:p>
                      <a:pPr lvl="0" indent="0" marL="0" algn="r">
                        <a:buNone/>
                      </a:pPr>
                      <a:r>
                        <a:rPr/>
                        <a:t>Best validation RMSE</a:t>
                      </a:r>
                    </a:p>
                  </a:txBody>
                  <a:tcPr/>
                </a:tc>
              </a:tr>
              <a:tr h="0">
                <a:tc>
                  <a:txBody>
                    <a:bodyPr/>
                    <a:lstStyle/>
                    <a:p>
                      <a:pPr lvl="0" indent="0" marL="0">
                        <a:buNone/>
                      </a:pPr>
                      <a:r>
                        <a:rPr/>
                        <a:t>Simulated Annealing</a:t>
                      </a:r>
                    </a:p>
                  </a:txBody>
                </a:tc>
                <a:tc>
                  <a:txBody>
                    <a:bodyPr/>
                    <a:lstStyle/>
                    <a:p>
                      <a:pPr lvl="0" indent="0" marL="0" algn="r">
                        <a:buNone/>
                      </a:pPr>
                      <a:r>
                        <a:rPr/>
                        <a:t>2,203</a:t>
                      </a:r>
                    </a:p>
                  </a:txBody>
                </a:tc>
                <a:tc>
                  <a:txBody>
                    <a:bodyPr/>
                    <a:lstStyle/>
                    <a:p>
                      <a:pPr lvl="0" indent="0" marL="0" algn="r">
                        <a:buNone/>
                      </a:pPr>
                      <a:r>
                        <a:rPr/>
                        <a:t>1,147.82</a:t>
                      </a:r>
                    </a:p>
                  </a:txBody>
                </a:tc>
                <a:tc>
                  <a:txBody>
                    <a:bodyPr/>
                    <a:lstStyle/>
                    <a:p>
                      <a:pPr lvl="0" indent="0" marL="0" algn="r">
                        <a:buNone/>
                      </a:pPr>
                      <a:r>
                        <a:rPr/>
                        <a:t>16.2576</a:t>
                      </a:r>
                    </a:p>
                  </a:txBody>
                </a:tc>
              </a:tr>
              <a:tr h="0">
                <a:tc>
                  <a:txBody>
                    <a:bodyPr/>
                    <a:lstStyle/>
                    <a:p>
                      <a:pPr lvl="0" indent="0" marL="0">
                        <a:buNone/>
                      </a:pPr>
                      <a:r>
                        <a:rPr/>
                        <a:t>Harmony Search</a:t>
                      </a:r>
                    </a:p>
                  </a:txBody>
                </a:tc>
                <a:tc>
                  <a:txBody>
                    <a:bodyPr/>
                    <a:lstStyle/>
                    <a:p>
                      <a:pPr lvl="0" indent="0" marL="0" algn="r">
                        <a:buNone/>
                      </a:pPr>
                      <a:r>
                        <a:rPr/>
                        <a:t>1,129</a:t>
                      </a:r>
                    </a:p>
                  </a:txBody>
                </a:tc>
                <a:tc>
                  <a:txBody>
                    <a:bodyPr/>
                    <a:lstStyle/>
                    <a:p>
                      <a:pPr lvl="0" indent="0" marL="0" algn="r">
                        <a:buNone/>
                      </a:pPr>
                      <a:r>
                        <a:rPr/>
                        <a:t>1,147.82</a:t>
                      </a:r>
                    </a:p>
                  </a:txBody>
                </a:tc>
                <a:tc>
                  <a:txBody>
                    <a:bodyPr/>
                    <a:lstStyle/>
                    <a:p>
                      <a:pPr lvl="0" indent="0" marL="0" algn="r">
                        <a:buNone/>
                      </a:pPr>
                      <a:r>
                        <a:rPr/>
                        <a:t>16.2576</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 vs Harmony (Side-by-Side)</a:t>
            </a:r>
          </a:p>
        </p:txBody>
      </p:sp>
      <p:pic>
        <p:nvPicPr>
          <p:cNvPr descr="../results/ex16_3_cmf/search_phase_comparison.png" id="0" name="Picture 1"/>
          <p:cNvPicPr>
            <a:picLocks noGrp="1" noChangeAspect="1"/>
          </p:cNvPicPr>
          <p:nvPr/>
        </p:nvPicPr>
        <p:blipFill>
          <a:blip r:embed="rId2"/>
          <a:stretch>
            <a:fillRect/>
          </a:stretch>
        </p:blipFill>
        <p:spPr bwMode="auto">
          <a:xfrm>
            <a:off x="1117600" y="1193800"/>
            <a:ext cx="692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Best SA candidate vs best Harmony candidate by BIC and Validation RMSE.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 vs Harmony - Distribution Differences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81100"/>
                <a:gridCol w="1181100"/>
                <a:gridCol w="1181100"/>
                <a:gridCol w="1181100"/>
                <a:gridCol w="1181100"/>
                <a:gridCol w="1181100"/>
                <a:gridCol w="1181100"/>
              </a:tblGrid>
              <a:tr h="0">
                <a:tc>
                  <a:txBody>
                    <a:bodyPr/>
                    <a:lstStyle/>
                    <a:p>
                      <a:pPr lvl="0" indent="0" marL="0">
                        <a:buNone/>
                      </a:pPr>
                      <a:r>
                        <a:rPr/>
                        <a:t>Search Phase</a:t>
                      </a:r>
                    </a:p>
                  </a:txBody>
                  <a:tcPr/>
                </a:tc>
                <a:tc>
                  <a:txBody>
                    <a:bodyPr/>
                    <a:lstStyle/>
                    <a:p>
                      <a:pPr lvl="0" indent="0" marL="0">
                        <a:buNone/>
                      </a:pPr>
                      <a:r>
                        <a:rPr/>
                        <a:t>Candidates evaluated</a:t>
                      </a:r>
                    </a:p>
                  </a:txBody>
                  <a:tcPr/>
                </a:tc>
                <a:tc>
                  <a:txBody>
                    <a:bodyPr/>
                    <a:lstStyle/>
                    <a:p>
                      <a:pPr lvl="0" indent="0" marL="0">
                        <a:buNone/>
                      </a:pPr>
                      <a:r>
                        <a:rPr/>
                        <a:t>Best BIC</a:t>
                      </a:r>
                    </a:p>
                  </a:txBody>
                  <a:tcPr/>
                </a:tc>
                <a:tc>
                  <a:txBody>
                    <a:bodyPr/>
                    <a:lstStyle/>
                    <a:p>
                      <a:pPr lvl="0" indent="0" marL="0">
                        <a:buNone/>
                      </a:pPr>
                      <a:r>
                        <a:rPr/>
                        <a:t>Best Val RMSE</a:t>
                      </a:r>
                    </a:p>
                  </a:txBody>
                  <a:tcPr/>
                </a:tc>
                <a:tc>
                  <a:txBody>
                    <a:bodyPr/>
                    <a:lstStyle/>
                    <a:p>
                      <a:pPr lvl="0" indent="0" marL="0">
                        <a:buNone/>
                      </a:pPr>
                      <a:r>
                        <a:rPr/>
                        <a:t>Median BIC</a:t>
                      </a:r>
                    </a:p>
                  </a:txBody>
                  <a:tcPr/>
                </a:tc>
                <a:tc>
                  <a:txBody>
                    <a:bodyPr/>
                    <a:lstStyle/>
                    <a:p>
                      <a:pPr lvl="0" indent="0" marL="0">
                        <a:buNone/>
                      </a:pPr>
                      <a:r>
                        <a:rPr/>
                        <a:t>Median Val RMSE</a:t>
                      </a:r>
                    </a:p>
                  </a:txBody>
                  <a:tcPr/>
                </a:tc>
                <a:tc>
                  <a:txBody>
                    <a:bodyPr/>
                    <a:lstStyle/>
                    <a:p>
                      <a:pPr lvl="0" indent="0" marL="0">
                        <a:buNone/>
                      </a:pPr>
                      <a:r>
                        <a:rPr/>
                        <a:t>First iter within 0.5% of best BIC</a:t>
                      </a:r>
                    </a:p>
                  </a:txBody>
                  <a:tcPr/>
                </a:tc>
              </a:tr>
              <a:tr h="0">
                <a:tc>
                  <a:txBody>
                    <a:bodyPr/>
                    <a:lstStyle/>
                    <a:p>
                      <a:pPr lvl="0" indent="0" marL="0">
                        <a:buNone/>
                      </a:pPr>
                      <a:r>
                        <a:rPr/>
                        <a:t>Simulated Annealing</a:t>
                      </a:r>
                    </a:p>
                  </a:txBody>
                </a:tc>
                <a:tc>
                  <a:txBody>
                    <a:bodyPr/>
                    <a:lstStyle/>
                    <a:p>
                      <a:pPr lvl="0" indent="0" marL="0">
                        <a:buNone/>
                      </a:pPr>
                      <a:r>
                        <a:rPr/>
                        <a:t>42.0000</a:t>
                      </a:r>
                    </a:p>
                  </a:txBody>
                </a:tc>
                <a:tc>
                  <a:txBody>
                    <a:bodyPr/>
                    <a:lstStyle/>
                    <a:p>
                      <a:pPr lvl="0" indent="0" marL="0">
                        <a:buNone/>
                      </a:pPr>
                      <a:r>
                        <a:rPr/>
                        <a:t>1,173.67</a:t>
                      </a:r>
                    </a:p>
                  </a:txBody>
                </a:tc>
                <a:tc>
                  <a:txBody>
                    <a:bodyPr/>
                    <a:lstStyle/>
                    <a:p>
                      <a:pPr lvl="0" indent="0" marL="0">
                        <a:buNone/>
                      </a:pPr>
                      <a:r>
                        <a:rPr/>
                        <a:t>16.1397</a:t>
                      </a:r>
                    </a:p>
                  </a:txBody>
                </a:tc>
                <a:tc>
                  <a:txBody>
                    <a:bodyPr/>
                    <a:lstStyle/>
                    <a:p>
                      <a:pPr lvl="0" indent="0" marL="0">
                        <a:buNone/>
                      </a:pPr>
                      <a:r>
                        <a:rPr/>
                        <a:t>1,184.19</a:t>
                      </a:r>
                    </a:p>
                  </a:txBody>
                </a:tc>
                <a:tc>
                  <a:txBody>
                    <a:bodyPr/>
                    <a:lstStyle/>
                    <a:p>
                      <a:pPr lvl="0" indent="0" marL="0">
                        <a:buNone/>
                      </a:pPr>
                      <a:r>
                        <a:rPr/>
                        <a:t>17.8985</a:t>
                      </a:r>
                    </a:p>
                  </a:txBody>
                </a:tc>
                <a:tc>
                  <a:txBody>
                    <a:bodyPr/>
                    <a:lstStyle/>
                    <a:p>
                      <a:pPr lvl="0" indent="0" marL="0">
                        <a:buNone/>
                      </a:pPr>
                      <a:r>
                        <a:rPr/>
                        <a:t>58.0000</a:t>
                      </a:r>
                    </a:p>
                  </a:txBody>
                </a:tc>
              </a:tr>
              <a:tr h="0">
                <a:tc>
                  <a:txBody>
                    <a:bodyPr/>
                    <a:lstStyle/>
                    <a:p>
                      <a:pPr lvl="0" indent="0" marL="0">
                        <a:buNone/>
                      </a:pPr>
                      <a:r>
                        <a:rPr/>
                        <a:t>Harmony Search</a:t>
                      </a:r>
                    </a:p>
                  </a:txBody>
                </a:tc>
                <a:tc>
                  <a:txBody>
                    <a:bodyPr/>
                    <a:lstStyle/>
                    <a:p>
                      <a:pPr lvl="0" indent="0" marL="0">
                        <a:buNone/>
                      </a:pPr>
                      <a:r>
                        <a:rPr/>
                        <a:t>23.0000</a:t>
                      </a:r>
                    </a:p>
                  </a:txBody>
                </a:tc>
                <a:tc>
                  <a:txBody>
                    <a:bodyPr/>
                    <a:lstStyle/>
                    <a:p>
                      <a:pPr lvl="0" indent="0" marL="0">
                        <a:buNone/>
                      </a:pPr>
                      <a:r>
                        <a:rPr/>
                        <a:t>1,167.32</a:t>
                      </a:r>
                    </a:p>
                  </a:txBody>
                </a:tc>
                <a:tc>
                  <a:txBody>
                    <a:bodyPr/>
                    <a:lstStyle/>
                    <a:p>
                      <a:pPr lvl="0" indent="0" marL="0">
                        <a:buNone/>
                      </a:pPr>
                      <a:r>
                        <a:rPr/>
                        <a:t>16.6192</a:t>
                      </a:r>
                    </a:p>
                  </a:txBody>
                </a:tc>
                <a:tc>
                  <a:txBody>
                    <a:bodyPr/>
                    <a:lstStyle/>
                    <a:p>
                      <a:pPr lvl="0" indent="0" marL="0">
                        <a:buNone/>
                      </a:pPr>
                      <a:r>
                        <a:rPr/>
                        <a:t>1,177.42</a:t>
                      </a:r>
                    </a:p>
                  </a:txBody>
                </a:tc>
                <a:tc>
                  <a:txBody>
                    <a:bodyPr/>
                    <a:lstStyle/>
                    <a:p>
                      <a:pPr lvl="0" indent="0" marL="0">
                        <a:buNone/>
                      </a:pPr>
                      <a:r>
                        <a:rPr/>
                        <a:t>17.3754</a:t>
                      </a:r>
                    </a:p>
                  </a:txBody>
                </a:tc>
                <a:tc>
                  <a:txBody>
                    <a:bodyPr/>
                    <a:lstStyle/>
                    <a:p>
                      <a:pPr lvl="0" indent="0" marL="0">
                        <a:buNone/>
                      </a:pPr>
                      <a:r>
                        <a:rPr/>
                        <a:t>35.0000</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Final Model — Random-Parameters NB2</a:t>
            </a:r>
          </a:p>
        </p:txBody>
      </p:sp>
      <p:sp>
        <p:nvSpPr>
          <p:cNvPr id="4" name="Text Placeholder 3"/>
          <p:cNvSpPr>
            <a:spLocks noGrp="1"/>
          </p:cNvSpPr>
          <p:nvPr>
            <p:ph idx="2" sz="half" type="body"/>
          </p:nvPr>
        </p:nvSpPr>
        <p:spPr/>
        <p:txBody>
          <a:bodyPr/>
          <a:lstStyle/>
          <a:p>
            <a:pPr lvl="0" indent="0" marL="0">
              <a:spcBef>
                <a:spcPts val="3000"/>
              </a:spcBef>
              <a:buNone/>
            </a:pPr>
            <a:r>
              <a:rPr b="1"/>
              <a:t>Full coefficient table: fixed effects + random parameters (Mean ± SD across sites)</a:t>
            </a:r>
          </a:p>
          <a:p>
            <a:pPr lvl="0" indent="0" marL="0">
              <a:buNone/>
            </a:pPr>
            <a:r>
              <a:rPr i="1"/>
              <a:t>Random parameters capture site-level heterogeneity in the effect of each variable.</a:t>
            </a:r>
          </a:p>
          <a:p>
            <a:pPr lvl="0" indent="0" marL="0">
              <a:buNone/>
            </a:pPr>
            <a:r>
              <a:rPr b="1"/>
              <a:t>Random-parameters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Type</a:t>
                      </a:r>
                    </a:p>
                  </a:txBody>
                  <a:tcPr/>
                </a:tc>
                <a:tc>
                  <a:txBody>
                    <a:bodyPr/>
                    <a:lstStyle/>
                    <a:p>
                      <a:pPr lvl="0" indent="0" marL="0">
                        <a:buNone/>
                      </a:pPr>
                      <a:r>
                        <a:rPr/>
                        <a:t>Meaning</a:t>
                      </a:r>
                    </a:p>
                  </a:txBody>
                  <a:tcPr/>
                </a:tc>
              </a:tr>
              <a:tr h="0">
                <a:tc>
                  <a:txBody>
                    <a:bodyPr/>
                    <a:lstStyle/>
                    <a:p>
                      <a:pPr lvl="0" indent="0" marL="0">
                        <a:buNone/>
                      </a:pPr>
                      <a:r>
                        <a:rPr/>
                        <a:t>Fixed effects</a:t>
                      </a:r>
                    </a:p>
                  </a:txBody>
                </a:tc>
                <a:tc>
                  <a:txBody>
                    <a:bodyPr/>
                    <a:lstStyle/>
                    <a:p>
                      <a:pPr lvl="0" indent="0" marL="0">
                        <a:buNone/>
                      </a:pPr>
                      <a:r>
                        <a:rPr/>
                        <a:t>Same coefficient for every segment</a:t>
                      </a:r>
                    </a:p>
                  </a:txBody>
                </a:tc>
              </a:tr>
              <a:tr h="0">
                <a:tc>
                  <a:txBody>
                    <a:bodyPr/>
                    <a:lstStyle/>
                    <a:p>
                      <a:pPr lvl="0" indent="0" marL="0">
                        <a:buNone/>
                      </a:pPr>
                      <a:r>
                        <a:rPr/>
                        <a:t>Random means</a:t>
                      </a:r>
                    </a:p>
                  </a:txBody>
                </a:tc>
                <a:tc>
                  <a:txBody>
                    <a:bodyPr/>
                    <a:lstStyle/>
                    <a:p>
                      <a:pPr lvl="0" indent="0" marL="0">
                        <a:buNone/>
                      </a:pPr>
                      <a:r>
                        <a:rPr/>
                        <a:t>Average effect across sites</a:t>
                      </a:r>
                    </a:p>
                  </a:txBody>
                </a:tc>
              </a:tr>
              <a:tr h="0">
                <a:tc>
                  <a:txBody>
                    <a:bodyPr/>
                    <a:lstStyle/>
                    <a:p>
                      <a:pPr lvl="0" indent="0" marL="0">
                        <a:buNone/>
                      </a:pPr>
                      <a:r>
                        <a:rPr/>
                        <a:t>Random SDs</a:t>
                      </a:r>
                    </a:p>
                  </a:txBody>
                </a:tc>
                <a:tc>
                  <a:txBody>
                    <a:bodyPr/>
                    <a:lstStyle/>
                    <a:p>
                      <a:pPr lvl="0" indent="0" marL="0">
                        <a:buNone/>
                      </a:pPr>
                      <a:r>
                        <a:rPr/>
                        <a:t>How much the effect varies by site</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Random-Parameters NB2 | unavailable</a:t>
            </a:r>
          </a:p>
          <a:p>
            <a:pPr lvl="0"/>
            <a:r>
              <a:rPr/>
              <a:t>Compact random-parameter table unavailable in this run.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Fixed-Effects Decomposition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Upper terms (AADT-independent CMFs) and lower terms (AADT-interaction effects)</a:t>
                </a:r>
              </a:p>
              <a:p>
                <a:pPr lvl="0" indent="0" marL="0">
                  <a:buNone/>
                </a:pPr>
                <a:r>
                  <a:rPr b="1"/>
                  <a:t>Upper terms — direct CMF (same at any AADT level)</a:t>
                </a:r>
              </a:p>
              <a:p>
                <a:pPr lvl="0" indent="0" marL="0">
                  <a:buNone/>
                </a:pPr>
                <a14:m>
                  <m:oMath xmlns:m="http://schemas.openxmlformats.org/officeDocument/2006/math">
                    <m:r>
                      <m:rPr>
                        <m:nor/>
                        <m:sty m:val="p"/>
                      </m:rPr>
                      <m:t>CMF</m:t>
                    </m:r>
                    <m:r>
                      <m:rPr>
                        <m:sty m:val="p"/>
                      </m:rPr>
                      <m:t>=</m:t>
                    </m:r>
                    <m:sSup>
                      <m:e>
                        <m:r>
                          <m:t>e</m:t>
                        </m:r>
                      </m:e>
                      <m:sup>
                        <m:r>
                          <m:t> </m:t>
                        </m:r>
                        <m:r>
                          <m:t>β</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58800"/>
                <a:gridCol w="3505200"/>
                <a:gridCol w="673100"/>
                <a:gridCol w="3683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-7.3088</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+0.9113</a:t>
                      </a:r>
                    </a:p>
                  </a:txBody>
                </a:tc>
                <a:tc>
                  <a:txBody>
                    <a:bodyPr/>
                    <a:lstStyle/>
                    <a:p>
                      <a:endParaRPr/>
                    </a:p>
                  </a:txBody>
                </a:tc>
              </a:tr>
              <a:tr h="0">
                <a:tc>
                  <a:txBody>
                    <a:bodyPr/>
                    <a:lstStyle/>
                    <a:p>
                      <a:pPr lvl="0" indent="0" marL="0">
                        <a:buNone/>
                      </a:pPr>
                      <a:r>
                        <a:rPr/>
                        <a:t>ACCESS</a:t>
                      </a:r>
                    </a:p>
                  </a:txBody>
                </a:tc>
                <a:tc>
                  <a:txBody>
                    <a:bodyPr/>
                    <a:lstStyle/>
                    <a:p>
                      <a:pPr lvl="0" indent="0" marL="0">
                        <a:buNone/>
                      </a:pPr>
                      <a:r>
                        <a:rPr/>
                        <a:t>Access-Point Density (driveways + intersections per mile)</a:t>
                      </a:r>
                    </a:p>
                  </a:txBody>
                </a:tc>
                <a:tc>
                  <a:txBody>
                    <a:bodyPr/>
                    <a:lstStyle/>
                    <a:p>
                      <a:pPr lvl="0" indent="0" marL="0">
                        <a:buNone/>
                      </a:pPr>
                      <a:r>
                        <a:rPr/>
                        <a:t>-0.1802</a:t>
                      </a:r>
                    </a:p>
                  </a:txBody>
                </a:tc>
                <a:tc>
                  <a:txBody>
                    <a:bodyPr/>
                    <a:lstStyle/>
                    <a:p>
                      <a:pPr lvl="0" indent="0" marL="0">
                        <a:buNone/>
                      </a:pPr>
                      <a:r>
                        <a:rPr/>
                        <a:t>0.6436</a:t>
                      </a:r>
                    </a:p>
                  </a:txBody>
                </a:tc>
              </a:tr>
              <a:tr h="0">
                <a:tc>
                  <a:txBody>
                    <a:bodyPr/>
                    <a:lstStyle/>
                    <a:p>
                      <a:pPr lvl="0" indent="0" marL="0">
                        <a:buNone/>
                      </a:pPr>
                      <a:r>
                        <a:rPr/>
                        <a:t>AVESNOW</a:t>
                      </a:r>
                    </a:p>
                  </a:txBody>
                </a:tc>
                <a:tc>
                  <a:txBody>
                    <a:bodyPr/>
                    <a:lstStyle/>
                    <a:p>
                      <a:pPr lvl="0" indent="0" marL="0">
                        <a:buNone/>
                      </a:pPr>
                      <a:r>
                        <a:rPr/>
                        <a:t>Average Annual Snowfall (in/yr)</a:t>
                      </a:r>
                    </a:p>
                  </a:txBody>
                </a:tc>
                <a:tc>
                  <a:txBody>
                    <a:bodyPr/>
                    <a:lstStyle/>
                    <a:p>
                      <a:pPr lvl="0" indent="0" marL="0">
                        <a:buNone/>
                      </a:pPr>
                      <a:r>
                        <a:rPr/>
                        <a:t>+0.0473</a:t>
                      </a:r>
                    </a:p>
                  </a:txBody>
                </a:tc>
                <a:tc>
                  <a:txBody>
                    <a:bodyPr/>
                    <a:lstStyle/>
                    <a:p>
                      <a:pPr lvl="0" indent="0" marL="0">
                        <a:buNone/>
                      </a:pPr>
                      <a:r>
                        <a:rPr/>
                        <a:t>1.0225</a:t>
                      </a:r>
                    </a:p>
                  </a:txBody>
                </a:tc>
              </a:tr>
              <a:tr h="0">
                <a:tc>
                  <a:txBody>
                    <a:bodyPr/>
                    <a:lstStyle/>
                    <a:p>
                      <a:pPr lvl="0" indent="0" marL="0">
                        <a:buNone/>
                      </a:pPr>
                      <a:r>
                        <a:rPr/>
                        <a:t>INTECHAG</a:t>
                      </a:r>
                    </a:p>
                  </a:txBody>
                </a:tc>
                <a:tc>
                  <a:txBody>
                    <a:bodyPr/>
                    <a:lstStyle/>
                    <a:p>
                      <a:pPr lvl="0" indent="0" marL="0">
                        <a:buNone/>
                      </a:pPr>
                      <a:r>
                        <a:rPr/>
                        <a:t>Number of Grade-Change Points (count)</a:t>
                      </a:r>
                    </a:p>
                  </a:txBody>
                </a:tc>
                <a:tc>
                  <a:txBody>
                    <a:bodyPr/>
                    <a:lstStyle/>
                    <a:p>
                      <a:pPr lvl="0" indent="0" marL="0">
                        <a:buNone/>
                      </a:pPr>
                      <a:r>
                        <a:rPr/>
                        <a:t>+0.1949</a:t>
                      </a:r>
                    </a:p>
                  </a:txBody>
                </a:tc>
                <a:tc>
                  <a:txBody>
                    <a:bodyPr/>
                    <a:lstStyle/>
                    <a:p>
                      <a:pPr lvl="0" indent="0" marL="0">
                        <a:buNone/>
                      </a:pPr>
                      <a:r>
                        <a:rPr/>
                        <a:t>1.2536</a:t>
                      </a:r>
                    </a:p>
                  </a:txBody>
                </a:tc>
              </a:tr>
              <a:tr h="0">
                <a:tc>
                  <a:txBody>
                    <a:bodyPr/>
                    <a:lstStyle/>
                    <a:p>
                      <a:pPr lvl="0" indent="0" marL="0">
                        <a:buNone/>
                      </a:pPr>
                      <a:r>
                        <a:rPr/>
                        <a:t>MINRAD</a:t>
                      </a:r>
                    </a:p>
                  </a:txBody>
                </a:tc>
                <a:tc>
                  <a:txBody>
                    <a:bodyPr/>
                    <a:lstStyle/>
                    <a:p>
                      <a:pPr lvl="0" indent="0" marL="0">
                        <a:buNone/>
                      </a:pPr>
                      <a:r>
                        <a:rPr/>
                        <a:t>Minimum Curve Radius (ft) - smaller = sharper bend</a:t>
                      </a:r>
                    </a:p>
                  </a:txBody>
                </a:tc>
                <a:tc>
                  <a:txBody>
                    <a:bodyPr/>
                    <a:lstStyle/>
                    <a:p>
                      <a:pPr lvl="0" indent="0" marL="0">
                        <a:buNone/>
                      </a:pPr>
                      <a:r>
                        <a:rPr/>
                        <a:t>-0.0514</a:t>
                      </a:r>
                    </a:p>
                  </a:txBody>
                </a:tc>
                <a:tc>
                  <a:txBody>
                    <a:bodyPr/>
                    <a:lstStyle/>
                    <a:p>
                      <a:pPr lvl="0" indent="0" marL="0">
                        <a:buNone/>
                      </a:pPr>
                      <a:r>
                        <a:rPr/>
                        <a:t>1.0000</a:t>
                      </a:r>
                    </a:p>
                  </a:txBody>
                </a:tc>
              </a:tr>
              <a:tr h="0">
                <a:tc>
                  <a:txBody>
                    <a:bodyPr/>
                    <a:lstStyle/>
                    <a:p>
                      <a:pPr lvl="0" indent="0" marL="0">
                        <a:buNone/>
                      </a:pPr>
                      <a:r>
                        <a:rPr/>
                        <a:t>MXGRADE</a:t>
                      </a:r>
                    </a:p>
                  </a:txBody>
                </a:tc>
                <a:tc>
                  <a:txBody>
                    <a:bodyPr/>
                    <a:lstStyle/>
                    <a:p>
                      <a:pPr lvl="0" indent="0" marL="0">
                        <a:buNone/>
                      </a:pPr>
                      <a:r>
                        <a:rPr/>
                        <a:t>Maximum Vertical Grade (%)</a:t>
                      </a:r>
                    </a:p>
                  </a:txBody>
                </a:tc>
                <a:tc>
                  <a:txBody>
                    <a:bodyPr/>
                    <a:lstStyle/>
                    <a:p>
                      <a:pPr lvl="0" indent="0" marL="0">
                        <a:buNone/>
                      </a:pPr>
                      <a:r>
                        <a:rPr/>
                        <a:t>+0.0685</a:t>
                      </a:r>
                    </a:p>
                  </a:txBody>
                </a:tc>
                <a:tc>
                  <a:txBody>
                    <a:bodyPr/>
                    <a:lstStyle/>
                    <a:p>
                      <a:pPr lvl="0" indent="0" marL="0">
                        <a:buNone/>
                      </a:pPr>
                      <a:r>
                        <a:rPr/>
                        <a:t>1.0227</a:t>
                      </a:r>
                    </a:p>
                  </a:txBody>
                </a:tc>
              </a:tr>
              <a:tr h="0">
                <a:tc>
                  <a:txBody>
                    <a:bodyPr/>
                    <a:lstStyle/>
                    <a:p>
                      <a:pPr lvl="0" indent="0" marL="0">
                        <a:buNone/>
                      </a:pPr>
                      <a:r>
                        <a:rPr/>
                        <a:t>MXMEDSH</a:t>
                      </a:r>
                    </a:p>
                  </a:txBody>
                </a:tc>
                <a:tc>
                  <a:txBody>
                    <a:bodyPr/>
                    <a:lstStyle/>
                    <a:p>
                      <a:pPr lvl="0" indent="0" marL="0">
                        <a:buNone/>
                      </a:pPr>
                      <a:r>
                        <a:rPr/>
                        <a:t>Maximum Median Shoulder Width (ft)</a:t>
                      </a:r>
                    </a:p>
                  </a:txBody>
                </a:tc>
                <a:tc>
                  <a:txBody>
                    <a:bodyPr/>
                    <a:lstStyle/>
                    <a:p>
                      <a:pPr lvl="0" indent="0" marL="0">
                        <a:buNone/>
                      </a:pPr>
                      <a:r>
                        <a:rPr/>
                        <a:t>+0.1633</a:t>
                      </a:r>
                    </a:p>
                  </a:txBody>
                </a:tc>
                <a:tc>
                  <a:txBody>
                    <a:bodyPr/>
                    <a:lstStyle/>
                    <a:p>
                      <a:pPr lvl="0" indent="0" marL="0">
                        <a:buNone/>
                      </a:pPr>
                      <a:r>
                        <a:rPr/>
                        <a:t>1.0688</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+0.1081</a:t>
                      </a:r>
                    </a:p>
                  </a:txBody>
                </a:tc>
                <a:tc>
                  <a:txBody>
                    <a:bodyPr/>
                    <a:lstStyle/>
                    <a:p>
                      <a:pPr lvl="0" indent="0" marL="0">
                        <a:buNone/>
                      </a:pPr>
                      <a:r>
                        <a:rPr/>
                        <a:t>1.1425</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 — modify AADT elasticity</a:t>
                </a:r>
              </a:p>
              <a:p>
                <a:pPr lvl="0" indent="0" marL="0">
                  <a:buNone/>
                </a:pPr>
                <a14:m>
                  <m:oMath xmlns:m="http://schemas.openxmlformats.org/officeDocument/2006/math">
                    <m:r>
                      <m:rPr>
                        <m:nor/>
                        <m:sty m:val="p"/>
                      </m:rPr>
                      <m:t>CMF</m:t>
                    </m:r>
                    <m:d>
                      <m:dPr>
                        <m:begChr m:val="("/>
                        <m:sepChr m:val=""/>
                        <m:endChr m:val=")"/>
                        <m:grow/>
                      </m:dPr>
                      <m:e>
                        <m:r>
                          <m:rPr>
                            <m:nor/>
                            <m:sty m:val="p"/>
                          </m:rPr>
                          <m:t>AADT</m:t>
                        </m:r>
                      </m:e>
                    </m:d>
                    <m:r>
                      <m:rPr>
                        <m:sty m:val="p"/>
                      </m:rPr>
                      <m:t>=</m:t>
                    </m:r>
                    <m:sSup>
                      <m:e>
                        <m:r>
                          <m:rPr>
                            <m:nor/>
                            <m:sty m:val="p"/>
                          </m:rPr>
                          <m:t>AADT</m:t>
                        </m:r>
                      </m:e>
                      <m:sup>
                        <m:r>
                          <m:t> </m:t>
                        </m:r>
                        <m:r>
                          <m:t>γ</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-0.0153</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-0.0207</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Benchmark Comparison</a:t>
            </a:r>
          </a:p>
        </p:txBody>
      </p:sp>
      <p:sp>
        <p:nvSpPr>
          <p:cNvPr id="4" name="Text Placeholder 3"/>
          <p:cNvSpPr>
            <a:spLocks noGrp="1"/>
          </p:cNvSpPr>
          <p:nvPr>
            <p:ph idx="2" sz="half" type="body"/>
          </p:nvPr>
        </p:nvSpPr>
        <p:spPr/>
        <p:txBody>
          <a:bodyPr/>
          <a:lstStyle/>
          <a:p>
            <a:pPr lvl="0" indent="0" marL="0">
              <a:spcBef>
                <a:spcPts val="3000"/>
              </a:spcBef>
              <a:buNone/>
            </a:pPr>
            <a:r>
              <a:rPr b="1"/>
              <a:t>Hierarchical CMF vs Benchmark — key metrics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209800"/>
                <a:gridCol w="444500"/>
                <a:gridCol w="444500"/>
                <a:gridCol w="571500"/>
                <a:gridCol w="1003300"/>
                <a:gridCol w="4445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1597.91</a:t>
                      </a:r>
                    </a:p>
                  </a:txBody>
                </a:tc>
                <a:tc>
                  <a:txBody>
                    <a:bodyPr/>
                    <a:lstStyle/>
                    <a:p>
                      <a:pPr lvl="0" indent="0" marL="0">
                        <a:buNone/>
                      </a:pPr>
                      <a:r>
                        <a:rPr/>
                        <a:t>1557.19</a:t>
                      </a:r>
                    </a:p>
                  </a:txBody>
                </a:tc>
                <a:tc>
                  <a:txBody>
                    <a:bodyPr/>
                    <a:lstStyle/>
                    <a:p>
                      <a:pPr lvl="0" indent="0" marL="0">
                        <a:buNone/>
                      </a:pPr>
                      <a:r>
                        <a:rPr/>
                        <a:t>11.0846</a:t>
                      </a:r>
                    </a:p>
                  </a:txBody>
                </a:tc>
                <a:tc>
                  <a:txBody>
                    <a:bodyPr/>
                    <a:lstStyle/>
                    <a:p>
                      <a:pPr lvl="0" indent="0" marL="0">
                        <a:buNone/>
                      </a:pPr>
                      <a:r>
                        <a:rPr/>
                        <a:t>268.28</a:t>
                      </a:r>
                    </a:p>
                  </a:txBody>
                </a:tc>
                <a:tc>
                  <a:txBody>
                    <a:bodyPr/>
                    <a:lstStyle/>
                    <a:p>
                      <a:pPr lvl="0" indent="0" marL="0">
                        <a:buNone/>
                      </a:pPr>
                      <a:r>
                        <a:rPr/>
                        <a:t>0.7211</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What the numbers mean</a:t>
            </a:r>
          </a:p>
        </p:txBody>
      </p:sp>
      <p:graphicFrame>
        <p:nvGraphicFramePr>
          <p:cNvPr id="6" name="Content Placeholder 5"/>
          <p:cNvGraphicFramePr>
            <a:graphicFrameLocks noGrp="1"/>
          </p:cNvGraphicFramePr>
          <p:nvPr>
            <p:ph idx="1"/>
          </p:nvPr>
        </p:nvGraphicFramePr>
        <p:xfrm>
          <a:off x="4572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Metric</a:t>
                      </a:r>
                    </a:p>
                  </a:txBody>
                  <a:tcPr/>
                </a:tc>
                <a:tc>
                  <a:txBody>
                    <a:bodyPr/>
                    <a:lstStyle/>
                    <a:p>
                      <a:pPr lvl="0" indent="0" marL="0">
                        <a:buNone/>
                      </a:pPr>
                      <a:r>
                        <a:rPr/>
                        <a:t>Better is…</a:t>
                      </a:r>
                    </a:p>
                  </a:txBody>
                  <a:tcPr/>
                </a:tc>
                <a:tc>
                  <a:txBody>
                    <a:bodyPr/>
                    <a:lstStyle/>
                    <a:p>
                      <a:pPr lvl="0" indent="0" marL="0">
                        <a:buNone/>
                      </a:pPr>
                      <a:r>
                        <a:rPr/>
                        <a:t>Result</a:t>
                      </a:r>
                    </a:p>
                  </a:txBody>
                  <a:tcPr/>
                </a:tc>
              </a:tr>
              <a:tr h="0">
                <a:tc>
                  <a:txBody>
                    <a:bodyPr/>
                    <a:lstStyle/>
                    <a:p>
                      <a:pPr lvl="0" indent="0" marL="0">
                        <a:buNone/>
                      </a:pPr>
                      <a:r>
                        <a:rPr/>
                        <a:t>BIC</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RMSE</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R²</a:t>
                      </a:r>
                    </a:p>
                  </a:txBody>
                </a:tc>
                <a:tc>
                  <a:txBody>
                    <a:bodyPr/>
                    <a:lstStyle/>
                    <a:p>
                      <a:pPr lvl="0" indent="0" marL="0">
                        <a:buNone/>
                      </a:pPr>
                      <a:r>
                        <a:rPr/>
                        <a:t>Higher</a:t>
                      </a:r>
                    </a:p>
                  </a:txBody>
                </a:tc>
                <a:tc>
                  <a:txBody>
                    <a:bodyPr/>
                    <a:lstStyle/>
                    <a:p>
                      <a:pPr lvl="0" indent="0" marL="0">
                        <a:buNone/>
                      </a:pPr>
                      <a:r>
                        <a:rPr/>
                        <a:t>Hierarchical wins</a:t>
                      </a:r>
                    </a:p>
                  </a:txBody>
                </a:tc>
              </a:tr>
            </a:tbl>
          </a:graphicData>
        </a:graphic>
      </p:graphicFrame>
      <p:sp>
        <p:nvSpPr>
          <p:cNvPr id="4" name="Content Placeholder 3"/>
          <p:cNvSpPr>
            <a:spLocks noGrp="1"/>
          </p:cNvSpPr>
          <p:nvPr>
            <p:ph idx="2" sz="half"/>
          </p:nvPr>
        </p:nvSpPr>
        <p:spPr/>
        <p:txBody>
          <a:bodyPr/>
          <a:lstStyle/>
          <a:p>
            <a:pPr lvl="0"/>
            <a:r>
              <a:rPr/>
              <a:t>Lower BIC = model improvement is genuine, not overfitting</a:t>
            </a:r>
          </a:p>
          <a:p>
            <a:pPr lvl="0"/>
            <a:r>
              <a:rPr/>
              <a:t>Lower RMSE = better predictions on unseen segments</a:t>
            </a:r>
          </a:p>
          <a:p>
            <a:pPr lvl="0"/>
            <a:r>
              <a:rPr/>
              <a:t>Higher R² = more crash variance explained</a:t>
            </a:r>
          </a:p>
        </p:txBody>
      </p:sp>
      <p:sp>
        <p:nvSpPr>
          <p:cNvPr id="5" name="Text Placeholder 4"/>
          <p:cNvSpPr>
            <a:spLocks noGrp="1"/>
          </p:cNvSpPr>
          <p:nvPr>
            <p:ph idx="3" sz="quarter" type="body"/>
          </p:nvPr>
        </p:nvSpPr>
        <p:spPr/>
        <p:txBody>
          <a:bodyPr/>
          <a:lstStyle/>
          <a:p>
            <a:pPr lvl="0" indent="0" marL="0">
              <a:buNone/>
            </a:pPr>
            <a:r>
              <a:rPr b="1"/>
              <a:t>Model difference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Feature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coefficient</a:t>
                      </a:r>
                    </a:p>
                  </a:txBody>
                </a:tc>
                <a:tc>
                  <a:txBody>
                    <a:bodyPr/>
                    <a:lstStyle/>
                    <a:p>
                      <a:pPr lvl="0" indent="0" marL="0">
                        <a:buNone/>
                      </a:pPr>
                      <a:r>
                        <a:rPr/>
                        <a:t>Fixed = 1.0</a:t>
                      </a:r>
                    </a:p>
                  </a:txBody>
                </a:tc>
                <a:tc>
                  <a:txBody>
                    <a:bodyPr/>
                    <a:lstStyle/>
                    <a:p>
                      <a:pPr lvl="0" indent="0" marL="0">
                        <a:buNone/>
                      </a:pPr>
                      <a:r>
                        <a:rPr/>
                        <a:t>Estimated elasticity</a:t>
                      </a:r>
                    </a:p>
                  </a:txBody>
                </a:tc>
              </a:tr>
              <a:tr h="0">
                <a:tc>
                  <a:txBody>
                    <a:bodyPr/>
                    <a:lstStyle/>
                    <a:p>
                      <a:pPr lvl="0" indent="0" marL="0">
                        <a:buNone/>
                      </a:pPr>
                      <a:r>
                        <a:rPr/>
                        <a:t>Variable CMFs</a:t>
                      </a:r>
                    </a:p>
                  </a:txBody>
                </a:tc>
                <a:tc>
                  <a:txBody>
                    <a:bodyPr/>
                    <a:lstStyle/>
                    <a:p>
                      <a:pPr lvl="0" indent="0" marL="0">
                        <a:buNone/>
                      </a:pPr>
                      <a:r>
                        <a:rPr/>
                        <a:t>Fixed only</a:t>
                      </a:r>
                    </a:p>
                  </a:txBody>
                </a:tc>
                <a:tc>
                  <a:txBody>
                    <a:bodyPr/>
                    <a:lstStyle/>
                    <a:p>
                      <a:pPr lvl="0" indent="0" marL="0">
                        <a:buNone/>
                      </a:pPr>
                      <a:r>
                        <a:rPr/>
                        <a:t>Fixed + AADT-varying</a:t>
                      </a:r>
                    </a:p>
                  </a:txBody>
                </a:tc>
              </a:tr>
              <a:tr h="0">
                <a:tc>
                  <a:txBody>
                    <a:bodyPr/>
                    <a:lstStyle/>
                    <a:p>
                      <a:pPr lvl="0" indent="0" marL="0">
                        <a:buNone/>
                      </a:pPr>
                      <a:r>
                        <a:rPr/>
                        <a:t>Site heterogeneity</a:t>
                      </a:r>
                    </a:p>
                  </a:txBody>
                </a:tc>
                <a:tc>
                  <a:txBody>
                    <a:bodyPr/>
                    <a:lstStyle/>
                    <a:p>
                      <a:pPr lvl="0" indent="0" marL="0">
                        <a:buNone/>
                      </a:pPr>
                      <a:r>
                        <a:rPr/>
                        <a:t>None</a:t>
                      </a:r>
                    </a:p>
                  </a:txBody>
                </a:tc>
                <a:tc>
                  <a:txBody>
                    <a:bodyPr/>
                    <a:lstStyle/>
                    <a:p>
                      <a:pPr lvl="0" indent="0" marL="0">
                        <a:buNone/>
                      </a:pPr>
                      <a:r>
                        <a:rPr/>
                        <a:t>Random parameters</a:t>
                      </a:r>
                    </a:p>
                  </a:txBody>
                </a:tc>
              </a:tr>
              <a:tr h="0">
                <a:tc>
                  <a:txBody>
                    <a:bodyPr/>
                    <a:lstStyle/>
                    <a:p>
                      <a:pPr lvl="0" indent="0" marL="0">
                        <a:buNone/>
                      </a:pPr>
                      <a:r>
                        <a:rPr/>
                        <a:t>AADT monotonicity</a:t>
                      </a:r>
                    </a:p>
                  </a:txBody>
                </a:tc>
                <a:tc>
                  <a:txBody>
                    <a:bodyPr/>
                    <a:lstStyle/>
                    <a:p>
                      <a:pPr lvl="0" indent="0" marL="0">
                        <a:buNone/>
                      </a:pPr>
                      <a:r>
                        <a:rPr/>
                        <a:t>Not enforced</a:t>
                      </a:r>
                    </a:p>
                  </a:txBody>
                </a:tc>
                <a:tc>
                  <a:txBody>
                    <a:bodyPr/>
                    <a:lstStyle/>
                    <a:p>
                      <a:pPr lvl="0" indent="0" marL="0">
                        <a:buNone/>
                      </a:pPr>
                      <a:r>
                        <a:rPr/>
                        <a:t>Enforced during search</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Side-by-Side Model Forms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Form</a:t>
                      </a:r>
                    </a:p>
                  </a:txBody>
                  <a:tcPr/>
                </a:tc>
                <a:tc>
                  <a:txBody>
                    <a:bodyPr/>
                    <a:lstStyle/>
                    <a:p>
                      <a:pPr lvl="0" indent="0" marL="0">
                        <a:buNone/>
                      </a:pPr>
                      <a:r>
                        <a:rPr/>
                        <a:t>Structure</a:t>
                      </a:r>
                    </a:p>
                  </a:txBody>
                  <a:tcPr/>
                </a:tc>
              </a:tr>
              <a:tr h="0">
                <a:tc>
                  <a:txBody>
                    <a:bodyPr/>
                    <a:lstStyle/>
                    <a:p>
                      <a:pPr lvl="0" indent="0" marL="0">
                        <a:buNone/>
                      </a:pPr>
                      <a:r>
                        <a:rPr/>
                        <a:t>Benchmark</a:t>
                      </a:r>
                    </a:p>
                  </a:txBody>
                </a:tc>
                <a:tc>
                  <a:txBody>
                    <a:bodyPr/>
                    <a:lstStyle/>
                    <a:p>
                      <a:pPr lvl="0" indent="0" marL="0">
                        <a:buNone/>
                      </a:pPr>
                      <a:r>
                        <a:rPr/>
                        <a:t>log(mu_hat) = alpha + log(AADT) + log(L) + sum(beta_j * x_j)</a:t>
                      </a:r>
                    </a:p>
                  </a:txBody>
                </a:tc>
              </a:tr>
              <a:tr h="0">
                <a:tc>
                  <a:txBody>
                    <a:bodyPr/>
                    <a:lstStyle/>
                    <a:p>
                      <a:pPr lvl="0" indent="0" marL="0">
                        <a:buNone/>
                      </a:pPr>
                      <a:r>
                        <a:rPr/>
                        <a:t>Hierarchical</a:t>
                      </a:r>
                    </a:p>
                  </a:txBody>
                </a:tc>
                <a:tc>
                  <a:txBody>
                    <a:bodyPr/>
                    <a:lstStyle/>
                    <a:p>
                      <a:pPr lvl="0" indent="0" marL="0">
                        <a:buNone/>
                      </a:pPr>
                      <a:r>
                        <a:rPr/>
                        <a:t>log(mu_hat) = alpha + beta_AADT</a:t>
                      </a:r>
                      <a:r>
                        <a:rPr i="1"/>
                        <a:t>log(A) + sum(beta_j</a:t>
                      </a:r>
                      <a:r>
                        <a:rPr/>
                        <a:t>x_j) + sum(gamma_k</a:t>
                      </a:r>
                      <a:r>
                        <a:rPr i="1"/>
                        <a:t>x_k</a:t>
                      </a:r>
                      <a:r>
                        <a:rPr/>
                        <a:t>log(A)) + log(L)</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Main difference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slope</a:t>
                      </a:r>
                    </a:p>
                  </a:txBody>
                </a:tc>
                <a:tc>
                  <a:txBody>
                    <a:bodyPr/>
                    <a:lstStyle/>
                    <a:p>
                      <a:pPr lvl="0" indent="0" marL="0">
                        <a:buNone/>
                      </a:pPr>
                      <a:r>
                        <a:rPr/>
                        <a:t>Fixed at 1.0</a:t>
                      </a:r>
                    </a:p>
                  </a:txBody>
                </a:tc>
                <a:tc>
                  <a:txBody>
                    <a:bodyPr/>
                    <a:lstStyle/>
                    <a:p>
                      <a:pPr lvl="0" indent="0" marL="0">
                        <a:buNone/>
                      </a:pPr>
                      <a:r>
                        <a:rPr/>
                        <a:t>Estimated</a:t>
                      </a:r>
                    </a:p>
                  </a:txBody>
                </a:tc>
              </a:tr>
              <a:tr h="0">
                <a:tc>
                  <a:txBody>
                    <a:bodyPr/>
                    <a:lstStyle/>
                    <a:p>
                      <a:pPr lvl="0" indent="0" marL="0">
                        <a:buNone/>
                      </a:pPr>
                      <a:r>
                        <a:rPr/>
                        <a:t>CMFs</a:t>
                      </a:r>
                    </a:p>
                  </a:txBody>
                </a:tc>
                <a:tc>
                  <a:txBody>
                    <a:bodyPr/>
                    <a:lstStyle/>
                    <a:p>
                      <a:pPr lvl="0" indent="0" marL="0">
                        <a:buNone/>
                      </a:pPr>
                      <a:r>
                        <a:rPr/>
                        <a:t>Fixed only</a:t>
                      </a:r>
                    </a:p>
                  </a:txBody>
                </a:tc>
                <a:tc>
                  <a:txBody>
                    <a:bodyPr/>
                    <a:lstStyle/>
                    <a:p>
                      <a:pPr lvl="0" indent="0" marL="0">
                        <a:buNone/>
                      </a:pPr>
                      <a:r>
                        <a:rPr/>
                        <a:t>Fixed + traffic-varying</a:t>
                      </a:r>
                    </a:p>
                  </a:txBody>
                </a:tc>
              </a:tr>
              <a:tr h="0">
                <a:tc>
                  <a:txBody>
                    <a:bodyPr/>
                    <a:lstStyle/>
                    <a:p>
                      <a:pPr lvl="0" indent="0" marL="0">
                        <a:buNone/>
                      </a:pPr>
                      <a:r>
                        <a:rPr/>
                        <a:t>Heterogeneity</a:t>
                      </a:r>
                    </a:p>
                  </a:txBody>
                </a:tc>
                <a:tc>
                  <a:txBody>
                    <a:bodyPr/>
                    <a:lstStyle/>
                    <a:p>
                      <a:pPr lvl="0" indent="0" marL="0">
                        <a:buNone/>
                      </a:pPr>
                      <a:r>
                        <a:rPr/>
                        <a:t>None</a:t>
                      </a:r>
                    </a:p>
                  </a:txBody>
                </a:tc>
                <a:tc>
                  <a:txBody>
                    <a:bodyPr/>
                    <a:lstStyle/>
                    <a:p>
                      <a:pPr lvl="0" indent="0" marL="0">
                        <a:buNone/>
                      </a:pPr>
                      <a:r>
                        <a:rPr/>
                        <a:t>Random parameters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Is Gained Beyond Benchmark CMFs</a:t>
            </a:r>
          </a:p>
        </p:txBody>
      </p:sp>
      <p:sp>
        <p:nvSpPr>
          <p:cNvPr id="4" name="Text Placeholder 3"/>
          <p:cNvSpPr>
            <a:spLocks noGrp="1"/>
          </p:cNvSpPr>
          <p:nvPr>
            <p:ph idx="2" sz="half" type="body"/>
          </p:nvPr>
        </p:nvSpPr>
        <p:spPr/>
        <p:txBody>
          <a:bodyPr/>
          <a:lstStyle/>
          <a:p>
            <a:pPr lvl="0" indent="0" marL="0">
              <a:spcBef>
                <a:spcPts val="3000"/>
              </a:spcBef>
              <a:buNone/>
            </a:pPr>
            <a:r>
              <a:rPr b="1"/>
              <a:t>CMF capability: benchmark vs hierarchical approach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Capability</a:t>
                      </a:r>
                    </a:p>
                  </a:txBody>
                  <a:tcPr/>
                </a:tc>
                <a:tc>
                  <a:txBody>
                    <a:bodyPr/>
                    <a:lstStyle/>
                    <a:p>
                      <a:pPr lvl="0" indent="0" marL="0">
                        <a:buNone/>
                      </a:pPr>
                      <a:r>
                        <a:rPr/>
                        <a:t>Benchmark SPF</a:t>
                      </a:r>
                    </a:p>
                  </a:txBody>
                  <a:tcPr/>
                </a:tc>
                <a:tc>
                  <a:txBody>
                    <a:bodyPr/>
                    <a:lstStyle/>
                    <a:p>
                      <a:pPr lvl="0" indent="0" marL="0">
                        <a:buNone/>
                      </a:pPr>
                      <a:r>
                        <a:rPr/>
                        <a:t>Hierarchical CMF</a:t>
                      </a:r>
                    </a:p>
                  </a:txBody>
                  <a:tcPr/>
                </a:tc>
              </a:tr>
              <a:tr h="0">
                <a:tc>
                  <a:txBody>
                    <a:bodyPr/>
                    <a:lstStyle/>
                    <a:p>
                      <a:pPr lvl="0" indent="0" marL="0">
                        <a:buNone/>
                      </a:pPr>
                      <a:r>
                        <a:rPr/>
                        <a:t>Traffic-only CMF between two AADT levels</a:t>
                      </a:r>
                    </a:p>
                  </a:txBody>
                </a:tc>
                <a:tc>
                  <a:txBody>
                    <a:bodyPr/>
                    <a:lstStyle/>
                    <a:p>
                      <a:pPr lvl="0" indent="0" marL="0">
                        <a:buNone/>
                      </a:pPr>
                      <a:r>
                        <a:rPr/>
                        <a:t>Yes: (A2/A1)^beta_AADT</a:t>
                      </a:r>
                    </a:p>
                  </a:txBody>
                </a:tc>
                <a:tc>
                  <a:txBody>
                    <a:bodyPr/>
                    <a:lstStyle/>
                    <a:p>
                      <a:pPr lvl="0" indent="0" marL="0">
                        <a:buNone/>
                      </a:pPr>
                      <a:r>
                        <a:rPr/>
                        <a:t>Yes</a:t>
                      </a:r>
                    </a:p>
                  </a:txBody>
                </a:tc>
              </a:tr>
              <a:tr h="0">
                <a:tc>
                  <a:txBody>
                    <a:bodyPr/>
                    <a:lstStyle/>
                    <a:p>
                      <a:pPr lvl="0" indent="0" marL="0">
                        <a:buNone/>
                      </a:pPr>
                      <a:r>
                        <a:rPr/>
                        <a:t>Variable-specific CMF (lane width, shoulder, etc.)</a:t>
                      </a:r>
                    </a:p>
                  </a:txBody>
                </a:tc>
                <a:tc>
                  <a:txBody>
                    <a:bodyPr/>
                    <a:lstStyle/>
                    <a:p>
                      <a:pPr lvl="0" indent="0" marL="0">
                        <a:buNone/>
                      </a:pPr>
                      <a:r>
                        <a:rPr/>
                        <a:t>No</a:t>
                      </a:r>
                    </a:p>
                  </a:txBody>
                </a:tc>
                <a:tc>
                  <a:txBody>
                    <a:bodyPr/>
                    <a:lstStyle/>
                    <a:p>
                      <a:pPr lvl="0" indent="0" marL="0">
                        <a:buNone/>
                      </a:pPr>
                      <a:r>
                        <a:rPr/>
                        <a:t>Yes (upper terms)</a:t>
                      </a:r>
                    </a:p>
                  </a:txBody>
                </a:tc>
              </a:tr>
              <a:tr h="0">
                <a:tc>
                  <a:txBody>
                    <a:bodyPr/>
                    <a:lstStyle/>
                    <a:p>
                      <a:pPr lvl="0" indent="0" marL="0">
                        <a:buNone/>
                      </a:pPr>
                      <a:r>
                        <a:rPr/>
                        <a:t>AADT-varying CMF for a variable</a:t>
                      </a:r>
                    </a:p>
                  </a:txBody>
                </a:tc>
                <a:tc>
                  <a:txBody>
                    <a:bodyPr/>
                    <a:lstStyle/>
                    <a:p>
                      <a:pPr lvl="0" indent="0" marL="0">
                        <a:buNone/>
                      </a:pPr>
                      <a:r>
                        <a:rPr/>
                        <a:t>No</a:t>
                      </a:r>
                    </a:p>
                  </a:txBody>
                </a:tc>
                <a:tc>
                  <a:txBody>
                    <a:bodyPr/>
                    <a:lstStyle/>
                    <a:p>
                      <a:pPr lvl="0" indent="0" marL="0">
                        <a:buNone/>
                      </a:pPr>
                      <a:r>
                        <a:rPr/>
                        <a:t>Yes (lower terms)</a:t>
                      </a:r>
                    </a:p>
                  </a:txBody>
                </a:tc>
              </a:tr>
              <a:tr h="0">
                <a:tc>
                  <a:txBody>
                    <a:bodyPr/>
                    <a:lstStyle/>
                    <a:p>
                      <a:pPr lvl="0" indent="0" marL="0">
                        <a:buNone/>
                      </a:pPr>
                      <a:r>
                        <a:rPr/>
                        <a:t>Site heterogeneity in parameter effects</a:t>
                      </a:r>
                    </a:p>
                  </a:txBody>
                </a:tc>
                <a:tc>
                  <a:txBody>
                    <a:bodyPr/>
                    <a:lstStyle/>
                    <a:p>
                      <a:pPr lvl="0" indent="0" marL="0">
                        <a:buNone/>
                      </a:pPr>
                      <a:r>
                        <a:rPr/>
                        <a:t>No</a:t>
                      </a:r>
                    </a:p>
                  </a:txBody>
                </a:tc>
                <a:tc>
                  <a:txBody>
                    <a:bodyPr/>
                    <a:lstStyle/>
                    <a:p>
                      <a:pPr lvl="0" indent="0" marL="0">
                        <a:buNone/>
                      </a:pPr>
                      <a:r>
                        <a:rPr/>
                        <a:t>Yes (random parameters)</a:t>
                      </a:r>
                    </a:p>
                  </a:txBody>
                </a:tc>
              </a:tr>
              <a:tr h="0">
                <a:tc>
                  <a:txBody>
                    <a:bodyPr/>
                    <a:lstStyle/>
                    <a:p>
                      <a:pPr lvl="0" indent="0" marL="0">
                        <a:buNone/>
                      </a:pPr>
                      <a:r>
                        <a:rPr/>
                        <a:t>Monotonic AADT enforcement during selection</a:t>
                      </a:r>
                    </a:p>
                  </a:txBody>
                </a:tc>
                <a:tc>
                  <a:txBody>
                    <a:bodyPr/>
                    <a:lstStyle/>
                    <a:p>
                      <a:pPr lvl="0" indent="0" marL="0">
                        <a:buNone/>
                      </a:pPr>
                      <a:r>
                        <a:rPr/>
                        <a:t>Not explicit</a:t>
                      </a:r>
                    </a:p>
                  </a:txBody>
                </a:tc>
                <a:tc>
                  <a:txBody>
                    <a:bodyPr/>
                    <a:lstStyle/>
                    <a:p>
                      <a:pPr lvl="0" indent="0" marL="0">
                        <a:buNone/>
                      </a:pPr>
                      <a:r>
                        <a:rPr/>
                        <a:t>Explicit (elasticity constraint)</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Practical meaning:</a:t>
            </a:r>
            <a:r>
              <a:rPr/>
              <a:t> the benchmark can only scale crashes with traffic volume globally. The hierarchical model can answer policy questions like “how does widening shoulder or changing curvature affect risk at low vs high AADT, and how variable is that effect across sites?”</a:t>
            </a:r>
          </a:p>
          <a:p>
            <a:pPr lvl="0" indent="0" marL="0">
              <a:buNone/>
            </a:pPr>
            <a:r>
              <a:rPr b="1"/>
              <a:t>Benchmark CMF form:</a:t>
            </a:r>
            <a:r>
              <a:rPr/>
              <a:t> (A2/A1)^beta_AADT</a:t>
            </a:r>
          </a:p>
          <a:p>
            <a:pPr lvl="0" indent="0" marL="0">
              <a:buNone/>
            </a:pPr>
            <a:r>
              <a:rPr b="1"/>
              <a:t>Hierarchical CMF forms:</a:t>
            </a:r>
            <a:r>
              <a:rPr/>
              <a:t> exp(beta</a:t>
            </a:r>
            <a:r>
              <a:rPr i="1"/>
              <a:t>delta_x) and AADT^(gamma</a:t>
            </a:r>
            <a:r>
              <a:rPr/>
              <a:t>delta_x)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Model Comparison — Baseline vs Hierarchical</a:t>
            </a:r>
          </a:p>
        </p:txBody>
      </p:sp>
      <p:sp>
        <p:nvSpPr>
          <p:cNvPr id="4" name="Text Placeholder 3"/>
          <p:cNvSpPr>
            <a:spLocks noGrp="1"/>
          </p:cNvSpPr>
          <p:nvPr>
            <p:ph idx="2" sz="half" type="body"/>
          </p:nvPr>
        </p:nvSpPr>
        <p:spPr/>
        <p:txBody>
          <a:bodyPr/>
          <a:lstStyle/>
          <a:p>
            <a:pPr lvl="0" indent="0" marL="0">
              <a:spcBef>
                <a:spcPts val="3000"/>
              </a:spcBef>
              <a:buNone/>
            </a:pPr>
            <a:r>
              <a:rPr b="1"/>
              <a:t>Observed crashes + both predicted curves on the same AADT axes</a:t>
            </a:r>
          </a:p>
        </p:txBody>
      </p:sp>
      <p:pic>
        <p:nvPicPr>
          <p:cNvPr descr="../results/ex16_3_cmf/model_comparison.png" id="0" name="Picture 1"/>
          <p:cNvPicPr>
            <a:picLocks noGrp="1" noChangeAspect="1"/>
          </p:cNvPicPr>
          <p:nvPr/>
        </p:nvPicPr>
        <p:blipFill>
          <a:blip r:embed="rId2"/>
          <a:stretch>
            <a:fillRect/>
          </a:stretch>
        </p:blipFill>
        <p:spPr bwMode="auto">
          <a:xfrm>
            <a:off x="3568700" y="609600"/>
            <a:ext cx="5105400" cy="3060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(dots by split) vs polynomial-smooth predictions from the AADT-only benchmark (blue dashed) and the hierarchical CMF model (orange solid). Bottom panel shows normalised residuals for each model vs AADT.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556000"/>
                <a:gridCol w="711200"/>
                <a:gridCol w="711200"/>
                <a:gridCol w="914400"/>
                <a:gridCol w="1625600"/>
                <a:gridCol w="7112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1597.91</a:t>
                      </a:r>
                    </a:p>
                  </a:txBody>
                </a:tc>
                <a:tc>
                  <a:txBody>
                    <a:bodyPr/>
                    <a:lstStyle/>
                    <a:p>
                      <a:pPr lvl="0" indent="0" marL="0">
                        <a:buNone/>
                      </a:pPr>
                      <a:r>
                        <a:rPr/>
                        <a:t>1557.19</a:t>
                      </a:r>
                    </a:p>
                  </a:txBody>
                </a:tc>
                <a:tc>
                  <a:txBody>
                    <a:bodyPr/>
                    <a:lstStyle/>
                    <a:p>
                      <a:pPr lvl="0" indent="0" marL="0">
                        <a:buNone/>
                      </a:pPr>
                      <a:r>
                        <a:rPr/>
                        <a:t>11.0846</a:t>
                      </a:r>
                    </a:p>
                  </a:txBody>
                </a:tc>
                <a:tc>
                  <a:txBody>
                    <a:bodyPr/>
                    <a:lstStyle/>
                    <a:p>
                      <a:pPr lvl="0" indent="0" marL="0">
                        <a:buNone/>
                      </a:pPr>
                      <a:r>
                        <a:rPr/>
                        <a:t>268.28</a:t>
                      </a:r>
                    </a:p>
                  </a:txBody>
                </a:tc>
                <a:tc>
                  <a:txBody>
                    <a:bodyPr/>
                    <a:lstStyle/>
                    <a:p>
                      <a:pPr lvl="0" indent="0" marL="0">
                        <a:buNone/>
                      </a:pPr>
                      <a:r>
                        <a:rPr/>
                        <a:t>0.7211</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curves can look similar:</a:t>
            </a:r>
            <a:r>
              <a:rPr/>
              <a:t> both models track the same traffic-exposure trend. The improvement appears in residual structure and test metrics (RMSE and R2), not only visual separation of smoothed lines.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Prediction Delta vs AADT</a:t>
            </a:r>
          </a:p>
        </p:txBody>
      </p:sp>
      <p:pic>
        <p:nvPicPr>
          <p:cNvPr descr="../results/ex16_3_cmf/model_prediction_delta.png" id="0" name="Picture 1"/>
          <p:cNvPicPr>
            <a:picLocks noGrp="1" noChangeAspect="1"/>
          </p:cNvPicPr>
          <p:nvPr/>
        </p:nvPicPr>
        <p:blipFill>
          <a:blip r:embed="rId2"/>
          <a:stretch>
            <a:fillRect/>
          </a:stretch>
        </p:blipFill>
        <p:spPr bwMode="auto">
          <a:xfrm>
            <a:off x="1536700" y="1193800"/>
            <a:ext cx="6083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Prediction difference by traffic level: hierarchical minus benchmark predicted crashes, plotted against log(AADT). Values above zero indicate the hierarchical model predicts more crashes; below zero indicates fewer than benchmark.</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AADT Response — Hierarchical Model</a:t>
            </a:r>
          </a:p>
        </p:txBody>
      </p:sp>
      <p:sp>
        <p:nvSpPr>
          <p:cNvPr id="4" name="Text Placeholder 3"/>
          <p:cNvSpPr>
            <a:spLocks noGrp="1"/>
          </p:cNvSpPr>
          <p:nvPr>
            <p:ph idx="2" sz="half" type="body"/>
          </p:nvPr>
        </p:nvSpPr>
        <p:spPr/>
        <p:txBody>
          <a:bodyPr/>
          <a:lstStyle/>
          <a:p>
            <a:pPr lvl="0" indent="0" marL="0">
              <a:spcBef>
                <a:spcPts val="3000"/>
              </a:spcBef>
              <a:buNone/>
            </a:pPr>
            <a:r>
              <a:rPr b="1"/>
              <a:t>Observed vs hierarchical predictions with normalised residuals</a:t>
            </a:r>
          </a:p>
        </p:txBody>
      </p:sp>
      <p:pic>
        <p:nvPicPr>
          <p:cNvPr descr="../results/ex16_3_cmf/aadt_obs_pred.png" id="0" name="Picture 1"/>
          <p:cNvPicPr>
            <a:picLocks noGrp="1" noChangeAspect="1"/>
          </p:cNvPicPr>
          <p:nvPr/>
        </p:nvPicPr>
        <p:blipFill>
          <a:blip r:embed="rId2"/>
          <a:stretch>
            <a:fillRect/>
          </a:stretch>
        </p:blipFill>
        <p:spPr bwMode="auto">
          <a:xfrm>
            <a:off x="3568700" y="355600"/>
            <a:ext cx="5105400" cy="3556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vs hierarchical model polynomial smooth. Bottom: normalised residuals — orange = over-predicted, teal = under-predicted.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Fitted Model — Every Term Spelled Out</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Upper terms</a:t>
                </a:r>
                <a:r>
                  <a:rPr/>
                  <a:t> — direct CMF (</a:t>
                </a:r>
                <a14:m>
                  <m:oMath xmlns:m="http://schemas.openxmlformats.org/officeDocument/2006/math">
                    <m:sSup>
                      <m:e>
                        <m:r>
                          <m:t>e</m:t>
                        </m:r>
                      </m:e>
                      <m:sup>
                        <m:r>
                          <m:t> </m:t>
                        </m:r>
                        <m:r>
                          <m:t>β</m:t>
                        </m:r>
                        <m:r>
                          <m:t> </m:t>
                        </m:r>
                        <m:r>
                          <m:t>Δ</m:t>
                        </m:r>
                        <m:r>
                          <m:t>x</m:t>
                        </m:r>
                      </m:sup>
                    </m:sSup>
                  </m:oMath>
                </a14:m>
                <a:r>
                  <a:rPr/>
                  <a:t>, same at any AADT)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58800"/>
                <a:gridCol w="3505200"/>
                <a:gridCol w="673100"/>
                <a:gridCol w="3683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-7.3088</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+0.9113</a:t>
                      </a:r>
                    </a:p>
                  </a:txBody>
                </a:tc>
                <a:tc>
                  <a:txBody>
                    <a:bodyPr/>
                    <a:lstStyle/>
                    <a:p>
                      <a:endParaRPr/>
                    </a:p>
                  </a:txBody>
                </a:tc>
              </a:tr>
              <a:tr h="0">
                <a:tc>
                  <a:txBody>
                    <a:bodyPr/>
                    <a:lstStyle/>
                    <a:p>
                      <a:pPr lvl="0" indent="0" marL="0">
                        <a:buNone/>
                      </a:pPr>
                      <a:r>
                        <a:rPr/>
                        <a:t>ACCESS</a:t>
                      </a:r>
                    </a:p>
                  </a:txBody>
                </a:tc>
                <a:tc>
                  <a:txBody>
                    <a:bodyPr/>
                    <a:lstStyle/>
                    <a:p>
                      <a:pPr lvl="0" indent="0" marL="0">
                        <a:buNone/>
                      </a:pPr>
                      <a:r>
                        <a:rPr/>
                        <a:t>Access-Point Density (driveways + intersections per mile)</a:t>
                      </a:r>
                    </a:p>
                  </a:txBody>
                </a:tc>
                <a:tc>
                  <a:txBody>
                    <a:bodyPr/>
                    <a:lstStyle/>
                    <a:p>
                      <a:pPr lvl="0" indent="0" marL="0">
                        <a:buNone/>
                      </a:pPr>
                      <a:r>
                        <a:rPr/>
                        <a:t>-0.1802</a:t>
                      </a:r>
                    </a:p>
                  </a:txBody>
                </a:tc>
                <a:tc>
                  <a:txBody>
                    <a:bodyPr/>
                    <a:lstStyle/>
                    <a:p>
                      <a:pPr lvl="0" indent="0" marL="0">
                        <a:buNone/>
                      </a:pPr>
                      <a:r>
                        <a:rPr/>
                        <a:t>0.6436</a:t>
                      </a:r>
                    </a:p>
                  </a:txBody>
                </a:tc>
              </a:tr>
              <a:tr h="0">
                <a:tc>
                  <a:txBody>
                    <a:bodyPr/>
                    <a:lstStyle/>
                    <a:p>
                      <a:pPr lvl="0" indent="0" marL="0">
                        <a:buNone/>
                      </a:pPr>
                      <a:r>
                        <a:rPr/>
                        <a:t>AVESNOW</a:t>
                      </a:r>
                    </a:p>
                  </a:txBody>
                </a:tc>
                <a:tc>
                  <a:txBody>
                    <a:bodyPr/>
                    <a:lstStyle/>
                    <a:p>
                      <a:pPr lvl="0" indent="0" marL="0">
                        <a:buNone/>
                      </a:pPr>
                      <a:r>
                        <a:rPr/>
                        <a:t>Average Annual Snowfall (in/yr)</a:t>
                      </a:r>
                    </a:p>
                  </a:txBody>
                </a:tc>
                <a:tc>
                  <a:txBody>
                    <a:bodyPr/>
                    <a:lstStyle/>
                    <a:p>
                      <a:pPr lvl="0" indent="0" marL="0">
                        <a:buNone/>
                      </a:pPr>
                      <a:r>
                        <a:rPr/>
                        <a:t>+0.0473</a:t>
                      </a:r>
                    </a:p>
                  </a:txBody>
                </a:tc>
                <a:tc>
                  <a:txBody>
                    <a:bodyPr/>
                    <a:lstStyle/>
                    <a:p>
                      <a:pPr lvl="0" indent="0" marL="0">
                        <a:buNone/>
                      </a:pPr>
                      <a:r>
                        <a:rPr/>
                        <a:t>1.0225</a:t>
                      </a:r>
                    </a:p>
                  </a:txBody>
                </a:tc>
              </a:tr>
              <a:tr h="0">
                <a:tc>
                  <a:txBody>
                    <a:bodyPr/>
                    <a:lstStyle/>
                    <a:p>
                      <a:pPr lvl="0" indent="0" marL="0">
                        <a:buNone/>
                      </a:pPr>
                      <a:r>
                        <a:rPr/>
                        <a:t>INTECHAG</a:t>
                      </a:r>
                    </a:p>
                  </a:txBody>
                </a:tc>
                <a:tc>
                  <a:txBody>
                    <a:bodyPr/>
                    <a:lstStyle/>
                    <a:p>
                      <a:pPr lvl="0" indent="0" marL="0">
                        <a:buNone/>
                      </a:pPr>
                      <a:r>
                        <a:rPr/>
                        <a:t>Number of Grade-Change Points (count)</a:t>
                      </a:r>
                    </a:p>
                  </a:txBody>
                </a:tc>
                <a:tc>
                  <a:txBody>
                    <a:bodyPr/>
                    <a:lstStyle/>
                    <a:p>
                      <a:pPr lvl="0" indent="0" marL="0">
                        <a:buNone/>
                      </a:pPr>
                      <a:r>
                        <a:rPr/>
                        <a:t>+0.1949</a:t>
                      </a:r>
                    </a:p>
                  </a:txBody>
                </a:tc>
                <a:tc>
                  <a:txBody>
                    <a:bodyPr/>
                    <a:lstStyle/>
                    <a:p>
                      <a:pPr lvl="0" indent="0" marL="0">
                        <a:buNone/>
                      </a:pPr>
                      <a:r>
                        <a:rPr/>
                        <a:t>1.2536</a:t>
                      </a:r>
                    </a:p>
                  </a:txBody>
                </a:tc>
              </a:tr>
              <a:tr h="0">
                <a:tc>
                  <a:txBody>
                    <a:bodyPr/>
                    <a:lstStyle/>
                    <a:p>
                      <a:pPr lvl="0" indent="0" marL="0">
                        <a:buNone/>
                      </a:pPr>
                      <a:r>
                        <a:rPr/>
                        <a:t>MINRAD</a:t>
                      </a:r>
                    </a:p>
                  </a:txBody>
                </a:tc>
                <a:tc>
                  <a:txBody>
                    <a:bodyPr/>
                    <a:lstStyle/>
                    <a:p>
                      <a:pPr lvl="0" indent="0" marL="0">
                        <a:buNone/>
                      </a:pPr>
                      <a:r>
                        <a:rPr/>
                        <a:t>Minimum Curve Radius (ft) - smaller = sharper bend</a:t>
                      </a:r>
                    </a:p>
                  </a:txBody>
                </a:tc>
                <a:tc>
                  <a:txBody>
                    <a:bodyPr/>
                    <a:lstStyle/>
                    <a:p>
                      <a:pPr lvl="0" indent="0" marL="0">
                        <a:buNone/>
                      </a:pPr>
                      <a:r>
                        <a:rPr/>
                        <a:t>-0.0514</a:t>
                      </a:r>
                    </a:p>
                  </a:txBody>
                </a:tc>
                <a:tc>
                  <a:txBody>
                    <a:bodyPr/>
                    <a:lstStyle/>
                    <a:p>
                      <a:pPr lvl="0" indent="0" marL="0">
                        <a:buNone/>
                      </a:pPr>
                      <a:r>
                        <a:rPr/>
                        <a:t>1.0000</a:t>
                      </a:r>
                    </a:p>
                  </a:txBody>
                </a:tc>
              </a:tr>
              <a:tr h="0">
                <a:tc>
                  <a:txBody>
                    <a:bodyPr/>
                    <a:lstStyle/>
                    <a:p>
                      <a:pPr lvl="0" indent="0" marL="0">
                        <a:buNone/>
                      </a:pPr>
                      <a:r>
                        <a:rPr/>
                        <a:t>MXGRADE</a:t>
                      </a:r>
                    </a:p>
                  </a:txBody>
                </a:tc>
                <a:tc>
                  <a:txBody>
                    <a:bodyPr/>
                    <a:lstStyle/>
                    <a:p>
                      <a:pPr lvl="0" indent="0" marL="0">
                        <a:buNone/>
                      </a:pPr>
                      <a:r>
                        <a:rPr/>
                        <a:t>Maximum Vertical Grade (%)</a:t>
                      </a:r>
                    </a:p>
                  </a:txBody>
                </a:tc>
                <a:tc>
                  <a:txBody>
                    <a:bodyPr/>
                    <a:lstStyle/>
                    <a:p>
                      <a:pPr lvl="0" indent="0" marL="0">
                        <a:buNone/>
                      </a:pPr>
                      <a:r>
                        <a:rPr/>
                        <a:t>+0.0685</a:t>
                      </a:r>
                    </a:p>
                  </a:txBody>
                </a:tc>
                <a:tc>
                  <a:txBody>
                    <a:bodyPr/>
                    <a:lstStyle/>
                    <a:p>
                      <a:pPr lvl="0" indent="0" marL="0">
                        <a:buNone/>
                      </a:pPr>
                      <a:r>
                        <a:rPr/>
                        <a:t>1.0227</a:t>
                      </a:r>
                    </a:p>
                  </a:txBody>
                </a:tc>
              </a:tr>
              <a:tr h="0">
                <a:tc>
                  <a:txBody>
                    <a:bodyPr/>
                    <a:lstStyle/>
                    <a:p>
                      <a:pPr lvl="0" indent="0" marL="0">
                        <a:buNone/>
                      </a:pPr>
                      <a:r>
                        <a:rPr/>
                        <a:t>MXMEDSH</a:t>
                      </a:r>
                    </a:p>
                  </a:txBody>
                </a:tc>
                <a:tc>
                  <a:txBody>
                    <a:bodyPr/>
                    <a:lstStyle/>
                    <a:p>
                      <a:pPr lvl="0" indent="0" marL="0">
                        <a:buNone/>
                      </a:pPr>
                      <a:r>
                        <a:rPr/>
                        <a:t>Maximum Median Shoulder Width (ft)</a:t>
                      </a:r>
                    </a:p>
                  </a:txBody>
                </a:tc>
                <a:tc>
                  <a:txBody>
                    <a:bodyPr/>
                    <a:lstStyle/>
                    <a:p>
                      <a:pPr lvl="0" indent="0" marL="0">
                        <a:buNone/>
                      </a:pPr>
                      <a:r>
                        <a:rPr/>
                        <a:t>+0.1633</a:t>
                      </a:r>
                    </a:p>
                  </a:txBody>
                </a:tc>
                <a:tc>
                  <a:txBody>
                    <a:bodyPr/>
                    <a:lstStyle/>
                    <a:p>
                      <a:pPr lvl="0" indent="0" marL="0">
                        <a:buNone/>
                      </a:pPr>
                      <a:r>
                        <a:rPr/>
                        <a:t>1.0688</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+0.1081</a:t>
                      </a:r>
                    </a:p>
                  </a:txBody>
                </a:tc>
                <a:tc>
                  <a:txBody>
                    <a:bodyPr/>
                    <a:lstStyle/>
                    <a:p>
                      <a:pPr lvl="0" indent="0" marL="0">
                        <a:buNone/>
                      </a:pPr>
                      <a:r>
                        <a:rPr/>
                        <a:t>1.1425</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a:t>
                </a:r>
                <a:r>
                  <a:rPr/>
                  <a:t> — modify AADT elasticity (</a:t>
                </a:r>
                <a14:m>
                  <m:oMath xmlns:m="http://schemas.openxmlformats.org/officeDocument/2006/math">
                    <m:sSup>
                      <m:e>
                        <m:r>
                          <m:rPr>
                            <m:nor/>
                            <m:sty m:val="p"/>
                          </m:rPr>
                          <m:t>AADT</m:t>
                        </m:r>
                      </m:e>
                      <m:sup>
                        <m:r>
                          <m:t> </m:t>
                        </m:r>
                        <m:r>
                          <m:t>γ</m:t>
                        </m:r>
                        <m:r>
                          <m:t> </m:t>
                        </m:r>
                        <m:r>
                          <m:t>Δ</m:t>
                        </m:r>
                        <m:r>
                          <m:t>x</m:t>
                        </m:r>
                      </m:sup>
                    </m:sSup>
                  </m:oMath>
                </a14:m>
                <a:r>
                  <a:rPr/>
                  <a: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-0.0153</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-0.0207</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Full equation:</a:t>
                </a:r>
                <a:r>
                  <a:rPr sz="2000"/>
                  <a:t> </a:t>
                </a:r>
                <a14:m>
                  <m:oMath xmlns:m="http://schemas.openxmlformats.org/officeDocument/2006/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sSub>
                      <m:e>
                        <m:r>
                          <m:t>A</m:t>
                        </m:r>
                      </m:e>
                      <m:sub>
                        <m:r>
                          <m:t>i</m:t>
                        </m:r>
                      </m:sub>
                    </m:sSub>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sSub>
                      <m:e>
                        <m:r>
                          <m:t>A</m:t>
                        </m:r>
                      </m:e>
                      <m:sub>
                        <m:r>
                          <m:t>i</m:t>
                        </m:r>
                      </m:sub>
                    </m:sSub>
                    <m:r>
                      <m:rPr>
                        <m:sty m:val="p"/>
                      </m:rPr>
                      <m:t>+</m:t>
                    </m:r>
                    <m:r>
                      <m:rPr>
                        <m:sty m:val="p"/>
                      </m:rPr>
                      <m:t>log</m:t>
                    </m:r>
                    <m:sSub>
                      <m:e>
                        <m:r>
                          <m:t>L</m:t>
                        </m:r>
                      </m:e>
                      <m:sub>
                        <m:r>
                          <m:t>i</m:t>
                        </m:r>
                      </m:sub>
                    </m:sSub>
                  </m:oMath>
                </a14:m>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Read Each Coefficient as a CMF</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acc>
                            <m:accPr>
                              <m:chr m:val="̂"/>
                            </m:accPr>
                            <m:e>
                              <m:r>
                                <m:t>μ</m:t>
                              </m:r>
                            </m:e>
                          </m:acc>
                        </m:e>
                      </m:d>
                      <m:r>
                        <m:rPr>
                          <m:sty m:val="p"/>
                        </m:rPr>
                        <m:t>=</m:t>
                      </m:r>
                      <m:limLow>
                        <m:e>
                          <m:limLow>
                            <m:e>
                              <m:r>
                                <m:t>α</m:t>
                              </m:r>
                            </m:e>
                            <m:lim>
                              <m:r>
                                <m:rPr>
                                  <m:sty m:val="p"/>
                                </m:rPr>
                                <m:t>⏟</m:t>
                              </m:r>
                            </m:lim>
                          </m:limLow>
                        </m:e>
                        <m:lim>
                          <m:r>
                            <m:rPr>
                              <m:nor/>
                              <m:sty m:val="p"/>
                            </m:rPr>
                            <m:t>intercept</m:t>
                          </m:r>
                        </m:lim>
                      </m:limLow>
                      <m:r>
                        <m:rPr>
                          <m:sty m:val="p"/>
                        </m:rPr>
                        <m:t>+</m:t>
                      </m:r>
                      <m:limLow>
                        <m:e>
                          <m:limLow>
                            <m:e>
                              <m:sSub>
                                <m:e>
                                  <m:r>
                                    <m:t>β</m:t>
                                  </m:r>
                                </m:e>
                                <m:sub>
                                  <m:r>
                                    <m:rPr>
                                      <m:nor/>
                                      <m:sty m:val="p"/>
                                    </m:rPr>
                                    <m:t>AADT</m:t>
                                  </m:r>
                                </m:sub>
                              </m:sSub>
                              <m:r>
                                <m:rPr>
                                  <m:sty m:val="p"/>
                                </m:rPr>
                                <m:t>log</m:t>
                              </m:r>
                              <m:r>
                                <m:t>A</m:t>
                              </m:r>
                            </m:e>
                            <m:lim>
                              <m:r>
                                <m:rPr>
                                  <m:sty m:val="p"/>
                                </m:rPr>
                                <m:t>⏟</m:t>
                              </m:r>
                            </m:lim>
                          </m:limLow>
                        </m:e>
                        <m:lim>
                          <m:r>
                            <m:rPr>
                              <m:nor/>
                              <m:sty m:val="p"/>
                            </m:rPr>
                            <m:t>base AADT</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j</m:t>
                                  </m:r>
                                </m:sub>
                              </m:sSub>
                            </m:e>
                            <m:lim>
                              <m:r>
                                <m:rPr>
                                  <m:sty m:val="p"/>
                                </m:rPr>
                                <m:t>⏟</m:t>
                              </m:r>
                            </m:lim>
                          </m:limLow>
                        </m:e>
                        <m:lim>
                          <m:r>
                            <m:rPr>
                              <m:nor/>
                              <m:sty m:val="p"/>
                            </m:rPr>
                            <m:t>upper</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k</m:t>
                                  </m:r>
                                </m:sub>
                              </m:sSub>
                              <m:r>
                                <m:rPr>
                                  <m:sty m:val="p"/>
                                </m:rPr>
                                <m:t>log</m:t>
                              </m:r>
                              <m:r>
                                <m:t>A</m:t>
                              </m:r>
                            </m:e>
                            <m:lim>
                              <m:r>
                                <m:rPr>
                                  <m:sty m:val="p"/>
                                </m:rPr>
                                <m:t>⏟</m:t>
                              </m:r>
                            </m:lim>
                          </m:limLow>
                        </m:e>
                        <m:lim>
                          <m:r>
                            <m:rPr>
                              <m:nor/>
                              <m:sty m:val="p"/>
                            </m:rPr>
                            <m:t>lower</m:t>
                          </m:r>
                        </m:lim>
                      </m:limLow>
                      <m:r>
                        <m:rPr>
                          <m:sty m:val="p"/>
                        </m:rPr>
                        <m:t>+</m:t>
                      </m:r>
                      <m:r>
                        <m:rPr>
                          <m:sty m:val="p"/>
                        </m:rPr>
                        <m:t>log</m:t>
                      </m:r>
                      <m:r>
                        <m:t>L</m:t>
                      </m:r>
                    </m:oMath>
                  </m:oMathPara>
                </a14:m>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indent="0" marL="0">
                  <a:buNone/>
                </a:pPr>
                <a:r>
                  <a:rPr b="1"/>
                  <a:t>Upper term — fixed CMF at any AADT</a:t>
                </a:r>
              </a:p>
              <a:p>
                <a:pPr lvl="0" indent="0" marL="0">
                  <a:buNone/>
                </a:pPr>
                <a14:m>
                  <m:oMathPara xmlns:m="http://schemas.openxmlformats.org/officeDocument/2006/math">
                    <m:oMathParaPr>
                      <m:jc m:val="center"/>
                    </m:oMathParaPr>
                    <m:oMath>
                      <m:sSub>
                        <m:e>
                          <m:r>
                            <m:rPr>
                              <m:nor/>
                              <m:sty m:val="p"/>
                            </m:rPr>
                            <m:t>CMF</m:t>
                          </m:r>
                        </m:e>
                        <m:sub>
                          <m:r>
                            <m:t>j</m:t>
                          </m:r>
                        </m:sub>
                      </m:sSub>
                      <m:r>
                        <m:rPr>
                          <m:sty m:val="p"/>
                        </m:rPr>
                        <m:t>=</m:t>
                      </m:r>
                      <m:sSup>
                        <m:e>
                          <m:r>
                            <m:t>e</m:t>
                          </m:r>
                        </m:e>
                        <m:sup>
                          <m:r>
                            <m:t> </m:t>
                          </m:r>
                          <m:sSub>
                            <m:e>
                              <m:r>
                                <m:t>β</m:t>
                              </m:r>
                            </m:e>
                            <m:sub>
                              <m:r>
                                <m:t>j</m:t>
                              </m:r>
                            </m:sub>
                          </m:sSub>
                          <m:r>
                            <m:t> </m:t>
                          </m:r>
                          <m:r>
                            <m:t>Δ</m:t>
                          </m:r>
                          <m:sSub>
                            <m:e>
                              <m:r>
                                <m:t>x</m:t>
                              </m:r>
                            </m:e>
                            <m:sub>
                              <m:r>
                                <m:t>j</m:t>
                              </m:r>
                            </m:sub>
                          </m:sSub>
                        </m:sup>
                      </m:sSup>
                      <m:r>
                        <m:t> </m:t>
                      </m:r>
                      <m:r>
                        <m:rPr>
                          <m:nor/>
                          <m:sty m:val="p"/>
                        </m:rPr>
                        <m:t>(same for all traffic levels)</m:t>
                      </m:r>
                    </m:oMath>
                  </m:oMathPara>
                </a14:m>
              </a:p>
              <a:p>
                <a:pPr lvl="0" indent="0" marL="0">
                  <a:buNone/>
                </a:pPr>
                <a:r>
                  <a:rPr/>
                  <a:t>A negative </a:t>
                </a:r>
                <a14:m>
                  <m:oMath xmlns:m="http://schemas.openxmlformats.org/officeDocument/2006/math">
                    <m:r>
                      <m:t>β</m:t>
                    </m:r>
                  </m:oMath>
                </a14:m>
                <a:r>
                  <a:rPr/>
                  <a:t> (e.g. shoulder width) means more of that variable = fewer crashes, at any AADT.</a:t>
                </a:r>
              </a:p>
              <a:p>
                <a:pPr lvl="0" indent="0" marL="0">
                  <a:buNone/>
                </a:pPr>
                <a:r>
                  <a:rPr b="1"/>
                  <a:t>Lower term — CMF scales with traffic</a:t>
                </a:r>
              </a:p>
              <a:p>
                <a:pPr lvl="0" indent="0" marL="0">
                  <a:buNone/>
                </a:pPr>
                <a14:m>
                  <m:oMathPara xmlns:m="http://schemas.openxmlformats.org/officeDocument/2006/math">
                    <m:oMathParaPr>
                      <m:jc m:val="center"/>
                    </m:oMathParaPr>
                    <m:oMath>
                      <m:sSub>
                        <m:e>
                          <m:r>
                            <m:rPr>
                              <m:nor/>
                              <m:sty m:val="p"/>
                            </m:rPr>
                            <m:t>CMF</m:t>
                          </m:r>
                        </m:e>
                        <m:sub>
                          <m:r>
                            <m:t>k</m:t>
                          </m:r>
                        </m:sub>
                      </m:sSub>
                      <m:d>
                        <m:dPr>
                          <m:begChr m:val="("/>
                          <m:sepChr m:val=""/>
                          <m:endChr m:val=")"/>
                          <m:grow/>
                        </m:dPr>
                        <m:e>
                          <m:r>
                            <m:rPr>
                              <m:nor/>
                              <m:sty m:val="p"/>
                            </m:rPr>
                            <m:t>AADT</m:t>
                          </m:r>
                        </m:e>
                      </m:d>
                      <m:r>
                        <m:rPr>
                          <m:sty m:val="p"/>
                        </m:rPr>
                        <m:t>=</m:t>
                      </m:r>
                      <m:sSup>
                        <m:e>
                          <m:r>
                            <m:rPr>
                              <m:nor/>
                              <m:sty m:val="p"/>
                            </m:rPr>
                            <m:t>AADT</m:t>
                          </m:r>
                        </m:e>
                        <m:sup>
                          <m:r>
                            <m:t> </m:t>
                          </m:r>
                          <m:sSub>
                            <m:e>
                              <m:r>
                                <m:t>γ</m:t>
                              </m:r>
                            </m:e>
                            <m:sub>
                              <m:r>
                                <m:t>k</m:t>
                              </m:r>
                            </m:sub>
                          </m:sSub>
                          <m:r>
                            <m:t> </m:t>
                          </m:r>
                          <m:r>
                            <m:t>Δ</m:t>
                          </m:r>
                          <m:sSub>
                            <m:e>
                              <m:r>
                                <m:t>x</m:t>
                              </m:r>
                            </m:e>
                            <m:sub>
                              <m:r>
                                <m:t>k</m:t>
                              </m:r>
                            </m:sub>
                          </m:sSub>
                        </m:sup>
                      </m:sSup>
                    </m:oMath>
                  </m:oMathPara>
                </a14:m>
              </a:p>
              <a:p>
                <a:pPr lvl="0" indent="0" marL="0">
                  <a:buNone/>
                </a:pPr>
                <a:r>
                  <a:rPr/>
                  <a:t>A positive </a:t>
                </a:r>
                <a14:m>
                  <m:oMath xmlns:m="http://schemas.openxmlformats.org/officeDocument/2006/math">
                    <m:r>
                      <m:t>γ</m:t>
                    </m:r>
                  </m:oMath>
                </a14:m>
                <a:r>
                  <a:rPr/>
                  <a:t> means the variable amplifies crash sensitivity to traffic. Higher-AADT roads feel this effect more strongly.</a:t>
                </a:r>
              </a:p>
            </p:txBody>
          </p:sp>
        </mc:Choice>
      </mc:AlternateContent>
      <p:sp>
        <p:nvSpPr>
          <p:cNvPr id="5" name="Text Placeholder 4"/>
          <p:cNvSpPr>
            <a:spLocks noGrp="1"/>
          </p:cNvSpPr>
          <p:nvPr>
            <p:ph idx="3" sz="quarter" type="body"/>
          </p:nvPr>
        </p:nvSpPr>
        <p:spPr/>
        <p:txBody>
          <a:bodyPr/>
          <a:lstStyle/>
          <a:p>
            <a:pPr lvl="0" indent="0" marL="0">
              <a:buNone/>
            </a:pPr>
            <a:r>
              <a:rPr b="1"/>
              <a:t>Quick reference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Sign</a:t>
                      </a:r>
                    </a:p>
                  </a:txBody>
                  <a:tcPr/>
                </a:tc>
                <a:tc>
                  <a:txBody>
                    <a:bodyPr/>
                    <a:lstStyle/>
                    <a:p>
                      <a:pPr lvl="0" indent="0" marL="0">
                        <a:buNone/>
                      </a:pPr>
                      <a:r>
                        <a:rPr/>
                        <a:t>Term type</a:t>
                      </a:r>
                    </a:p>
                  </a:txBody>
                  <a:tcPr/>
                </a:tc>
                <a:tc>
                  <a:txBody>
                    <a:bodyPr/>
                    <a:lstStyle/>
                    <a:p>
                      <a:pPr lvl="0" indent="0" marL="0">
                        <a:buNone/>
                      </a:pPr>
                      <a:r>
                        <a:rPr/>
                        <a:t>Effect</a:t>
                      </a:r>
                    </a:p>
                  </a:txBody>
                  <a:tcPr/>
                </a:tc>
              </a:tr>
              <a:tr h="0">
                <a:tc>
                  <a:txBody>
                    <a:bodyPr/>
                    <a:lstStyle/>
                    <a:p>
                      <a:pPr lvl="0" indent="0" marL="0">
                        <a:buNone/>
                      </a:pPr>
                      <a:r>
                        <a:rPr/>
                        <a:t>beta &gt; 0</a:t>
                      </a:r>
                    </a:p>
                  </a:txBody>
                </a:tc>
                <a:tc>
                  <a:txBody>
                    <a:bodyPr/>
                    <a:lstStyle/>
                    <a:p>
                      <a:pPr lvl="0" indent="0" marL="0">
                        <a:buNone/>
                      </a:pPr>
                      <a:r>
                        <a:rPr/>
                        <a:t>upper</a:t>
                      </a:r>
                    </a:p>
                  </a:txBody>
                </a:tc>
                <a:tc>
                  <a:txBody>
                    <a:bodyPr/>
                    <a:lstStyle/>
                    <a:p>
                      <a:pPr lvl="0" indent="0" marL="0">
                        <a:buNone/>
                      </a:pPr>
                      <a:r>
                        <a:rPr/>
                        <a:t>more = higher crash rate</a:t>
                      </a:r>
                    </a:p>
                  </a:txBody>
                </a:tc>
              </a:tr>
              <a:tr h="0">
                <a:tc>
                  <a:txBody>
                    <a:bodyPr/>
                    <a:lstStyle/>
                    <a:p>
                      <a:pPr lvl="0" indent="0" marL="0">
                        <a:buNone/>
                      </a:pPr>
                      <a:r>
                        <a:rPr/>
                        <a:t>beta &lt; 0</a:t>
                      </a:r>
                    </a:p>
                  </a:txBody>
                </a:tc>
                <a:tc>
                  <a:txBody>
                    <a:bodyPr/>
                    <a:lstStyle/>
                    <a:p>
                      <a:pPr lvl="0" indent="0" marL="0">
                        <a:buNone/>
                      </a:pPr>
                      <a:r>
                        <a:rPr/>
                        <a:t>upper</a:t>
                      </a:r>
                    </a:p>
                  </a:txBody>
                </a:tc>
                <a:tc>
                  <a:txBody>
                    <a:bodyPr/>
                    <a:lstStyle/>
                    <a:p>
                      <a:pPr lvl="0" indent="0" marL="0">
                        <a:buNone/>
                      </a:pPr>
                      <a:r>
                        <a:rPr/>
                        <a:t>more = lower crash rate</a:t>
                      </a:r>
                    </a:p>
                  </a:txBody>
                </a:tc>
              </a:tr>
              <a:tr h="0">
                <a:tc>
                  <a:txBody>
                    <a:bodyPr/>
                    <a:lstStyle/>
                    <a:p>
                      <a:pPr lvl="0" indent="0" marL="0">
                        <a:buNone/>
                      </a:pPr>
                      <a:r>
                        <a:rPr/>
                        <a:t>gamma &gt; 0</a:t>
                      </a:r>
                    </a:p>
                  </a:txBody>
                </a:tc>
                <a:tc>
                  <a:txBody>
                    <a:bodyPr/>
                    <a:lstStyle/>
                    <a:p>
                      <a:pPr lvl="0" indent="0" marL="0">
                        <a:buNone/>
                      </a:pPr>
                      <a:r>
                        <a:rPr/>
                        <a:t>lower</a:t>
                      </a:r>
                    </a:p>
                  </a:txBody>
                </a:tc>
                <a:tc>
                  <a:txBody>
                    <a:bodyPr/>
                    <a:lstStyle/>
                    <a:p>
                      <a:pPr lvl="0" indent="0" marL="0">
                        <a:buNone/>
                      </a:pPr>
                      <a:r>
                        <a:rPr/>
                        <a:t>amplifies AADT sensitivity</a:t>
                      </a:r>
                    </a:p>
                  </a:txBody>
                </a:tc>
              </a:tr>
              <a:tr h="0">
                <a:tc>
                  <a:txBody>
                    <a:bodyPr/>
                    <a:lstStyle/>
                    <a:p>
                      <a:pPr lvl="0" indent="0" marL="0">
                        <a:buNone/>
                      </a:pPr>
                      <a:r>
                        <a:rPr/>
                        <a:t>gamma &lt; 0</a:t>
                      </a:r>
                    </a:p>
                  </a:txBody>
                </a:tc>
                <a:tc>
                  <a:txBody>
                    <a:bodyPr/>
                    <a:lstStyle/>
                    <a:p>
                      <a:pPr lvl="0" indent="0" marL="0">
                        <a:buNone/>
                      </a:pPr>
                      <a:r>
                        <a:rPr/>
                        <a:t>lower</a:t>
                      </a:r>
                    </a:p>
                  </a:txBody>
                </a:tc>
                <a:tc>
                  <a:txBody>
                    <a:bodyPr/>
                    <a:lstStyle/>
                    <a:p>
                      <a:pPr lvl="0" indent="0" marL="0">
                        <a:buNone/>
                      </a:pPr>
                      <a:r>
                        <a:rPr/>
                        <a:t>dampens AADT sensitivity</a:t>
                      </a:r>
                    </a:p>
                  </a:txBody>
                </a:tc>
              </a:tr>
            </a:tbl>
          </a:graphicData>
        </a:graphic>
      </p:graphicFrame>
      <p:sp>
        <p:nvSpPr>
          <p:cNvPr id="6" name="Content Placeholder 5"/>
          <p:cNvSpPr>
            <a:spLocks noGrp="1"/>
          </p:cNvSpPr>
          <p:nvPr>
            <p:ph idx="4" sz="quarter"/>
          </p:nvPr>
        </p:nvSpPr>
        <p:spPr/>
        <p:txBody>
          <a:bodyPr/>
          <a:lstStyle/>
          <a:p>
            <a:pPr lvl="0" indent="0" marL="0">
              <a:buNone/>
            </a:pPr>
            <a:r>
              <a:rPr b="1"/>
              <a:t>Offset — log(Length)</a:t>
            </a:r>
          </a:p>
          <a:p>
            <a:pPr lvl="0" indent="0" marL="0">
              <a:buNone/>
            </a:pPr>
            <a:r>
              <a:rPr/>
              <a:t>Always included at coefficient = 1. A 2-mile segment is expected to have exactly twice as many crashes as a 1-mile segment with identical characteristics.</a:t>
            </a:r>
          </a:p>
          <a:p>
            <a:pPr lvl="0" indent="0" marL="0">
              <a:buNone/>
            </a:pPr>
            <a:r>
              <a:rPr i="1"/>
              <a:t>See “The Fitted Model” slide for every coefficient with exact values.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More Trucks / Wider Median Can Mean More Crashes</a:t>
            </a:r>
          </a:p>
        </p:txBody>
      </p:sp>
      <p:sp>
        <p:nvSpPr>
          <p:cNvPr id="4" name="Text Placeholder 3"/>
          <p:cNvSpPr>
            <a:spLocks noGrp="1"/>
          </p:cNvSpPr>
          <p:nvPr>
            <p:ph idx="2" sz="half" type="body"/>
          </p:nvPr>
        </p:nvSpPr>
        <p:spPr/>
        <p:txBody>
          <a:bodyPr/>
          <a:lstStyle/>
          <a:p>
            <a:pPr lvl="0" indent="0" marL="0">
              <a:buNone/>
            </a:pPr>
            <a:r>
              <a:rPr b="1"/>
              <a:t>Counter-intuitive results usually reflect correlated road types, not literal safety effects.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Sign</a:t>
                      </a:r>
                    </a:p>
                  </a:txBody>
                  <a:tcPr/>
                </a:tc>
                <a:tc>
                  <a:txBody>
                    <a:bodyPr/>
                    <a:lstStyle/>
                    <a:p>
                      <a:pPr lvl="0" indent="0" marL="0">
                        <a:buNone/>
                      </a:pPr>
                      <a:r>
                        <a:rPr/>
                        <a:t>Likely interpretation</a:t>
                      </a:r>
                    </a:p>
                  </a:txBody>
                  <a:tcPr/>
                </a:tc>
              </a:tr>
              <a:tr h="0">
                <a:tc>
                  <a:txBody>
                    <a:bodyPr/>
                    <a:lstStyle/>
                    <a:p>
                      <a:pPr lvl="0" indent="0" marL="0">
                        <a:buNone/>
                      </a:pPr>
                      <a:r>
                        <a:rPr/>
                        <a:t>Double-unit trucks</a:t>
                      </a:r>
                    </a:p>
                  </a:txBody>
                </a:tc>
                <a:tc>
                  <a:txBody>
                    <a:bodyPr/>
                    <a:lstStyle/>
                    <a:p>
                      <a:pPr lvl="0" indent="0" marL="0">
                        <a:buNone/>
                      </a:pPr>
                      <a:r>
                        <a:rPr/>
                        <a:t>Positive</a:t>
                      </a:r>
                    </a:p>
                  </a:txBody>
                </a:tc>
                <a:tc>
                  <a:txBody>
                    <a:bodyPr/>
                    <a:lstStyle/>
                    <a:p>
                      <a:pPr lvl="0" indent="0" marL="0">
                        <a:buNone/>
                      </a:pPr>
                      <a:r>
                        <a:rPr/>
                        <a:t>Older rural corridors with heavier freight use</a:t>
                      </a:r>
                    </a:p>
                  </a:txBody>
                </a:tc>
              </a:tr>
              <a:tr h="0">
                <a:tc>
                  <a:txBody>
                    <a:bodyPr/>
                    <a:lstStyle/>
                    <a:p>
                      <a:pPr lvl="0" indent="0" marL="0">
                        <a:buNone/>
                      </a:pPr>
                      <a:r>
                        <a:rPr/>
                        <a:t>Median width</a:t>
                      </a:r>
                    </a:p>
                  </a:txBody>
                </a:tc>
                <a:tc>
                  <a:txBody>
                    <a:bodyPr/>
                    <a:lstStyle/>
                    <a:p>
                      <a:pPr lvl="0" indent="0" marL="0">
                        <a:buNone/>
                      </a:pPr>
                      <a:r>
                        <a:rPr/>
                        <a:t>Positive upper term</a:t>
                      </a:r>
                    </a:p>
                  </a:txBody>
                </a:tc>
                <a:tc>
                  <a:txBody>
                    <a:bodyPr/>
                    <a:lstStyle/>
                    <a:p>
                      <a:pPr lvl="0" indent="0" marL="0">
                        <a:buNone/>
                      </a:pPr>
                      <a:r>
                        <a:rPr/>
                        <a:t>High-speed divided arterials with more severe crashes</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Key insight:</a:t>
            </a:r>
            <a:r>
              <a:rPr/>
              <a:t> a large random-parameter SD means the effect varies strongly by site.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Interactive CMF Dashboard</a:t>
            </a:r>
          </a:p>
        </p:txBody>
      </p:sp>
      <p:sp>
        <p:nvSpPr>
          <p:cNvPr id="4" name="Text Placeholder 3"/>
          <p:cNvSpPr>
            <a:spLocks noGrp="1"/>
          </p:cNvSpPr>
          <p:nvPr>
            <p:ph idx="2" sz="half" type="body"/>
          </p:nvPr>
        </p:nvSpPr>
        <p:spPr/>
        <p:txBody>
          <a:bodyPr/>
          <a:lstStyle/>
          <a:p>
            <a:pPr lvl="0" indent="0" marL="0">
              <a:buNone/>
            </a:pPr>
            <a:r>
              <a:rPr b="1"/>
              <a:t>Interactive CMF Dashboard</a:t>
            </a:r>
            <a:r>
              <a:rPr/>
              <a:t> — open </a:t>
            </a:r>
            <a:r>
              <a:rPr>
                <a:latin typeface="Courier"/>
              </a:rPr>
              <a:t>results/ex16_3_cmf/hierarchical_cmf_dashboard.html</a:t>
            </a:r>
            <a:r>
              <a:rPr/>
              <a:t> in any browser.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Feature</a:t>
                      </a:r>
                    </a:p>
                  </a:txBody>
                  <a:tcPr/>
                </a:tc>
                <a:tc>
                  <a:txBody>
                    <a:bodyPr/>
                    <a:lstStyle/>
                    <a:p>
                      <a:pPr lvl="0" indent="0" marL="0">
                        <a:buNone/>
                      </a:pPr>
                      <a:r>
                        <a:rPr/>
                        <a:t>What it does</a:t>
                      </a:r>
                    </a:p>
                  </a:txBody>
                  <a:tcPr/>
                </a:tc>
              </a:tr>
              <a:tr h="0">
                <a:tc>
                  <a:txBody>
                    <a:bodyPr/>
                    <a:lstStyle/>
                    <a:p>
                      <a:pPr lvl="0" indent="0" marL="0">
                        <a:buNone/>
                      </a:pPr>
                      <a:r>
                        <a:rPr/>
                        <a:t>Variable dropdown</a:t>
                      </a:r>
                    </a:p>
                  </a:txBody>
                </a:tc>
                <a:tc>
                  <a:txBody>
                    <a:bodyPr/>
                    <a:lstStyle/>
                    <a:p>
                      <a:pPr lvl="0" indent="0" marL="0">
                        <a:buNone/>
                      </a:pPr>
                      <a:r>
                        <a:rPr/>
                        <a:t>Select a model variable</a:t>
                      </a:r>
                    </a:p>
                  </a:txBody>
                </a:tc>
              </a:tr>
              <a:tr h="0">
                <a:tc>
                  <a:txBody>
                    <a:bodyPr/>
                    <a:lstStyle/>
                    <a:p>
                      <a:pPr lvl="0" indent="0" marL="0">
                        <a:buNone/>
                      </a:pPr>
                      <a:r>
                        <a:rPr/>
                        <a:t>Mode toggle</a:t>
                      </a:r>
                    </a:p>
                  </a:txBody>
                </a:tc>
                <a:tc>
                  <a:txBody>
                    <a:bodyPr/>
                    <a:lstStyle/>
                    <a:p>
                      <a:pPr lvl="0" indent="0" marL="0">
                        <a:buNone/>
                      </a:pPr>
                      <a:r>
                        <a:rPr/>
                        <a:t>Switch between predicted crashes and CMF</a:t>
                      </a:r>
                    </a:p>
                  </a:txBody>
                </a:tc>
              </a:tr>
              <a:tr h="0">
                <a:tc>
                  <a:txBody>
                    <a:bodyPr/>
                    <a:lstStyle/>
                    <a:p>
                      <a:pPr lvl="0" indent="0" marL="0">
                        <a:buNone/>
                      </a:pPr>
                      <a:r>
                        <a:rPr/>
                        <a:t>AADT slider</a:t>
                      </a:r>
                    </a:p>
                  </a:txBody>
                </a:tc>
                <a:tc>
                  <a:txBody>
                    <a:bodyPr/>
                    <a:lstStyle/>
                    <a:p>
                      <a:pPr lvl="0" indent="0" marL="0">
                        <a:buNone/>
                      </a:pPr>
                      <a:r>
                        <a:rPr/>
                        <a:t>Move between low and high traffic</a:t>
                      </a:r>
                    </a:p>
                  </a:txBody>
                </a:tc>
              </a:tr>
              <a:tr h="0">
                <a:tc>
                  <a:txBody>
                    <a:bodyPr/>
                    <a:lstStyle/>
                    <a:p>
                      <a:pPr lvl="0" indent="0" marL="0">
                        <a:buNone/>
                      </a:pPr>
                      <a:r>
                        <a:rPr/>
                        <a:t>Fan chart</a:t>
                      </a:r>
                    </a:p>
                  </a:txBody>
                </a:tc>
                <a:tc>
                  <a:txBody>
                    <a:bodyPr/>
                    <a:lstStyle/>
                    <a:p>
                      <a:pPr lvl="0" indent="0" marL="0">
                        <a:buNone/>
                      </a:pPr>
                      <a:r>
                        <a:rPr/>
                        <a:t>Shows low / median / high response curves</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Fan chart key:</a:t>
            </a:r>
            <a:r>
              <a:rPr/>
              <a:t> parallel lines = upper-level effect · diverging lines = traffic-interaction effect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Findings &amp; Benefits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Benefit</a:t>
                      </a:r>
                    </a:p>
                  </a:txBody>
                  <a:tcPr/>
                </a:tc>
                <a:tc>
                  <a:txBody>
                    <a:bodyPr/>
                    <a:lstStyle/>
                    <a:p>
                      <a:pPr lvl="0" indent="0" marL="0">
                        <a:buNone/>
                      </a:pPr>
                      <a:r>
                        <a:rPr/>
                        <a:t>Summary</a:t>
                      </a:r>
                    </a:p>
                  </a:txBody>
                  <a:tcPr/>
                </a:tc>
              </a:tr>
              <a:tr h="0">
                <a:tc>
                  <a:txBody>
                    <a:bodyPr/>
                    <a:lstStyle/>
                    <a:p>
                      <a:pPr lvl="0" indent="0" marL="0">
                        <a:buNone/>
                      </a:pPr>
                      <a:r>
                        <a:rPr/>
                        <a:t>Two-level structure</a:t>
                      </a:r>
                    </a:p>
                  </a:txBody>
                </a:tc>
                <a:tc>
                  <a:txBody>
                    <a:bodyPr/>
                    <a:lstStyle/>
                    <a:p>
                      <a:pPr lvl="0" indent="0" marL="0">
                        <a:buNone/>
                      </a:pPr>
                      <a:r>
                        <a:rPr/>
                        <a:t>Separates baseline crash rate from traffic sensitivity</a:t>
                      </a:r>
                    </a:p>
                  </a:txBody>
                </a:tc>
              </a:tr>
              <a:tr h="0">
                <a:tc>
                  <a:txBody>
                    <a:bodyPr/>
                    <a:lstStyle/>
                    <a:p>
                      <a:pPr lvl="0" indent="0" marL="0">
                        <a:buNone/>
                      </a:pPr>
                      <a:r>
                        <a:rPr/>
                        <a:t>Random search</a:t>
                      </a:r>
                    </a:p>
                  </a:txBody>
                </a:tc>
                <a:tc>
                  <a:txBody>
                    <a:bodyPr/>
                    <a:lstStyle/>
                    <a:p>
                      <a:pPr lvl="0" indent="0" marL="0">
                        <a:buNone/>
                      </a:pPr>
                      <a:r>
                        <a:rPr/>
                        <a:t>Optimises RMSE and Poisson deviance together</a:t>
                      </a:r>
                    </a:p>
                  </a:txBody>
                </a:tc>
              </a:tr>
              <a:tr h="0">
                <a:tc>
                  <a:txBody>
                    <a:bodyPr/>
                    <a:lstStyle/>
                    <a:p>
                      <a:pPr lvl="0" indent="0" marL="0">
                        <a:buNone/>
                      </a:pPr>
                      <a:r>
                        <a:rPr/>
                        <a:t>Monotonicity constraint</a:t>
                      </a:r>
                    </a:p>
                  </a:txBody>
                </a:tc>
                <a:tc>
                  <a:txBody>
                    <a:bodyPr/>
                    <a:lstStyle/>
                    <a:p>
                      <a:pPr lvl="0" indent="0" marL="0">
                        <a:buNone/>
                      </a:pPr>
                      <a:r>
                        <a:rPr/>
                        <a:t>Keeps crashes increasing with traffic</a:t>
                      </a:r>
                    </a:p>
                  </a:txBody>
                </a:tc>
              </a:tr>
              <a:tr h="0">
                <a:tc>
                  <a:txBody>
                    <a:bodyPr/>
                    <a:lstStyle/>
                    <a:p>
                      <a:pPr lvl="0" indent="0" marL="0">
                        <a:buNone/>
                      </a:pPr>
                      <a:r>
                        <a:rPr/>
                        <a:t>Model result</a:t>
                      </a:r>
                    </a:p>
                  </a:txBody>
                </a:tc>
                <a:tc>
                  <a:txBody>
                    <a:bodyPr/>
                    <a:lstStyle/>
                    <a:p>
                      <a:pPr lvl="0" indent="0" marL="0">
                        <a:buNone/>
                      </a:pPr>
                      <a:r>
                        <a:rPr/>
                        <a:t>Better BIC, lower RMSE, higher R² than the benchmark</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Run:</a:t>
            </a:r>
            <a:r>
              <a:rPr/>
              <a:t> </a:t>
            </a:r>
            <a:r>
              <a:rPr>
                <a:latin typeface="Courier"/>
              </a:rPr>
              <a:t>python build_washington_presentation.py</a:t>
            </a:r>
            <a:r>
              <a:rPr/>
              <a:t> to regenerate HTML and PPTX.</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Coefficients Side-by-Side</a:t>
            </a:r>
          </a:p>
        </p:txBody>
      </p:sp>
      <p:sp>
        <p:nvSpPr>
          <p:cNvPr id="4" name="Text Placeholder 3"/>
          <p:cNvSpPr>
            <a:spLocks noGrp="1"/>
          </p:cNvSpPr>
          <p:nvPr>
            <p:ph idx="2" sz="half" type="body"/>
          </p:nvPr>
        </p:nvSpPr>
        <p:spPr/>
        <p:txBody>
          <a:bodyPr/>
          <a:lstStyle/>
          <a:p>
            <a:pPr lvl="0" indent="0" marL="0">
              <a:spcBef>
                <a:spcPts val="3000"/>
              </a:spcBef>
              <a:buNone/>
            </a:pPr>
            <a:r>
              <a:rPr b="1"/>
              <a:t>Benchmark vs proposed — all parameters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Parameter</a:t>
                      </a:r>
                    </a:p>
                  </a:txBody>
                  <a:tcPr/>
                </a:tc>
                <a:tc>
                  <a:txBody>
                    <a:bodyPr/>
                    <a:lstStyle/>
                    <a:p>
                      <a:pPr lvl="0" indent="0" marL="0">
                        <a:buNone/>
                      </a:pPr>
                      <a:r>
                        <a:rPr/>
                        <a:t>Benchmark coef</a:t>
                      </a:r>
                    </a:p>
                  </a:txBody>
                  <a:tcPr/>
                </a:tc>
                <a:tc>
                  <a:txBody>
                    <a:bodyPr/>
                    <a:lstStyle/>
                    <a:p>
                      <a:pPr lvl="0" indent="0" marL="0">
                        <a:buNone/>
                      </a:pPr>
                      <a:r>
                        <a:rPr/>
                        <a:t>Proposed fixed</a:t>
                      </a:r>
                    </a:p>
                  </a:txBody>
                  <a:tcPr/>
                </a:tc>
                <a:tc>
                  <a:txBody>
                    <a:bodyPr/>
                    <a:lstStyle/>
                    <a:p>
                      <a:pPr lvl="0" indent="0" marL="0">
                        <a:buNone/>
                      </a:pPr>
                      <a:r>
                        <a:rPr/>
                        <a:t>Random mean</a:t>
                      </a:r>
                    </a:p>
                  </a:txBody>
                  <a:tcPr/>
                </a:tc>
                <a:tc>
                  <a:txBody>
                    <a:bodyPr/>
                    <a:lstStyle/>
                    <a:p>
                      <a:pPr lvl="0" indent="0" marL="0">
                        <a:buNone/>
                      </a:pPr>
                      <a:r>
                        <a:rPr/>
                        <a:t>Random SD</a:t>
                      </a:r>
                    </a:p>
                  </a:txBody>
                  <a:tcPr/>
                </a:tc>
              </a:tr>
              <a:tr h="0">
                <a:tc>
                  <a:txBody>
                    <a:bodyPr/>
                    <a:lstStyle/>
                    <a:p>
                      <a:pPr lvl="0" indent="0" marL="0">
                        <a:buNone/>
                      </a:pPr>
                      <a:r>
                        <a:rPr/>
                        <a:t>Access-Point Density (driveways + intersections per mile)</a:t>
                      </a:r>
                    </a:p>
                  </a:txBody>
                </a:tc>
                <a:tc>
                  <a:txBody>
                    <a:bodyPr/>
                    <a:lstStyle/>
                    <a:p>
                      <a:endParaRPr/>
                    </a:p>
                  </a:txBody>
                </a:tc>
                <a:tc>
                  <a:txBody>
                    <a:bodyPr/>
                    <a:lstStyle/>
                    <a:p>
                      <a:pPr lvl="0" indent="0" marL="0">
                        <a:buNone/>
                      </a:pPr>
                      <a:r>
                        <a:rPr/>
                        <a:t>-0.440641</a:t>
                      </a:r>
                    </a:p>
                  </a:txBody>
                </a:tc>
                <a:tc>
                  <a:txBody>
                    <a:bodyPr/>
                    <a:lstStyle/>
                    <a:p>
                      <a:endParaRPr/>
                    </a:p>
                  </a:txBody>
                </a:tc>
                <a:tc>
                  <a:txBody>
                    <a:bodyPr/>
                    <a:lstStyle/>
                    <a:p>
                      <a:endParaRPr/>
                    </a:p>
                  </a:txBody>
                </a:tc>
              </a:tr>
              <a:tr h="0">
                <a:tc>
                  <a:txBody>
                    <a:bodyPr/>
                    <a:lstStyle/>
                    <a:p>
                      <a:pPr lvl="0" indent="0" marL="0">
                        <a:buNone/>
                      </a:pPr>
                      <a:r>
                        <a:rPr/>
                        <a:t>Average Annual Snowfall (in/yr)</a:t>
                      </a:r>
                    </a:p>
                  </a:txBody>
                </a:tc>
                <a:tc>
                  <a:txBody>
                    <a:bodyPr/>
                    <a:lstStyle/>
                    <a:p>
                      <a:endParaRPr/>
                    </a:p>
                  </a:txBody>
                </a:tc>
                <a:tc>
                  <a:txBody>
                    <a:bodyPr/>
                    <a:lstStyle/>
                    <a:p>
                      <a:pPr lvl="0" indent="0" marL="0">
                        <a:buNone/>
                      </a:pPr>
                      <a:r>
                        <a:rPr/>
                        <a:t>0.022268</a:t>
                      </a:r>
                    </a:p>
                  </a:txBody>
                </a:tc>
                <a:tc>
                  <a:txBody>
                    <a:bodyPr/>
                    <a:lstStyle/>
                    <a:p>
                      <a:endParaRPr/>
                    </a:p>
                  </a:txBody>
                </a:tc>
                <a:tc>
                  <a:txBody>
                    <a:bodyPr/>
                    <a:lstStyle/>
                    <a:p>
                      <a:endParaRPr/>
                    </a:p>
                  </a:txBody>
                </a:tc>
              </a:tr>
              <a:tr h="0">
                <a:tc>
                  <a:txBody>
                    <a:bodyPr/>
                    <a:lstStyle/>
                    <a:p>
                      <a:pPr lvl="0" indent="0" marL="0">
                        <a:buNone/>
                      </a:pPr>
                      <a:r>
                        <a:rPr/>
                        <a:t>Average Longitudinal Slope (%)</a:t>
                      </a:r>
                    </a:p>
                  </a:txBody>
                </a:tc>
                <a:tc>
                  <a:txBody>
                    <a:bodyPr/>
                    <a:lstStyle/>
                    <a:p>
                      <a:endParaRPr/>
                    </a:p>
                  </a:txBody>
                </a:tc>
                <a:tc>
                  <a:txBody>
                    <a:bodyPr/>
                    <a:lstStyle/>
                    <a:p>
                      <a:pPr lvl="0" indent="0" marL="0">
                        <a:buNone/>
                      </a:pPr>
                      <a:r>
                        <a:rPr/>
                        <a:t>0.133219</a:t>
                      </a:r>
                    </a:p>
                  </a:txBody>
                </a:tc>
                <a:tc>
                  <a:txBody>
                    <a:bodyPr/>
                    <a:lstStyle/>
                    <a:p>
                      <a:endParaRPr/>
                    </a:p>
                  </a:txBody>
                </a:tc>
                <a:tc>
                  <a:txBody>
                    <a:bodyPr/>
                    <a:lstStyle/>
                    <a:p>
                      <a:endParaRPr/>
                    </a:p>
                  </a:txBody>
                </a:tc>
              </a:tr>
              <a:tr h="0">
                <a:tc>
                  <a:txBody>
                    <a:bodyPr/>
                    <a:lstStyle/>
                    <a:p>
                      <a:pPr lvl="0" indent="0" marL="0">
                        <a:buNone/>
                      </a:pPr>
                      <a:r>
                        <a:rPr/>
                        <a:t>Exposure Index</a:t>
                      </a:r>
                    </a:p>
                  </a:txBody>
                </a:tc>
                <a:tc>
                  <a:txBody>
                    <a:bodyPr/>
                    <a:lstStyle/>
                    <a:p>
                      <a:pPr lvl="0" indent="0" marL="0">
                        <a:buNone/>
                      </a:pPr>
                      <a:r>
                        <a:rPr/>
                        <a:t>-0.066386</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Grade-Break Rate per Mile</a:t>
                      </a:r>
                    </a:p>
                  </a:txBody>
                </a:tc>
                <a:tc>
                  <a:txBody>
                    <a:bodyPr/>
                    <a:lstStyle/>
                    <a:p>
                      <a:pPr lvl="0" indent="0" marL="0">
                        <a:buNone/>
                      </a:pPr>
                      <a:r>
                        <a:rPr/>
                        <a:t>0.011867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High-Snow Days per Year (snowfall &gt; 1 in/day)</a:t>
                      </a:r>
                    </a:p>
                  </a:txBody>
                </a:tc>
                <a:tc>
                  <a:txBody>
                    <a:bodyPr/>
                    <a:lstStyle/>
                    <a:p>
                      <a:pPr lvl="0" indent="0" marL="0">
                        <a:buNone/>
                      </a:pPr>
                      <a:r>
                        <a:rPr/>
                        <a:t>0.212231</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Horizontal Curve Density (curves per mile)</a:t>
                      </a:r>
                    </a:p>
                  </a:txBody>
                </a:tc>
                <a:tc>
                  <a:txBody>
                    <a:bodyPr/>
                    <a:lstStyle/>
                    <a:p>
                      <a:pPr lvl="0" indent="0" marL="0">
                        <a:buNone/>
                      </a:pPr>
                      <a:r>
                        <a:rPr/>
                        <a:t>0.061300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Intercept</a:t>
                      </a:r>
                    </a:p>
                  </a:txBody>
                </a:tc>
                <a:tc>
                  <a:txBody>
                    <a:bodyPr/>
                    <a:lstStyle/>
                    <a:p>
                      <a:pPr lvl="0" indent="0" marL="0">
                        <a:buNone/>
                      </a:pPr>
                      <a:r>
                        <a:rPr/>
                        <a:t>-8.2280</a:t>
                      </a:r>
                    </a:p>
                  </a:txBody>
                </a:tc>
                <a:tc>
                  <a:txBody>
                    <a:bodyPr/>
                    <a:lstStyle/>
                    <a:p>
                      <a:pPr lvl="0" indent="0" marL="0">
                        <a:buNone/>
                      </a:pPr>
                      <a:r>
                        <a:rPr/>
                        <a:t>-7.3088</a:t>
                      </a:r>
                    </a:p>
                  </a:txBody>
                </a:tc>
                <a:tc>
                  <a:txBody>
                    <a:bodyPr/>
                    <a:lstStyle/>
                    <a:p>
                      <a:endParaRPr/>
                    </a:p>
                  </a:txBody>
                </a:tc>
                <a:tc>
                  <a:txBody>
                    <a:bodyPr/>
                    <a:lstStyle/>
                    <a:p>
                      <a:endParaRPr/>
                    </a:p>
                  </a:txBody>
                </a:tc>
              </a:tr>
              <a:tr h="0">
                <a:tc>
                  <a:txBody>
                    <a:bodyPr/>
                    <a:lstStyle/>
                    <a:p>
                      <a:pPr lvl="0" indent="0" marL="0">
                        <a:buNone/>
                      </a:pPr>
                      <a:r>
                        <a:rPr/>
                        <a:t>Intersection Density (intersections per mile)</a:t>
                      </a:r>
                    </a:p>
                  </a:txBody>
                </a:tc>
                <a:tc>
                  <a:txBody>
                    <a:bodyPr/>
                    <a:lstStyle/>
                    <a:p>
                      <a:pPr lvl="0" indent="0" marL="0">
                        <a:buNone/>
                      </a:pPr>
                      <a:r>
                        <a:rPr/>
                        <a:t>-0.027817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Lane Width (ft) x log(AADT)</a:t>
                      </a:r>
                    </a:p>
                  </a:txBody>
                </a:tc>
                <a:tc>
                  <a:txBody>
                    <a:bodyPr/>
                    <a:lstStyle/>
                    <a:p>
                      <a:endParaRPr/>
                    </a:p>
                  </a:txBody>
                </a:tc>
                <a:tc>
                  <a:txBody>
                    <a:bodyPr/>
                    <a:lstStyle/>
                    <a:p>
                      <a:pPr lvl="0" indent="0" marL="0">
                        <a:buNone/>
                      </a:pPr>
                      <a:r>
                        <a:rPr/>
                        <a:t>-0.001281</a:t>
                      </a:r>
                    </a:p>
                  </a:txBody>
                </a:tc>
                <a:tc>
                  <a:txBody>
                    <a:bodyPr/>
                    <a:lstStyle/>
                    <a:p>
                      <a:endParaRPr/>
                    </a:p>
                  </a:txBody>
                </a:tc>
                <a:tc>
                  <a:txBody>
                    <a:bodyPr/>
                    <a:lstStyle/>
                    <a:p>
                      <a:endParaRPr/>
                    </a:p>
                  </a:txBody>
                </a:tc>
              </a:tr>
              <a:tr h="0">
                <a:tc>
                  <a:txBody>
                    <a:bodyPr/>
                    <a:lstStyle/>
                    <a:p>
                      <a:pPr lvl="0" indent="0" marL="0">
                        <a:buNone/>
                      </a:pPr>
                      <a:r>
                        <a:rPr/>
                        <a:t>Low-Precipitation Days per Year (precip &lt; 1.5 in/month)</a:t>
                      </a:r>
                    </a:p>
                  </a:txBody>
                </a:tc>
                <a:tc>
                  <a:txBody>
                    <a:bodyPr/>
                    <a:lstStyle/>
                    <a:p>
                      <a:pPr lvl="0" indent="0" marL="0">
                        <a:buNone/>
                      </a:pPr>
                      <a:r>
                        <a:rPr/>
                        <a:t>-0.124630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Maximum Median Shoulder Width (ft)</a:t>
                      </a:r>
                    </a:p>
                  </a:txBody>
                </a:tc>
                <a:tc>
                  <a:txBody>
                    <a:bodyPr/>
                    <a:lstStyle/>
                    <a:p>
                      <a:endParaRPr/>
                    </a:p>
                  </a:txBody>
                </a:tc>
                <a:tc>
                  <a:txBody>
                    <a:bodyPr/>
                    <a:lstStyle/>
                    <a:p>
                      <a:pPr lvl="0" indent="0" marL="0">
                        <a:buNone/>
                      </a:pPr>
                      <a:r>
                        <a:rPr/>
                        <a:t>0.066552</a:t>
                      </a:r>
                    </a:p>
                  </a:txBody>
                </a:tc>
                <a:tc>
                  <a:txBody>
                    <a:bodyPr/>
                    <a:lstStyle/>
                    <a:p>
                      <a:endParaRPr/>
                    </a:p>
                  </a:txBody>
                </a:tc>
                <a:tc>
                  <a:txBody>
                    <a:bodyPr/>
                    <a:lstStyle/>
                    <a:p>
                      <a:endParaRPr/>
                    </a:p>
                  </a:txBody>
                </a:tc>
              </a:tr>
              <a:tr h="0">
                <a:tc>
                  <a:txBody>
                    <a:bodyPr/>
                    <a:lstStyle/>
                    <a:p>
                      <a:pPr lvl="0" indent="0" marL="0">
                        <a:buNone/>
                      </a:pPr>
                      <a:r>
                        <a:rPr/>
                        <a:t>Maximum Vertical Grade (%)</a:t>
                      </a:r>
                    </a:p>
                  </a:txBody>
                </a:tc>
                <a:tc>
                  <a:txBody>
                    <a:bodyPr/>
                    <a:lstStyle/>
                    <a:p>
                      <a:endParaRPr/>
                    </a:p>
                  </a:txBody>
                </a:tc>
                <a:tc>
                  <a:txBody>
                    <a:bodyPr/>
                    <a:lstStyle/>
                    <a:p>
                      <a:pPr lvl="0" indent="0" marL="0">
                        <a:buNone/>
                      </a:pPr>
                      <a:r>
                        <a:rPr/>
                        <a:t>0.022470</a:t>
                      </a:r>
                    </a:p>
                  </a:txBody>
                </a:tc>
                <a:tc>
                  <a:txBody>
                    <a:bodyPr/>
                    <a:lstStyle/>
                    <a:p>
                      <a:endParaRPr/>
                    </a:p>
                  </a:txBody>
                </a:tc>
                <a:tc>
                  <a:txBody>
                    <a:bodyPr/>
                    <a:lstStyle/>
                    <a:p>
                      <a:endParaRPr/>
                    </a:p>
                  </a:txBody>
                </a:tc>
              </a:tr>
              <a:tr h="0">
                <a:tc>
                  <a:txBody>
                    <a:bodyPr/>
                    <a:lstStyle/>
                    <a:p>
                      <a:pPr lvl="0" indent="0" marL="0">
                        <a:buNone/>
                      </a:pPr>
                      <a:r>
                        <a:rPr/>
                        <a:t>Minimum Curve Radius (ft) - smaller = sharper bend</a:t>
                      </a:r>
                    </a:p>
                  </a:txBody>
                </a:tc>
                <a:tc>
                  <a:txBody>
                    <a:bodyPr/>
                    <a:lstStyle/>
                    <a:p>
                      <a:endParaRPr/>
                    </a:p>
                  </a:txBody>
                </a:tc>
                <a:tc>
                  <a:txBody>
                    <a:bodyPr/>
                    <a:lstStyle/>
                    <a:p>
                      <a:pPr lvl="0" indent="0" marL="0">
                        <a:buNone/>
                      </a:pPr>
                      <a:r>
                        <a:rPr/>
                        <a:t>-0.000010</a:t>
                      </a:r>
                    </a:p>
                  </a:txBody>
                </a:tc>
                <a:tc>
                  <a:txBody>
                    <a:bodyPr/>
                    <a:lstStyle/>
                    <a:p>
                      <a:endParaRPr/>
                    </a:p>
                  </a:txBody>
                </a:tc>
                <a:tc>
                  <a:txBody>
                    <a:bodyPr/>
                    <a:lstStyle/>
                    <a:p>
                      <a:endParaRPr/>
                    </a:p>
                  </a:txBody>
                </a:tc>
              </a:tr>
              <a:tr h="0">
                <a:tc>
                  <a:txBody>
                    <a:bodyPr/>
                    <a:lstStyle/>
                    <a:p>
                      <a:pPr lvl="0" indent="0" marL="0">
                        <a:buNone/>
                      </a:pPr>
                      <a:r>
                        <a:rPr/>
                        <a:t>Number of Grade-Change Points (count)</a:t>
                      </a:r>
                    </a:p>
                  </a:txBody>
                </a:tc>
                <a:tc>
                  <a:txBody>
                    <a:bodyPr/>
                    <a:lstStyle/>
                    <a:p>
                      <a:endParaRPr/>
                    </a:p>
                  </a:txBody>
                </a:tc>
                <a:tc>
                  <a:txBody>
                    <a:bodyPr/>
                    <a:lstStyle/>
                    <a:p>
                      <a:pPr lvl="0" indent="0" marL="0">
                        <a:buNone/>
                      </a:pPr>
                      <a:r>
                        <a:rPr/>
                        <a:t>0.225996</a:t>
                      </a:r>
                    </a:p>
                  </a:txBody>
                </a:tc>
                <a:tc>
                  <a:txBody>
                    <a:bodyPr/>
                    <a:lstStyle/>
                    <a:p>
                      <a:endParaRPr/>
                    </a:p>
                  </a:txBody>
                </a:tc>
                <a:tc>
                  <a:txBody>
                    <a:bodyPr/>
                    <a:lstStyle/>
                    <a:p>
                      <a:endParaRPr/>
                    </a:p>
                  </a:txBody>
                </a:tc>
              </a:tr>
              <a:tr h="0">
                <a:tc>
                  <a:txBody>
                    <a:bodyPr/>
                    <a:lstStyle/>
                    <a:p>
                      <a:pPr lvl="0" indent="0" marL="0">
                        <a:buNone/>
                      </a:pPr>
                      <a:r>
                        <a:rPr/>
                        <a:t>Number of Horizontal Curves (count) x log(AADT)</a:t>
                      </a:r>
                    </a:p>
                  </a:txBody>
                </a:tc>
                <a:tc>
                  <a:txBody>
                    <a:bodyPr/>
                    <a:lstStyle/>
                    <a:p>
                      <a:endParaRPr/>
                    </a:p>
                  </a:txBody>
                </a:tc>
                <a:tc>
                  <a:txBody>
                    <a:bodyPr/>
                    <a:lstStyle/>
                    <a:p>
                      <a:pPr lvl="0" indent="0" marL="0">
                        <a:buNone/>
                      </a:pPr>
                      <a:r>
                        <a:rPr/>
                        <a:t>-0.005089</a:t>
                      </a:r>
                    </a:p>
                  </a:txBody>
                </a:tc>
                <a:tc>
                  <a:txBody>
                    <a:bodyPr/>
                    <a:lstStyle/>
                    <a:p>
                      <a:endParaRPr/>
                    </a:p>
                  </a:txBody>
                </a:tc>
                <a:tc>
                  <a:txBody>
                    <a:bodyPr/>
                    <a:lstStyle/>
                    <a:p>
                      <a:endParaRPr/>
                    </a:p>
                  </a:txBody>
                </a:tc>
              </a:tr>
              <a:tr h="0">
                <a:tc>
                  <a:txBody>
                    <a:bodyPr/>
                    <a:lstStyle/>
                    <a:p>
                      <a:pPr lvl="0" indent="0" marL="0">
                        <a:buNone/>
                      </a:pPr>
                      <a:r>
                        <a:rPr/>
                        <a:t>Pavement Friction, Skid Number (higher = more grip)</a:t>
                      </a:r>
                    </a:p>
                  </a:txBody>
                </a:tc>
                <a:tc>
                  <a:txBody>
                    <a:bodyPr/>
                    <a:lstStyle/>
                    <a:p>
                      <a:pPr lvl="0" indent="0" marL="0">
                        <a:buNone/>
                      </a:pPr>
                      <a:r>
                        <a:rPr/>
                        <a:t>0.015220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log(AADT)</a:t>
                      </a:r>
                    </a:p>
                  </a:txBody>
                </a:tc>
                <a:tc>
                  <a:txBody>
                    <a:bodyPr/>
                    <a:lstStyle/>
                    <a:p>
                      <a:endParaRPr/>
                    </a:p>
                  </a:txBody>
                </a:tc>
                <a:tc>
                  <a:txBody>
                    <a:bodyPr/>
                    <a:lstStyle/>
                    <a:p>
                      <a:pPr lvl="0" indent="0" marL="0">
                        <a:buNone/>
                      </a:pPr>
                      <a:r>
                        <a:rPr/>
                        <a:t>0.911272</a:t>
                      </a:r>
                    </a:p>
                  </a:txBody>
                </a:tc>
                <a:tc>
                  <a:txBody>
                    <a:bodyPr/>
                    <a:lstStyle/>
                    <a:p>
                      <a:endParaRPr/>
                    </a:p>
                  </a:txBody>
                </a:tc>
                <a:tc>
                  <a:txBody>
                    <a:bodyPr/>
                    <a:lstStyle/>
                    <a:p>
                      <a:endParaRP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Highway CMF Analysis</dc:title>
  <dc:creator>MetaCount Research Group</dc:creator>
  <cp:keywords/>
  <dcterms:created xsi:type="dcterms:W3CDTF">2026-05-17T00:39:35Z</dcterms:created>
  <dcterms:modified xsi:type="dcterms:W3CDTF">2026-05-17T00:39:35Z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2026-05-17</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Hierarchical Crash Modification Factors</vt:lpwstr>
  </property>
  <property fmtid="{D5CDD505-2E9C-101B-9397-08002B2CF9AE}" pid="12" name="toc-title">
    <vt:lpwstr>Table of contents</vt:lpwstr>
  </property>
</Properties>
</file>