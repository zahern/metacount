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Washington Highway CMF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Benchmark vs Best Model</a:t>
            </a:r>
            <a:br/>
            <a:br/>
            <a:r>
              <a:rPr/>
              <a:t>MetaCount Research Group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one thing clearly: does the new hierarchical model beat the benchmark model on out-of-sample performance, and what do the coefficient differences imply for safety interpretation.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Snapshot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 (crash count)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exposure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AADT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log(Length)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Family used in selected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NB2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Benchmark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μ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m:t>AADT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L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β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AADT treatment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offset style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AADT-varying CMFs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heterogeneity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Best Model Found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μ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AADT</m:t>
                          </m:r>
                        </m:sub>
                      </m:sSub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β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γ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L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Best-model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AADT treatment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Estimated elasticity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AADT-varying CMFs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heterogeneity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(when RP refit available)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Search Outcome (Concise)</a:t>
            </a:r>
          </a:p>
        </p:txBody>
      </p:sp>
      <p:pic>
        <p:nvPicPr>
          <p:cNvPr descr="../results/ex16_3_cmf/search_converg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6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Search convergence (selection-stage metrics).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/>
                <a:gridCol w="1181100"/>
                <a:gridCol w="1181100"/>
                <a:gridCol w="1181100"/>
                <a:gridCol w="1181100"/>
                <a:gridCol w="1181100"/>
                <a:gridCol w="118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Candidates evaluated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Val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 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 Val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iter within 0.5% of best BIC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Simulated Annealing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1,149.85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14.7784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1,174.27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17.2133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376.00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Harmony 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95.0000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1,155.37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13.7222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1,172.22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17.3585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131.00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 vs Best: Key Result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711200"/>
                <a:gridCol w="711200"/>
                <a:gridCol w="914400"/>
                <a:gridCol w="1625600"/>
                <a:gridCol w="711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Poisson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R2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 (Ex16-3 literature model)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1607.72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1577.18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14.186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315.17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Hierarchical CMF (selected)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1593.77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1556.44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12.8741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308.15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0.6238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Lower BIC, lower Test RMSE, and higher Test R2 all point in the same direction: the best model outperforms the benchmark on held-out data.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Observed vs Predicted Comparison</a:t>
            </a:r>
          </a:p>
        </p:txBody>
      </p:sp>
      <p:pic>
        <p:nvPicPr>
          <p:cNvPr descr="../results/ex16_3_cmf/model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1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Observed and predicted crashes for benchmark vs best model.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Plot: Best Minus Benchmark</a:t>
            </a:r>
          </a:p>
        </p:txBody>
      </p:sp>
      <p:pic>
        <p:nvPicPr>
          <p:cNvPr descr="../results/ex16_3_cmf/model_prediction_del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8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Prediction delta by traffic level: hierarchical minus benchmark.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Positive values mean the best model predicts more crashes than benchmark at that traffic level; negative values mean fewer.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Coefficient Differences Suggest About Safety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 coef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Proposed coef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 implication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Intercept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-8.2280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-7.0970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lower crashes; weaker than benchmark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Longitudinal Slope (%)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-1.4595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lower crashes; new or benchmark-missing term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log(AADT)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0.883433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higher crashes; new or benchmark-missing term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Longitudinal Slope (%) x log(AADT)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0.149102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higher crashes; new or benchmark-missing term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Lane Width (ft)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-0.093587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lower crashes; new or benchmark-missing term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Minimum Vertical Grade (%)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-0.060196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lower crashes; new or benchmark-missing term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Horizontal Curves (count)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-0.022981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lower crashes; new or benchmark-missing term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Posted Speed Limit (mph)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-0.011960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value linked with lower crashes; new or benchmark-missing term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Takeaway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Did the best model beat benchmark on held-out data?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improvement consistent across metrics?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(BIC, RMSE, R2)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the model change safety interpretation?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via coefficient direction/magnitude differences and interaction effects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action: use the safety-implication terms to prioritize policy checks on road segments where benchmark and best-model predictions diverge most.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Compact Coefficients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 coef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Proposed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SD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Annual Precipitation (in/yr) x log(AADT)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0.006028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Longitudinal Slope (%)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-1.4595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Longitudinal Slope (%) x log(AADT)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0.149102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Exposure 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-0.066386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Grade-Break Rate per Mile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0.011867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High-Snow Days per Year (snowfall &gt; 1 in/day)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0.212231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Horizontal Curve Density (curves per mile)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0.061300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Intercept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-8.2280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-7.0970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Intersection Density (intersections per mile)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-0.027817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Lane Width (ft)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-0.093587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Lane Width (ft) x log(AADT)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0.007206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Low-Precipitation Days per Year (precip &lt; 1.5 in/month)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-0.124630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Minimum Vertical Grade (%)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-0.060196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Horizontal Curves (count)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-0.022981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Pavement Friction, Skid Number (higher = more grip)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0.015220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Posted Speed Limit (mph)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-0.011960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log(AADT)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0.883433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Washington Highway CMF Analysis</dc:title>
  <dc:creator>MetaCount Research Group</dc:creator>
  <cp:keywords/>
  <dcterms:created xsi:type="dcterms:W3CDTF">2026-05-17T07:47:43Z</dcterms:created>
  <dcterms:modified xsi:type="dcterms:W3CDTF">2026-05-17T07:47:43Z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2026-05-17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Benchmark vs Best Model</vt:lpwstr>
  </property>
  <property fmtid="{D5CDD505-2E9C-101B-9397-08002B2CF9AE}" pid="12" name="toc-title">
    <vt:lpwstr>Table of contents</vt:lpwstr>
  </property>
</Properties>
</file>