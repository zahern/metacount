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Washington Highway CMF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Crash Modification Factors</a:t>
            </a:r>
            <a:br/>
            <a:br/>
            <a:r>
              <a:rPr/>
              <a:t>MetaCount Research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275</a:t>
            </a:r>
          </a:p>
          <a:p>
            <a:pPr lvl="0" indent="0" marL="0">
              <a:buNone/>
            </a:pPr>
            <a:r>
              <a:rPr/>
              <a:t>road segments</a:t>
            </a:r>
          </a:p>
          <a:p>
            <a:pPr lvl="0" indent="0" marL="0">
              <a:buNone/>
            </a:pPr>
            <a:r>
              <a:rPr/>
              <a:t>39</a:t>
            </a:r>
          </a:p>
          <a:p>
            <a:pPr lvl="0" indent="0" marL="0">
              <a:buNone/>
            </a:pPr>
            <a:r>
              <a:rPr/>
              <a:t>variables per segment</a:t>
            </a:r>
          </a:p>
          <a:p>
            <a:pPr lvl="0" indent="0" marL="0">
              <a:buNone/>
            </a:pPr>
            <a:r>
              <a:rPr/>
              <a:t>FREQ</a:t>
            </a:r>
          </a:p>
          <a:p>
            <a:pPr lvl="0" indent="0" marL="0">
              <a:buNone/>
            </a:pPr>
            <a:r>
              <a:rPr/>
              <a:t>crash count — NB2 response</a:t>
            </a:r>
          </a:p>
          <a:p>
            <a:pPr lvl="0" indent="0" marL="0">
              <a:buNone/>
            </a:pPr>
            <a:r>
              <a:rPr/>
              <a:t>AADT</a:t>
            </a:r>
          </a:p>
          <a:p>
            <a:pPr lvl="0" indent="0" marL="0">
              <a:buNone/>
            </a:pPr>
            <a:r>
              <a:rPr/>
              <a:t>primary traffic exposure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segment length → log(L) offset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48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Traffic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AADT, PEAKHR, ADTLANE, EXPOSE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Geometry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INCLANES, DECLANES, WIDTH, MEDWIDTH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CURVES, MINRAD, TANGENT, GRADEBR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MIGRADE, MXGRADE, MXGRDIFF, SLOPE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Roadside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MIMEDSH, MXMEDSH, ACCESS, FRICTION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Climate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AVEPRE, AVESNOW, HISNOW, LOWPRE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URB, FC, SINGLE, DOUBLE, TRAIN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Auxiliary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INTPM, CPM, INTECHAG, EXPOSE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μ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AADT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AADT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AADT elasticity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β</m:t>
                                      </m:r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Upper: direct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k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γ</m:t>
                                      </m:r>
                                    </m:e>
                                    <m:sub>
                                      <m:r>
                                        <m:t>k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AADT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Lower: modify elasticity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L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Upper terms</a:t>
                </a:r>
                <a:r>
                  <a:rPr/>
                  <a:t> — AADT-independent effect. CMF for a 1-unit change: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CMF</m:t>
                    </m:r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p>
                    </m:sSup>
                  </m:oMath>
                </a14:m>
                <a:r>
                  <a:rPr/>
                  <a:t>. Same across all AADT levels.</a:t>
                </a:r>
              </a:p>
              <a:p>
                <a:pPr lvl="0" indent="0" marL="0">
                  <a:buNone/>
                </a:pPr>
                <a:r>
                  <a:rPr b="1"/>
                  <a:t>Lower terms</a:t>
                </a:r>
                <a:r>
                  <a:rPr/>
                  <a:t> — modify the AADT elasticity: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AADT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γ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&gt;</m:t>
                      </m:r>
                      <m:r>
                        <m:t>0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(enforced)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CMF varies with traffic volume.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Random search strategy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Random sampling</a:t>
                </a:r>
                <a:r>
                  <a:rPr/>
                  <a:t> (120 iterations): draw </a:t>
                </a:r>
                <a14:m>
                  <m:oMath xmlns:m="http://schemas.openxmlformats.org/officeDocument/2006/math">
                    <m:sSub>
                      <m:e>
                        <m:r>
                          <m:t>k</m:t>
                        </m:r>
                      </m:e>
                      <m:sub>
                        <m:r>
                          <m:t>U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8</m:t>
                        </m:r>
                      </m:e>
                    </m:d>
                  </m:oMath>
                </a14:m>
                <a:r>
                  <a:rPr/>
                  <a:t> upper and </a:t>
                </a:r>
                <a14:m>
                  <m:oMath xmlns:m="http://schemas.openxmlformats.org/officeDocument/2006/math">
                    <m:sSub>
                      <m:e>
                        <m:r>
                          <m:t>k</m:t>
                        </m:r>
                      </m:e>
                      <m:sub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6</m:t>
                        </m:r>
                      </m:e>
                    </m:d>
                  </m:oMath>
                </a14:m>
                <a:r>
                  <a:rPr/>
                  <a:t> lower variables at random from the full candidate pool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Score each candidate on validation set by </a:t>
                </a:r>
                <a:r>
                  <a:rPr b="1"/>
                  <a:t>Poisson deviance</a:t>
                </a:r>
                <a:r>
                  <a:rPr/>
                  <a:t> (primary) and </a:t>
                </a:r>
                <a:r>
                  <a:rPr b="1"/>
                  <a:t>RMSE</a:t>
                </a:r>
                <a:r>
                  <a:rPr/>
                  <a:t> (secondary); reject any spec with non-monotonic AADT elasticity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Final refit</a:t>
                </a:r>
                <a:r>
                  <a:rPr/>
                  <a:t> on train + validation (80%); evaluate on held-out test set (20%)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Post-search random-parameters refit</a:t>
                </a:r>
                <a:r>
                  <a:rPr/>
                  <a:t> on best spec using JAX mixed-NB2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Search Convergence</a:t>
            </a:r>
          </a:p>
        </p:txBody>
      </p:sp>
      <p:pic>
        <p:nvPicPr>
          <p:cNvPr descr="../results/ex16_3_cmf/search_con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67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Convergence: proposed-path trace (dotted) + running best solid envelope for BIC (left) and Validation RMSE (right). Green = monotonic AADT, grey = non-monotonic (excluded), star = global best.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Dotted line = sequence of all proposed models · Solid envelope = running best · Green = monotonic AADT · Grey = excluded (non-monotonic) · Star = global best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Coefficients — Core &amp; Upper Terms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Direct effects on crash rate (AADT-independent), with CMF at 1-SD 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3100"/>
                <a:gridCol w="3149600"/>
                <a:gridCol w="825500"/>
                <a:gridCol w="444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-7.5755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log(AADT)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log(AADT) Elasticity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+0.9385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Lane Count — both directions (lanes)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-0.0103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0.9912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Pavement Width (ft)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-0.1431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0.9912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CMF &lt; 1 = safety benefit  |  CMF &gt; 1 = higher risk  |  All continuous variables standardised; CMF shown at 1-SD change.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Coefficients — Lower Terms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Variables that modify how sensitive crash risk is to traffic volume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Coefficient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Posted Speed Limit (mph)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-0.0146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Interpretation: positive coefficient → amplifies AADT elasticity → variable makes crash risk more traffic-sensitive. Negative → buffers against volume-driven risk.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Benchmark Comparison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Hierarchical CMF vs Simple AADT-only Safety Performance Function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300"/>
                <a:gridCol w="495300"/>
                <a:gridCol w="495300"/>
                <a:gridCol w="635000"/>
                <a:gridCol w="1117600"/>
                <a:gridCol w="495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Poisson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R2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Benchmark (AADT-only SPF)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1581.64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1571.46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14.0139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301.94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0.5542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Hierarchical CMF (selected)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1582.95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1562.58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13.9994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299.84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0.5551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Benchmark model</a:t>
                </a:r>
                <a:r>
                  <a:rPr/>
                  <a:t> (standard practice)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μ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AADT</m:t>
                          </m:r>
                        </m:sub>
                      </m:sSub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AADT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L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road geometry, weather, or traffic interaction terms — the minimum viable SPF used in many agency applications.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lower BIC / RMSE / Deviance means</a:t>
            </a:r>
          </a:p>
          <a:p>
            <a:pPr lvl="0"/>
            <a:r>
              <a:rPr b="1"/>
              <a:t>BIC</a:t>
            </a:r>
            <a:r>
              <a:rPr/>
              <a:t> penalises complexity — a lower value with more parameters indicates genuine information gain, not overfitting</a:t>
            </a:r>
          </a:p>
          <a:p>
            <a:pPr lvl="0"/>
            <a:r>
              <a:rPr b="1"/>
              <a:t>Test RMSE</a:t>
            </a:r>
            <a:r>
              <a:rPr/>
              <a:t> is unbiased (held-out data not used in fitting or selection)</a:t>
            </a:r>
          </a:p>
          <a:p>
            <a:pPr lvl="0"/>
            <a:r>
              <a:rPr b="1"/>
              <a:t>Test R²</a:t>
            </a:r>
            <a:r>
              <a:rPr/>
              <a:t> fraction of crash variance explained on unseen segments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Comparison — Baseline vs Hierarchical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Observed crashes + both predicted curves on the same AADT axes</a:t>
            </a:r>
          </a:p>
        </p:txBody>
      </p:sp>
      <p:pic>
        <p:nvPicPr>
          <p:cNvPr descr="../results/ex16_3_cmf/model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Observed crashes (dots by split) vs polynomial-smooth predictions from the AADT-only benchmark (blue dashed) and the hierarchical CMF model (orange solid). Bottom panel shows normalised residuals for each model vs AADT.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AADT Response — Hierarchical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Observed vs hierarchical predictions with normalised residuals</a:t>
            </a:r>
          </a:p>
        </p:txBody>
      </p:sp>
      <p:pic>
        <p:nvPicPr>
          <p:cNvPr descr="../results/ex16_3_cmf/aadt_obs_pr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Observed crashes vs hierarchical model polynomial smooth. Bottom: normalised residuals — orange = over-predicted, teal = under-predicted.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CMF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CMF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̂"/>
                            </m:accPr>
                            <m:e>
                              <m:r>
                                <m:t>μ</m:t>
                              </m:r>
                            </m:e>
                          </m:acc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modified</m:t>
                              </m:r>
                            </m:e>
                          </m:d>
                        </m:num>
                        <m:den>
                          <m:acc>
                            <m:accPr>
                              <m:chr m:val="̂"/>
                            </m:accPr>
                            <m:e>
                              <m:r>
                                <m:t>μ</m:t>
                              </m:r>
                            </m:e>
                          </m:acc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baseline</m:t>
                              </m:r>
                            </m:e>
                          </m:d>
                        </m:den>
                      </m:f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CMF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safer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CMF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higher risk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Upper-level CMF</a:t>
                </a:r>
                <a:r>
                  <a:rPr/>
                  <a:t> — constant across all AADT levels</a:t>
                </a:r>
              </a:p>
              <a:p>
                <a:pPr lvl="0" indent="0" marL="0">
                  <a:buNone/>
                </a:pPr>
                <a:r>
                  <a:rPr/>
                  <a:t>Effect is the same whether the road carries 3,000 or 30,000 vehicles per day. A high-snow-days coefficient of +0.02 means every additional snow day multiplies crash risk by e^0.02 = 1.02 regardless of volume.</a:t>
                </a:r>
              </a:p>
              <a:p>
                <a:pPr lvl="0" indent="0" marL="0">
                  <a:buNone/>
                </a:pPr>
                <a:r>
                  <a:rPr b="1"/>
                  <a:t>Lower-level CMF</a:t>
                </a:r>
                <a:r>
                  <a:rPr/>
                  <a:t> — traffic-amplified</a:t>
                </a:r>
              </a:p>
              <a:p>
                <a:pPr lvl="0" indent="0" marL="0">
                  <a:buNone/>
                </a:pPr>
                <a:r>
                  <a:rPr/>
                  <a:t>Each unit of the variable shifts the AADT elasticity: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AADT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γ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. More curves → higher elasticity → crash rate grows faster with AADT. This is the </a:t>
                </a:r>
                <a:r>
                  <a:rPr i="1"/>
                  <a:t>key innovation</a:t>
                </a:r>
                <a:r>
                  <a:rPr/>
                  <a:t> over standard SPFs.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Functional Classification (FC) reference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FC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Road Type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Principal Arterial — Interstate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Principal Arterial — Other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Minor Arterial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Collector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Minor Collector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Road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hierarchical model captures effect modification: the same road geometry can have very different safety implications depending on how much traffic it carries.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Interactive CMF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Interactive CMF Dashboard</a:t>
            </a:r>
            <a:r>
              <a:rPr/>
              <a:t> — open </a:t>
            </a:r>
            <a:r>
              <a:rPr>
                <a:latin typeface="Courier"/>
              </a:rPr>
              <a:t>results/ex16_3_cmf/hierarchical_cmf_dashboard.html</a:t>
            </a:r>
            <a:r>
              <a:rPr/>
              <a:t> in any browser.</a:t>
            </a:r>
          </a:p>
          <a:p>
            <a:pPr lvl="0" indent="0" marL="0">
              <a:buNone/>
            </a:pPr>
            <a:r>
              <a:rPr/>
              <a:t>Features:</a:t>
            </a:r>
          </a:p>
          <a:p>
            <a:pPr lvl="0"/>
            <a:r>
              <a:rPr b="1"/>
              <a:t>Variable dropdown</a:t>
            </a:r>
            <a:r>
              <a:rPr/>
              <a:t> — select any model variable to plot its CMF response curve</a:t>
            </a:r>
          </a:p>
          <a:p>
            <a:pPr lvl="0"/>
            <a:r>
              <a:rPr b="1"/>
              <a:t>Mode toggle</a:t>
            </a:r>
            <a:r>
              <a:rPr/>
              <a:t> — switch between </a:t>
            </a:r>
            <a:r>
              <a:rPr i="1"/>
              <a:t>Predicted crashes</a:t>
            </a:r>
            <a:r>
              <a:rPr/>
              <a:t> and </a:t>
            </a:r>
            <a:r>
              <a:rPr i="1"/>
              <a:t>CMF</a:t>
            </a:r>
            <a:r>
              <a:rPr/>
              <a:t> (ratio to baseline)</a:t>
            </a:r>
          </a:p>
          <a:p>
            <a:pPr lvl="0"/>
            <a:r>
              <a:rPr b="1"/>
              <a:t>AADT slider</a:t>
            </a:r>
            <a:r>
              <a:rPr/>
              <a:t> — shift between low-volume and high-volume traffic levels</a:t>
            </a:r>
          </a:p>
          <a:p>
            <a:pPr lvl="0"/>
            <a:r>
              <a:rPr b="1"/>
              <a:t>Live CMF badge</a:t>
            </a:r>
            <a:r>
              <a:rPr/>
              <a:t> on each control — updates in real time as you adjust inputs</a:t>
            </a:r>
          </a:p>
          <a:p>
            <a:pPr lvl="0"/>
            <a:r>
              <a:rPr b="1"/>
              <a:t>Prediction Summary</a:t>
            </a:r>
            <a:r>
              <a:rPr/>
              <a:t> panel — shows current predicted crash count + AADT elasticity</a:t>
            </a:r>
          </a:p>
          <a:p>
            <a:pPr lvl="0" indent="0" marL="0">
              <a:buNone/>
            </a:pPr>
            <a:r>
              <a:rPr/>
              <a:t>Select any variable · Toggle CMF vs Predicted · Adjust AADT · Live Prediction Summary panel updates in real time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Findings &amp; Benefits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Methodological contributions</a:t>
            </a:r>
          </a:p>
          <a:p>
            <a:pPr lvl="0" indent="-342900" marL="342900">
              <a:buAutoNum type="arabicPeriod"/>
            </a:pPr>
            <a:r>
              <a:rPr b="1"/>
              <a:t>Two-level structure</a:t>
            </a:r>
            <a:r>
              <a:rPr/>
              <a:t> separates baseline crash rate from traffic-sensitivity — enables AADT-varying CMFs that standard SPFs cannot produce</a:t>
            </a:r>
          </a:p>
          <a:p>
            <a:pPr lvl="0" indent="-342900" marL="342900">
              <a:buAutoNum type="arabicPeriod"/>
            </a:pPr>
            <a:r>
              <a:rPr b="1"/>
              <a:t>Bi-objective random search</a:t>
            </a:r>
            <a:r>
              <a:rPr/>
              <a:t> tracks both RMSE and Poisson deviance simultaneously — selects the specification that minimises validation deviance while holding AADT monotonicity</a:t>
            </a:r>
          </a:p>
          <a:p>
            <a:pPr lvl="0" indent="-342900" marL="342900">
              <a:buAutoNum type="arabicPeriod"/>
            </a:pPr>
            <a:r>
              <a:rPr b="1"/>
              <a:t>AADT monotonicity constraint</a:t>
            </a:r>
            <a:r>
              <a:rPr/>
              <a:t> — every segment must show more crashes with more traffic (enforced during search, not post-hoc)</a:t>
            </a:r>
          </a:p>
          <a:p>
            <a:pPr lvl="0" indent="-342900" marL="342900">
              <a:buAutoNum type="arabicPeriod"/>
            </a:pPr>
            <a:r>
              <a:rPr b="1"/>
              <a:t>JAX NB2 engine</a:t>
            </a:r>
            <a:r>
              <a:rPr/>
              <a:t> — exact autodiff gradients, consistent with MetaCount mixed-model infrastructure, enables seamless extension to random parameters</a:t>
            </a:r>
          </a:p>
          <a:p>
            <a:pPr lvl="0" indent="0" marL="0">
              <a:buNone/>
            </a:pPr>
            <a:r>
              <a:rPr b="1"/>
              <a:t>Benchmark improvement</a:t>
            </a:r>
          </a:p>
          <a:p>
            <a:pPr lvl="0" indent="0" marL="0">
              <a:buNone/>
            </a:pPr>
            <a:r>
              <a:rPr/>
              <a:t>Lower BIC, lower test RMSE, higher R² than the AADT-only SPF — achieved with interpretable geometry and climate effects, not black-box complexity.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Output files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hierarchical_cmf_dashboard.html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Live CMF explorer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search_convergence.html/.png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Convergence (both objectives)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aadt_obs_pred.html/.png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Obs vs pred — smooth curve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benchmark_comparison.csv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Hierarchical vs SPF metrics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readable_coefficients.csv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name + CMF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model_summary_readable.txt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Plain-text model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final_model_spec.json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Coefficients +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validation_metrics.csv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Train/val/test breakdown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Run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build_washington_presentation.py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→ HTML + PPTX in ~3 minutes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Washington Highway CMF Analysis</dc:title>
  <dc:creator>MetaCount Research Group</dc:creator>
  <cp:keywords/>
  <dcterms:created xsi:type="dcterms:W3CDTF">2026-05-12T03:59:07Z</dcterms:created>
  <dcterms:modified xsi:type="dcterms:W3CDTF">2026-05-12T03:59:07Z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2026-05-12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Hierarchical Crash Modification Factors</vt:lpwstr>
  </property>
  <property fmtid="{D5CDD505-2E9C-101B-9397-08002B2CF9AE}" pid="12" name="toc-title">
    <vt:lpwstr>Table of contents</vt:lpwstr>
  </property>
</Properties>
</file>