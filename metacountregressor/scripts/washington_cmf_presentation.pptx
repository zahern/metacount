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40" Type="http://schemas.openxmlformats.org/officeDocument/2006/relationships/viewProps" Target="viewProps.xml" /><Relationship Id="rId39" Type="http://schemas.openxmlformats.org/officeDocument/2006/relationships/presProps" Target="presProps.xml" /><Relationship Id="rId1" Type="http://schemas.openxmlformats.org/officeDocument/2006/relationships/slideMaster" Target="slideMasters/slideMaster1.xml" /><Relationship Id="rId42" Type="http://schemas.openxmlformats.org/officeDocument/2006/relationships/tableStyles" Target="tableStyles.xml" /><Relationship Id="rId4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5.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5.png" /></Relationships>
</file>

<file path=ppt/slides/_rels/slide2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png" /></Relationships>
</file>

<file path=ppt/slides/_rels/slide26.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5.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8.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Washington Highway CMF Analysis</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Hierarchical Crash Modification Factors</a:t>
            </a:r>
            <a:br/>
            <a:br/>
            <a:r>
              <a:rPr/>
              <a:t>MetaCount Research Group</a:t>
            </a:r>
          </a:p>
        </p:txBody>
      </p:sp>
      <p:sp>
        <p:nvSpPr>
          <p:cNvPr id="4" name="Date Placeholder 3"/>
          <p:cNvSpPr>
            <a:spLocks noGrp="1"/>
          </p:cNvSpPr>
          <p:nvPr>
            <p:ph idx="10" sz="half" type="dt"/>
          </p:nvPr>
        </p:nvSpPr>
        <p:spPr/>
        <p:txBody>
          <a:bodyPr/>
          <a:lstStyle/>
          <a:p>
            <a:pPr lvl="0" indent="0" marL="0">
              <a:buNone/>
            </a:pPr>
            <a:r>
              <a:rPr/>
              <a:t>2026-05-17</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Overview</a:t>
            </a:r>
          </a:p>
        </p:txBody>
      </p:sp>
      <p:graphicFrame>
        <p:nvGraphicFramePr>
          <p:cNvPr id="6" name="Content Placeholder 5"/>
          <p:cNvGraphicFramePr>
            <a:graphicFrameLocks noGrp="1"/>
          </p:cNvGraphicFramePr>
          <p:nvPr>
            <p:ph idx="1"/>
          </p:nvPr>
        </p:nvGraphicFramePr>
        <p:xfrm>
          <a:off x="457200" y="1193800"/>
          <a:ext cx="4038600" cy="3390900"/>
        </p:xfrm>
        <a:graphic>
          <a:graphicData uri="http://schemas.openxmlformats.org/drawingml/2006/table">
            <a:tbl>
              <a:tblPr firstRow="1" bandRow="1">
                <a:tableStyleId>{5C22544A-7EE6-4342-B048-85BDC9FD1C3A}</a:tableStyleId>
              </a:tblPr>
              <a:tblGrid>
                <a:gridCol w="2019300"/>
                <a:gridCol w="2019300"/>
              </a:tblGrid>
              <a:tr h="0">
                <a:tc>
                  <a:txBody>
                    <a:bodyPr/>
                    <a:lstStyle/>
                    <a:p>
                      <a:pPr lvl="0" indent="0" marL="0">
                        <a:buNone/>
                      </a:pPr>
                      <a:r>
                        <a:rPr/>
                        <a:t>Metric</a:t>
                      </a:r>
                    </a:p>
                  </a:txBody>
                  <a:tcPr/>
                </a:tc>
                <a:tc>
                  <a:txBody>
                    <a:bodyPr/>
                    <a:lstStyle/>
                    <a:p>
                      <a:pPr lvl="0" indent="0" marL="0">
                        <a:buNone/>
                      </a:pPr>
                      <a:r>
                        <a:rPr/>
                        <a:t>Value</a:t>
                      </a:r>
                    </a:p>
                  </a:txBody>
                  <a:tcPr/>
                </a:tc>
              </a:tr>
              <a:tr h="0">
                <a:tc>
                  <a:txBody>
                    <a:bodyPr/>
                    <a:lstStyle/>
                    <a:p>
                      <a:pPr lvl="0" indent="0" marL="0">
                        <a:buNone/>
                      </a:pPr>
                      <a:r>
                        <a:rPr/>
                        <a:t>Road segments</a:t>
                      </a:r>
                    </a:p>
                  </a:txBody>
                </a:tc>
                <a:tc>
                  <a:txBody>
                    <a:bodyPr/>
                    <a:lstStyle/>
                    <a:p>
                      <a:pPr lvl="0" indent="0" marL="0">
                        <a:buNone/>
                      </a:pPr>
                      <a:r>
                        <a:rPr/>
                        <a:t>275</a:t>
                      </a:r>
                    </a:p>
                  </a:txBody>
                </a:tc>
              </a:tr>
              <a:tr h="0">
                <a:tc>
                  <a:txBody>
                    <a:bodyPr/>
                    <a:lstStyle/>
                    <a:p>
                      <a:pPr lvl="0" indent="0" marL="0">
                        <a:buNone/>
                      </a:pPr>
                      <a:r>
                        <a:rPr/>
                        <a:t>Variables</a:t>
                      </a:r>
                    </a:p>
                  </a:txBody>
                </a:tc>
                <a:tc>
                  <a:txBody>
                    <a:bodyPr/>
                    <a:lstStyle/>
                    <a:p>
                      <a:pPr lvl="0" indent="0" marL="0">
                        <a:buNone/>
                      </a:pPr>
                      <a:r>
                        <a:rPr/>
                        <a:t>39</a:t>
                      </a:r>
                    </a:p>
                  </a:txBody>
                </a:tc>
              </a:tr>
              <a:tr h="0">
                <a:tc>
                  <a:txBody>
                    <a:bodyPr/>
                    <a:lstStyle/>
                    <a:p>
                      <a:pPr lvl="0" indent="0" marL="0">
                        <a:buNone/>
                      </a:pPr>
                      <a:r>
                        <a:rPr/>
                        <a:t>Response</a:t>
                      </a:r>
                    </a:p>
                  </a:txBody>
                </a:tc>
                <a:tc>
                  <a:txBody>
                    <a:bodyPr/>
                    <a:lstStyle/>
                    <a:p>
                      <a:pPr lvl="0" indent="0" marL="0">
                        <a:buNone/>
                      </a:pPr>
                      <a:r>
                        <a:rPr/>
                        <a:t>Crash count (FREQ)</a:t>
                      </a:r>
                    </a:p>
                  </a:txBody>
                </a:tc>
              </a:tr>
              <a:tr h="0">
                <a:tc>
                  <a:txBody>
                    <a:bodyPr/>
                    <a:lstStyle/>
                    <a:p>
                      <a:pPr lvl="0" indent="0" marL="0">
                        <a:buNone/>
                      </a:pPr>
                      <a:r>
                        <a:rPr/>
                        <a:t>Traffic</a:t>
                      </a:r>
                    </a:p>
                  </a:txBody>
                </a:tc>
                <a:tc>
                  <a:txBody>
                    <a:bodyPr/>
                    <a:lstStyle/>
                    <a:p>
                      <a:pPr lvl="0" indent="0" marL="0">
                        <a:buNone/>
                      </a:pPr>
                      <a:r>
                        <a:rPr/>
                        <a:t>AADT</a:t>
                      </a:r>
                    </a:p>
                  </a:txBody>
                </a:tc>
              </a:tr>
              <a:tr h="0">
                <a:tc>
                  <a:txBody>
                    <a:bodyPr/>
                    <a:lstStyle/>
                    <a:p>
                      <a:pPr lvl="0" indent="0" marL="0">
                        <a:buNone/>
                      </a:pPr>
                      <a:r>
                        <a:rPr/>
                        <a:t>Exposure</a:t>
                      </a:r>
                    </a:p>
                  </a:txBody>
                </a:tc>
                <a:tc>
                  <a:txBody>
                    <a:bodyPr/>
                    <a:lstStyle/>
                    <a:p>
                      <a:pPr lvl="0" indent="0" marL="0">
                        <a:buNone/>
                      </a:pPr>
                      <a:r>
                        <a:rPr/>
                        <a:t>Length (log offset)</a:t>
                      </a:r>
                    </a:p>
                  </a:txBody>
                </a:tc>
              </a:tr>
              <a:tr h="0">
                <a:tc>
                  <a:txBody>
                    <a:bodyPr/>
                    <a:lstStyle/>
                    <a:p>
                      <a:pPr lvl="0" indent="0" marL="0">
                        <a:buNone/>
                      </a:pPr>
                      <a:r>
                        <a:rPr/>
                        <a:t>Model family</a:t>
                      </a:r>
                    </a:p>
                  </a:txBody>
                </a:tc>
                <a:tc>
                  <a:txBody>
                    <a:bodyPr/>
                    <a:lstStyle/>
                    <a:p>
                      <a:pPr lvl="0" indent="0" marL="0">
                        <a:buNone/>
                      </a:pPr>
                      <a:r>
                        <a:rPr/>
                        <a:t>NB2</a:t>
                      </a:r>
                    </a:p>
                  </a:txBody>
                </a:tc>
              </a:tr>
            </a:tbl>
          </a:graphicData>
        </a:graphic>
      </p:graphicFrame>
      <p:graphicFrame>
        <p:nvGraphicFramePr>
          <p:cNvPr id="6" name="Content Placeholder 5"/>
          <p:cNvGraphicFramePr>
            <a:graphicFrameLocks noGrp="1"/>
          </p:cNvGraphicFramePr>
          <p:nvPr>
            <p:ph idx="1"/>
          </p:nvPr>
        </p:nvGraphicFramePr>
        <p:xfrm>
          <a:off x="4648200" y="1193800"/>
          <a:ext cx="4038600" cy="3390900"/>
        </p:xfrm>
        <a:graphic>
          <a:graphicData uri="http://schemas.openxmlformats.org/drawingml/2006/table">
            <a:tbl>
              <a:tblPr firstRow="1" bandRow="1">
                <a:tableStyleId>{5C22544A-7EE6-4342-B048-85BDC9FD1C3A}</a:tableStyleId>
              </a:tblPr>
              <a:tblGrid>
                <a:gridCol w="2019300"/>
                <a:gridCol w="2019300"/>
              </a:tblGrid>
              <a:tr h="0">
                <a:tc>
                  <a:txBody>
                    <a:bodyPr/>
                    <a:lstStyle/>
                    <a:p>
                      <a:pPr lvl="0" indent="0" marL="0">
                        <a:buNone/>
                      </a:pPr>
                      <a:r>
                        <a:rPr/>
                        <a:t>Category</a:t>
                      </a:r>
                    </a:p>
                  </a:txBody>
                  <a:tcPr/>
                </a:tc>
                <a:tc>
                  <a:txBody>
                    <a:bodyPr/>
                    <a:lstStyle/>
                    <a:p>
                      <a:pPr lvl="0" indent="0" marL="0">
                        <a:buNone/>
                      </a:pPr>
                      <a:r>
                        <a:rPr/>
                        <a:t>Key Variables</a:t>
                      </a:r>
                    </a:p>
                  </a:txBody>
                  <a:tcPr/>
                </a:tc>
              </a:tr>
              <a:tr h="0">
                <a:tc>
                  <a:txBody>
                    <a:bodyPr/>
                    <a:lstStyle/>
                    <a:p>
                      <a:pPr lvl="0" indent="0" marL="0">
                        <a:buNone/>
                      </a:pPr>
                      <a:r>
                        <a:rPr/>
                        <a:t>Traffic</a:t>
                      </a:r>
                    </a:p>
                  </a:txBody>
                </a:tc>
                <a:tc>
                  <a:txBody>
                    <a:bodyPr/>
                    <a:lstStyle/>
                    <a:p>
                      <a:pPr lvl="0" indent="0" marL="0">
                        <a:buNone/>
                      </a:pPr>
                      <a:r>
                        <a:rPr/>
                        <a:t>AADT, PEAKHR, ADTLANE, EXPOSE</a:t>
                      </a:r>
                    </a:p>
                  </a:txBody>
                </a:tc>
              </a:tr>
              <a:tr h="0">
                <a:tc>
                  <a:txBody>
                    <a:bodyPr/>
                    <a:lstStyle/>
                    <a:p>
                      <a:pPr lvl="0" indent="0" marL="0">
                        <a:buNone/>
                      </a:pPr>
                      <a:r>
                        <a:rPr/>
                        <a:t>Geometry</a:t>
                      </a:r>
                    </a:p>
                  </a:txBody>
                </a:tc>
                <a:tc>
                  <a:txBody>
                    <a:bodyPr/>
                    <a:lstStyle/>
                    <a:p>
                      <a:pPr lvl="0" indent="0" marL="0">
                        <a:buNone/>
                      </a:pPr>
                      <a:r>
                        <a:rPr/>
                        <a:t>INCLANES, DECLANES, WIDTH, MEDWIDTH</a:t>
                      </a:r>
                    </a:p>
                  </a:txBody>
                </a:tc>
              </a:tr>
              <a:tr h="0">
                <a:tc>
                  <a:txBody>
                    <a:bodyPr/>
                    <a:lstStyle/>
                    <a:p>
                      <a:pPr lvl="0" indent="0" marL="0">
                        <a:buNone/>
                      </a:pPr>
                      <a:r>
                        <a:rPr/>
                        <a:t>Alignment</a:t>
                      </a:r>
                    </a:p>
                  </a:txBody>
                </a:tc>
                <a:tc>
                  <a:txBody>
                    <a:bodyPr/>
                    <a:lstStyle/>
                    <a:p>
                      <a:pPr lvl="0" indent="0" marL="0">
                        <a:buNone/>
                      </a:pPr>
                      <a:r>
                        <a:rPr/>
                        <a:t>CURVES, MINRAD, TANGENT, GRADEBR</a:t>
                      </a:r>
                    </a:p>
                  </a:txBody>
                </a:tc>
              </a:tr>
              <a:tr h="0">
                <a:tc>
                  <a:txBody>
                    <a:bodyPr/>
                    <a:lstStyle/>
                    <a:p>
                      <a:pPr lvl="0" indent="0" marL="0">
                        <a:buNone/>
                      </a:pPr>
                      <a:r>
                        <a:rPr/>
                        <a:t>Grade</a:t>
                      </a:r>
                    </a:p>
                  </a:txBody>
                </a:tc>
                <a:tc>
                  <a:txBody>
                    <a:bodyPr/>
                    <a:lstStyle/>
                    <a:p>
                      <a:pPr lvl="0" indent="0" marL="0">
                        <a:buNone/>
                      </a:pPr>
                      <a:r>
                        <a:rPr/>
                        <a:t>MIGRADE, MXGRADE, MXGRDIFF, SLOPE</a:t>
                      </a:r>
                    </a:p>
                  </a:txBody>
                </a:tc>
              </a:tr>
              <a:tr h="0">
                <a:tc>
                  <a:txBody>
                    <a:bodyPr/>
                    <a:lstStyle/>
                    <a:p>
                      <a:pPr lvl="0" indent="0" marL="0">
                        <a:buNone/>
                      </a:pPr>
                      <a:r>
                        <a:rPr/>
                        <a:t>Roadside</a:t>
                      </a:r>
                    </a:p>
                  </a:txBody>
                </a:tc>
                <a:tc>
                  <a:txBody>
                    <a:bodyPr/>
                    <a:lstStyle/>
                    <a:p>
                      <a:pPr lvl="0" indent="0" marL="0">
                        <a:buNone/>
                      </a:pPr>
                      <a:r>
                        <a:rPr/>
                        <a:t>MIMEDSH, MXMEDSH, ACCESS, FRICTION</a:t>
                      </a:r>
                    </a:p>
                  </a:txBody>
                </a:tc>
              </a:tr>
              <a:tr h="0">
                <a:tc>
                  <a:txBody>
                    <a:bodyPr/>
                    <a:lstStyle/>
                    <a:p>
                      <a:pPr lvl="0" indent="0" marL="0">
                        <a:buNone/>
                      </a:pPr>
                      <a:r>
                        <a:rPr/>
                        <a:t>Climate</a:t>
                      </a:r>
                    </a:p>
                  </a:txBody>
                </a:tc>
                <a:tc>
                  <a:txBody>
                    <a:bodyPr/>
                    <a:lstStyle/>
                    <a:p>
                      <a:pPr lvl="0" indent="0" marL="0">
                        <a:buNone/>
                      </a:pPr>
                      <a:r>
                        <a:rPr/>
                        <a:t>AVEPRE, AVESNOW, HISNOW, LOWPRE</a:t>
                      </a:r>
                    </a:p>
                  </a:txBody>
                </a:tc>
              </a:tr>
              <a:tr h="0">
                <a:tc>
                  <a:txBody>
                    <a:bodyPr/>
                    <a:lstStyle/>
                    <a:p>
                      <a:pPr lvl="0" indent="0" marL="0">
                        <a:buNone/>
                      </a:pPr>
                      <a:r>
                        <a:rPr/>
                        <a:t>Road class</a:t>
                      </a:r>
                    </a:p>
                  </a:txBody>
                </a:tc>
                <a:tc>
                  <a:txBody>
                    <a:bodyPr/>
                    <a:lstStyle/>
                    <a:p>
                      <a:pPr lvl="0" indent="0" marL="0">
                        <a:buNone/>
                      </a:pPr>
                      <a:r>
                        <a:rPr/>
                        <a:t>URB, FC, SINGLE, DOUBLE, TRAIN</a:t>
                      </a:r>
                    </a:p>
                  </a:txBody>
                </a:tc>
              </a:tr>
              <a:tr h="0">
                <a:tc>
                  <a:txBody>
                    <a:bodyPr/>
                    <a:lstStyle/>
                    <a:p>
                      <a:pPr lvl="0" indent="0" marL="0">
                        <a:buNone/>
                      </a:pPr>
                      <a:r>
                        <a:rPr/>
                        <a:t>Auxiliary</a:t>
                      </a:r>
                    </a:p>
                  </a:txBody>
                </a:tc>
                <a:tc>
                  <a:txBody>
                    <a:bodyPr/>
                    <a:lstStyle/>
                    <a:p>
                      <a:pPr lvl="0" indent="0" marL="0">
                        <a:buNone/>
                      </a:pPr>
                      <a:r>
                        <a:rPr/>
                        <a:t>INTPM, CPM, INTECHAG</a:t>
                      </a:r>
                    </a:p>
                  </a:txBody>
                </a:tc>
              </a:tr>
            </a:tbl>
          </a:graphicData>
        </a:graphic>
      </p:graphicFrame>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Baseline vs Best Model</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14:m>
                  <m:oMathPara xmlns:m="http://schemas.openxmlformats.org/officeDocument/2006/math">
                    <m:oMathParaPr>
                      <m:jc m:val="center"/>
                    </m:oMathParaPr>
                    <m:oMath>
                      <m:r>
                        <m:rPr>
                          <m:sty m:val="p"/>
                        </m:rPr>
                        <m:t>log</m:t>
                      </m:r>
                      <m:d>
                        <m:dPr>
                          <m:begChr m:val="("/>
                          <m:sepChr m:val=""/>
                          <m:endChr m:val=")"/>
                          <m:grow/>
                        </m:dPr>
                        <m:e>
                          <m:sSub>
                            <m:e>
                              <m:acc>
                                <m:accPr>
                                  <m:chr m:val="̂"/>
                                </m:accPr>
                                <m:e>
                                  <m:r>
                                    <m:t>μ</m:t>
                                  </m:r>
                                </m:e>
                              </m:acc>
                            </m:e>
                            <m:sub>
                              <m:r>
                                <m:t>i</m:t>
                              </m:r>
                            </m:sub>
                          </m:sSub>
                        </m:e>
                      </m:d>
                      <m:r>
                        <m:rPr>
                          <m:sty m:val="p"/>
                        </m:rPr>
                        <m:t>=</m:t>
                      </m:r>
                      <m:r>
                        <m:t>α</m:t>
                      </m:r>
                      <m:r>
                        <m:rPr>
                          <m:sty m:val="p"/>
                        </m:rPr>
                        <m:t>+</m:t>
                      </m:r>
                      <m:limLow>
                        <m:e>
                          <m:limLow>
                            <m:e>
                              <m:sSub>
                                <m:e>
                                  <m:r>
                                    <m:t>β</m:t>
                                  </m:r>
                                </m:e>
                                <m:sub>
                                  <m:r>
                                    <m:rPr>
                                      <m:nor/>
                                      <m:sty m:val="p"/>
                                    </m:rPr>
                                    <m:t>AADT</m:t>
                                  </m:r>
                                </m:sub>
                              </m:sSub>
                              <m:r>
                                <m:rPr>
                                  <m:sty m:val="p"/>
                                </m:rPr>
                                <m:t>log</m:t>
                              </m:r>
                              <m:d>
                                <m:dPr>
                                  <m:begChr m:val="("/>
                                  <m:sepChr m:val=""/>
                                  <m:endChr m:val=")"/>
                                  <m:grow/>
                                </m:dPr>
                                <m:e>
                                  <m:sSub>
                                    <m:e>
                                      <m:r>
                                        <m:rPr>
                                          <m:nor/>
                                          <m:sty m:val="p"/>
                                        </m:rPr>
                                        <m:t>AADT</m:t>
                                      </m:r>
                                    </m:e>
                                    <m:sub>
                                      <m:r>
                                        <m:t>i</m:t>
                                      </m:r>
                                    </m:sub>
                                  </m:sSub>
                                </m:e>
                              </m:d>
                            </m:e>
                            <m:lim>
                              <m:r>
                                <m:rPr>
                                  <m:sty m:val="p"/>
                                </m:rPr>
                                <m:t>⏟</m:t>
                              </m:r>
                            </m:lim>
                          </m:limLow>
                        </m:e>
                        <m:lim>
                          <m:r>
                            <m:rPr>
                              <m:nor/>
                              <m:sty m:val="p"/>
                            </m:rPr>
                            <m:t>AADT elasticity</m:t>
                          </m:r>
                        </m:lim>
                      </m:limLow>
                      <m:r>
                        <m:rPr>
                          <m:sty m:val="p"/>
                        </m:rPr>
                        <m:t>+</m:t>
                      </m:r>
                      <m:limLow>
                        <m:e>
                          <m:limLow>
                            <m:e>
                              <m:nary>
                                <m:naryPr>
                                  <m:chr m:val="∑"/>
                                  <m:limLoc m:val="undOvr"/>
                                  <m:subHide m:val="off"/>
                                  <m:supHide m:val="on"/>
                                </m:naryPr>
                                <m:sub>
                                  <m:r>
                                    <m:t>j</m:t>
                                  </m:r>
                                </m:sub>
                                <m:sup>
                                  <m:r>
                                    <m:t>​</m:t>
                                  </m:r>
                                </m:sup>
                                <m:e>
                                  <m:sSub>
                                    <m:e>
                                      <m:r>
                                        <m:t>β</m:t>
                                      </m:r>
                                    </m:e>
                                    <m:sub>
                                      <m:r>
                                        <m:t>j</m:t>
                                      </m:r>
                                    </m:sub>
                                  </m:sSub>
                                </m:e>
                              </m:nary>
                              <m:sSub>
                                <m:e>
                                  <m:r>
                                    <m:t>x</m:t>
                                  </m:r>
                                </m:e>
                                <m:sub>
                                  <m:r>
                                    <m:t>i</m:t>
                                  </m:r>
                                  <m:r>
                                    <m:t>j</m:t>
                                  </m:r>
                                </m:sub>
                              </m:sSub>
                            </m:e>
                            <m:lim>
                              <m:r>
                                <m:rPr>
                                  <m:sty m:val="p"/>
                                </m:rPr>
                                <m:t>⏟</m:t>
                              </m:r>
                            </m:lim>
                          </m:limLow>
                        </m:e>
                        <m:lim>
                          <m:r>
                            <m:rPr>
                              <m:nor/>
                              <m:sty m:val="p"/>
                            </m:rPr>
                            <m:t>Upper: direct</m:t>
                          </m:r>
                        </m:lim>
                      </m:limLow>
                      <m:r>
                        <m:rPr>
                          <m:sty m:val="p"/>
                        </m:rPr>
                        <m:t>+</m:t>
                      </m:r>
                      <m:limLow>
                        <m:e>
                          <m:limLow>
                            <m:e>
                              <m:nary>
                                <m:naryPr>
                                  <m:chr m:val="∑"/>
                                  <m:limLoc m:val="undOvr"/>
                                  <m:subHide m:val="off"/>
                                  <m:supHide m:val="on"/>
                                </m:naryPr>
                                <m:sub>
                                  <m:r>
                                    <m:t>k</m:t>
                                  </m:r>
                                </m:sub>
                                <m:sup>
                                  <m:r>
                                    <m:t>​</m:t>
                                  </m:r>
                                </m:sup>
                                <m:e>
                                  <m:sSub>
                                    <m:e>
                                      <m:r>
                                        <m:t>γ</m:t>
                                      </m:r>
                                    </m:e>
                                    <m:sub>
                                      <m:r>
                                        <m:t>k</m:t>
                                      </m:r>
                                    </m:sub>
                                  </m:sSub>
                                </m:e>
                              </m:nary>
                              <m:sSub>
                                <m:e>
                                  <m:r>
                                    <m:t>x</m:t>
                                  </m:r>
                                </m:e>
                                <m:sub>
                                  <m:r>
                                    <m:t>i</m:t>
                                  </m:r>
                                  <m:r>
                                    <m:t>k</m:t>
                                  </m:r>
                                </m:sub>
                              </m:sSub>
                              <m:r>
                                <m:rPr>
                                  <m:sty m:val="p"/>
                                </m:rPr>
                                <m:t>log</m:t>
                              </m:r>
                              <m:d>
                                <m:dPr>
                                  <m:begChr m:val="("/>
                                  <m:sepChr m:val=""/>
                                  <m:endChr m:val=")"/>
                                  <m:grow/>
                                </m:dPr>
                                <m:e>
                                  <m:sSub>
                                    <m:e>
                                      <m:r>
                                        <m:rPr>
                                          <m:nor/>
                                          <m:sty m:val="p"/>
                                        </m:rPr>
                                        <m:t>AADT</m:t>
                                      </m:r>
                                    </m:e>
                                    <m:sub>
                                      <m:r>
                                        <m:t>i</m:t>
                                      </m:r>
                                    </m:sub>
                                  </m:sSub>
                                </m:e>
                              </m:d>
                            </m:e>
                            <m:lim>
                              <m:r>
                                <m:rPr>
                                  <m:sty m:val="p"/>
                                </m:rPr>
                                <m:t>⏟</m:t>
                              </m:r>
                            </m:lim>
                          </m:limLow>
                        </m:e>
                        <m:lim>
                          <m:r>
                            <m:rPr>
                              <m:nor/>
                              <m:sty m:val="p"/>
                            </m:rPr>
                            <m:t>Lower: modify elasticity</m:t>
                          </m:r>
                        </m:lim>
                      </m:limLow>
                      <m:r>
                        <m:rPr>
                          <m:sty m:val="p"/>
                        </m:rPr>
                        <m:t>+</m:t>
                      </m:r>
                      <m:r>
                        <m:rPr>
                          <m:sty m:val="p"/>
                        </m:rPr>
                        <m:t>log</m:t>
                      </m:r>
                      <m:d>
                        <m:dPr>
                          <m:begChr m:val="("/>
                          <m:sepChr m:val=""/>
                          <m:endChr m:val=")"/>
                          <m:grow/>
                        </m:dPr>
                        <m:e>
                          <m:sSub>
                            <m:e>
                              <m:r>
                                <m:t>L</m:t>
                              </m:r>
                            </m:e>
                            <m:sub>
                              <m:r>
                                <m:t>i</m:t>
                              </m:r>
                            </m:sub>
                          </m:sSub>
                        </m:e>
                      </m:d>
                    </m:oMath>
                  </m:oMathPara>
                </a14:m>
              </a:p>
            </p:txBody>
          </p:sp>
        </mc:Choice>
      </mc:AlternateContent>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r>
                  <a:rPr b="1"/>
                  <a:t>Benchmark model (baseline)</a:t>
                </a:r>
              </a:p>
              <a:p>
                <a:pPr lvl="0" indent="0" marL="0">
                  <a:buNone/>
                </a:pPr>
                <a14:m>
                  <m:oMathPara xmlns:m="http://schemas.openxmlformats.org/officeDocument/2006/math">
                    <m:oMathParaPr>
                      <m:jc m:val="center"/>
                    </m:oMathParaPr>
                    <m:oMath>
                      <m:r>
                        <m:rPr>
                          <m:sty m:val="p"/>
                        </m:rPr>
                        <m:t>log</m:t>
                      </m:r>
                      <m:d>
                        <m:dPr>
                          <m:begChr m:val="("/>
                          <m:sepChr m:val=""/>
                          <m:endChr m:val=")"/>
                          <m:grow/>
                        </m:dPr>
                        <m:e>
                          <m:acc>
                            <m:accPr>
                              <m:chr m:val="̂"/>
                            </m:accPr>
                            <m:e>
                              <m:r>
                                <m:t>μ</m:t>
                              </m:r>
                            </m:e>
                          </m:acc>
                        </m:e>
                      </m:d>
                      <m:r>
                        <m:rPr>
                          <m:sty m:val="p"/>
                        </m:rPr>
                        <m:t>=</m:t>
                      </m:r>
                      <m:r>
                        <m:t>α</m:t>
                      </m:r>
                      <m:r>
                        <m:rPr>
                          <m:sty m:val="p"/>
                        </m:rPr>
                        <m:t>+</m:t>
                      </m:r>
                      <m:r>
                        <m:rPr>
                          <m:sty m:val="p"/>
                        </m:rPr>
                        <m:t>log</m:t>
                      </m:r>
                      <m:d>
                        <m:dPr>
                          <m:begChr m:val="("/>
                          <m:sepChr m:val=""/>
                          <m:endChr m:val=")"/>
                          <m:grow/>
                        </m:dPr>
                        <m:e>
                          <m:r>
                            <m:rPr>
                              <m:nor/>
                              <m:sty m:val="p"/>
                            </m:rPr>
                            <m:t>AADT</m:t>
                          </m:r>
                        </m:e>
                      </m:d>
                      <m:r>
                        <m:rPr>
                          <m:sty m:val="p"/>
                        </m:rPr>
                        <m:t>+</m:t>
                      </m:r>
                      <m:r>
                        <m:rPr>
                          <m:sty m:val="p"/>
                        </m:rPr>
                        <m:t>log</m:t>
                      </m:r>
                      <m:d>
                        <m:dPr>
                          <m:begChr m:val="("/>
                          <m:sepChr m:val=""/>
                          <m:endChr m:val=")"/>
                          <m:grow/>
                        </m:dPr>
                        <m:e>
                          <m:r>
                            <m:t>L</m:t>
                          </m:r>
                        </m:e>
                      </m:d>
                      <m:r>
                        <m:rPr>
                          <m:sty m:val="p"/>
                        </m:rPr>
                        <m:t>+</m:t>
                      </m:r>
                      <m:nary>
                        <m:naryPr>
                          <m:chr m:val="∑"/>
                          <m:limLoc m:val="undOvr"/>
                          <m:subHide m:val="off"/>
                          <m:supHide m:val="on"/>
                        </m:naryPr>
                        <m:sub>
                          <m:r>
                            <m:t>j</m:t>
                          </m:r>
                        </m:sub>
                        <m:sup>
                          <m:r>
                            <m:t>​</m:t>
                          </m:r>
                        </m:sup>
                        <m:e>
                          <m:sSub>
                            <m:e>
                              <m:r>
                                <m:t>β</m:t>
                              </m:r>
                            </m:e>
                            <m:sub>
                              <m:r>
                                <m:t>j</m:t>
                              </m:r>
                            </m:sub>
                          </m:sSub>
                        </m:e>
                      </m:nary>
                      <m:sSub>
                        <m:e>
                          <m:r>
                            <m:t>x</m:t>
                          </m:r>
                        </m:e>
                        <m:sub>
                          <m:r>
                            <m:t>j</m:t>
                          </m:r>
                        </m:sub>
                      </m:sSub>
                    </m:oMath>
                  </m:oMathPara>
                </a14:m>
              </a:p>
              <a:p>
                <a:pPr lvl="0"/>
                <a:r>
                  <a:rPr/>
                  <a:t>Fixed AADT offset style</a:t>
                </a:r>
              </a:p>
              <a:p>
                <a:pPr lvl="0"/>
                <a:r>
                  <a:rPr/>
                  <a:t>No AADT interaction terms</a:t>
                </a:r>
              </a:p>
              <a:p>
                <a:pPr lvl="0"/>
                <a:r>
                  <a:rPr/>
                  <a:t>No random-parameter heterogeneity</a:t>
                </a:r>
              </a:p>
            </p:txBody>
          </p:sp>
        </mc:Choice>
      </mc:AlternateContent>
      <mc:AlternateContent xmlns:mc="http://schemas.openxmlformats.org/markup-compatibility/2006">
        <mc:Choice xmlns:a14="http://schemas.microsoft.com/office/drawing/2010/main" Requires="a14">
          <p:sp>
            <p:nvSpPr>
              <p:cNvPr id="4" name="Content Placeholder 3"/>
              <p:cNvSpPr>
                <a:spLocks noGrp="1"/>
              </p:cNvSpPr>
              <p:nvPr>
                <p:ph idx="2" sz="half"/>
              </p:nvPr>
            </p:nvSpPr>
            <p:spPr/>
            <p:txBody>
              <a:bodyPr/>
              <a:lstStyle/>
              <a:p>
                <a:pPr lvl="0" indent="0" marL="0">
                  <a:buNone/>
                </a:pPr>
                <a:r>
                  <a:rPr b="1"/>
                  <a:t>Best hierarchical model (found by search)</a:t>
                </a:r>
              </a:p>
              <a:p>
                <a:pPr lvl="0" indent="0" marL="0">
                  <a:buNone/>
                </a:pPr>
                <a14:m>
                  <m:oMathPara xmlns:m="http://schemas.openxmlformats.org/officeDocument/2006/math">
                    <m:oMathParaPr>
                      <m:jc m:val="center"/>
                    </m:oMathParaPr>
                    <m:oMath>
                      <m:r>
                        <m:rPr>
                          <m:sty m:val="p"/>
                        </m:rPr>
                        <m:t>log</m:t>
                      </m:r>
                      <m:d>
                        <m:dPr>
                          <m:begChr m:val="("/>
                          <m:sepChr m:val=""/>
                          <m:endChr m:val=")"/>
                          <m:grow/>
                        </m:dPr>
                        <m:e>
                          <m:sSub>
                            <m:e>
                              <m:acc>
                                <m:accPr>
                                  <m:chr m:val="̂"/>
                                </m:accPr>
                                <m:e>
                                  <m:r>
                                    <m:t>μ</m:t>
                                  </m:r>
                                </m:e>
                              </m:acc>
                            </m:e>
                            <m:sub>
                              <m:r>
                                <m:t>i</m:t>
                              </m:r>
                            </m:sub>
                          </m:sSub>
                        </m:e>
                      </m:d>
                      <m:r>
                        <m:rPr>
                          <m:sty m:val="p"/>
                        </m:rPr>
                        <m:t>=</m:t>
                      </m:r>
                      <m:r>
                        <m:t>α</m:t>
                      </m:r>
                      <m:r>
                        <m:rPr>
                          <m:sty m:val="p"/>
                        </m:rPr>
                        <m:t>+</m:t>
                      </m:r>
                      <m:sSub>
                        <m:e>
                          <m:r>
                            <m:t>β</m:t>
                          </m:r>
                        </m:e>
                        <m:sub>
                          <m:r>
                            <m:rPr>
                              <m:nor/>
                              <m:sty m:val="p"/>
                            </m:rPr>
                            <m:t>AADT</m:t>
                          </m:r>
                        </m:sub>
                      </m:sSub>
                      <m:r>
                        <m:rPr>
                          <m:sty m:val="p"/>
                        </m:rPr>
                        <m:t>log</m:t>
                      </m:r>
                      <m:d>
                        <m:dPr>
                          <m:begChr m:val="("/>
                          <m:sepChr m:val=""/>
                          <m:endChr m:val=")"/>
                          <m:grow/>
                        </m:dPr>
                        <m:e>
                          <m:sSub>
                            <m:e>
                              <m:r>
                                <m:t>A</m:t>
                              </m:r>
                            </m:e>
                            <m:sub>
                              <m:r>
                                <m:t>i</m:t>
                              </m:r>
                            </m:sub>
                          </m:sSub>
                        </m:e>
                      </m:d>
                      <m:r>
                        <m:rPr>
                          <m:sty m:val="p"/>
                        </m:rPr>
                        <m:t>+</m:t>
                      </m:r>
                      <m:nary>
                        <m:naryPr>
                          <m:chr m:val="∑"/>
                          <m:limLoc m:val="undOvr"/>
                          <m:subHide m:val="off"/>
                          <m:supHide m:val="on"/>
                        </m:naryPr>
                        <m:sub>
                          <m:r>
                            <m:t>j</m:t>
                          </m:r>
                        </m:sub>
                        <m:sup>
                          <m:r>
                            <m:t>​</m:t>
                          </m:r>
                        </m:sup>
                        <m:e>
                          <m:sSub>
                            <m:e>
                              <m:r>
                                <m:t>β</m:t>
                              </m:r>
                            </m:e>
                            <m:sub>
                              <m:r>
                                <m:t>j</m:t>
                              </m:r>
                            </m:sub>
                          </m:sSub>
                        </m:e>
                      </m:nary>
                      <m:sSub>
                        <m:e>
                          <m:r>
                            <m:t>x</m:t>
                          </m:r>
                        </m:e>
                        <m:sub>
                          <m:r>
                            <m:t>i</m:t>
                          </m:r>
                          <m:r>
                            <m:t>j</m:t>
                          </m:r>
                        </m:sub>
                      </m:sSub>
                      <m:r>
                        <m:rPr>
                          <m:sty m:val="p"/>
                        </m:rPr>
                        <m:t>+</m:t>
                      </m:r>
                      <m:nary>
                        <m:naryPr>
                          <m:chr m:val="∑"/>
                          <m:limLoc m:val="undOvr"/>
                          <m:subHide m:val="off"/>
                          <m:supHide m:val="on"/>
                        </m:naryPr>
                        <m:sub>
                          <m:r>
                            <m:t>k</m:t>
                          </m:r>
                        </m:sub>
                        <m:sup>
                          <m:r>
                            <m:t>​</m:t>
                          </m:r>
                        </m:sup>
                        <m:e>
                          <m:sSub>
                            <m:e>
                              <m:r>
                                <m:t>γ</m:t>
                              </m:r>
                            </m:e>
                            <m:sub>
                              <m:r>
                                <m:t>k</m:t>
                              </m:r>
                            </m:sub>
                          </m:sSub>
                        </m:e>
                      </m:nary>
                      <m:sSub>
                        <m:e>
                          <m:r>
                            <m:t>x</m:t>
                          </m:r>
                        </m:e>
                        <m:sub>
                          <m:r>
                            <m:t>i</m:t>
                          </m:r>
                          <m:r>
                            <m:t>k</m:t>
                          </m:r>
                        </m:sub>
                      </m:sSub>
                      <m:r>
                        <m:rPr>
                          <m:sty m:val="p"/>
                        </m:rPr>
                        <m:t>log</m:t>
                      </m:r>
                      <m:d>
                        <m:dPr>
                          <m:begChr m:val="("/>
                          <m:sepChr m:val=""/>
                          <m:endChr m:val=")"/>
                          <m:grow/>
                        </m:dPr>
                        <m:e>
                          <m:sSub>
                            <m:e>
                              <m:r>
                                <m:t>A</m:t>
                              </m:r>
                            </m:e>
                            <m:sub>
                              <m:r>
                                <m:t>i</m:t>
                              </m:r>
                            </m:sub>
                          </m:sSub>
                        </m:e>
                      </m:d>
                      <m:r>
                        <m:rPr>
                          <m:sty m:val="p"/>
                        </m:rPr>
                        <m:t>+</m:t>
                      </m:r>
                      <m:r>
                        <m:rPr>
                          <m:sty m:val="p"/>
                        </m:rPr>
                        <m:t>log</m:t>
                      </m:r>
                      <m:d>
                        <m:dPr>
                          <m:begChr m:val="("/>
                          <m:sepChr m:val=""/>
                          <m:endChr m:val=")"/>
                          <m:grow/>
                        </m:dPr>
                        <m:e>
                          <m:sSub>
                            <m:e>
                              <m:r>
                                <m:t>L</m:t>
                              </m:r>
                            </m:e>
                            <m:sub>
                              <m:r>
                                <m:t>i</m:t>
                              </m:r>
                            </m:sub>
                          </m:sSub>
                        </m:e>
                      </m:d>
                    </m:oMath>
                  </m:oMathPara>
                </a14:m>
              </a:p>
              <a:p>
                <a:pPr lvl="0"/>
                <a:r>
                  <a:rPr/>
                  <a:t>Estimates AADT elasticity from data</a:t>
                </a:r>
              </a:p>
              <a:p>
                <a:pPr lvl="0"/>
                <a:r>
                  <a:rPr/>
                  <a:t>Adds traffic-interaction CMF terms</a:t>
                </a:r>
              </a:p>
              <a:p>
                <a:pPr lvl="0"/>
                <a:r>
                  <a:rPr/>
                  <a:t>Supports random-parameter heterogeneity in refit</a:t>
                </a:r>
              </a:p>
            </p:txBody>
          </p:sp>
        </mc:Choice>
      </mc:AlternateContent>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Search Outcome (Selection Stage)</a:t>
            </a:r>
          </a:p>
        </p:txBody>
      </p:sp>
      <p:pic>
        <p:nvPicPr>
          <p:cNvPr descr="../results/ex16_3_cmf/search_convergence.png" id="0" name="Picture 1"/>
          <p:cNvPicPr>
            <a:picLocks noGrp="1" noChangeAspect="1"/>
          </p:cNvPicPr>
          <p:nvPr/>
        </p:nvPicPr>
        <p:blipFill>
          <a:blip r:embed="rId2"/>
          <a:stretch>
            <a:fillRect/>
          </a:stretch>
        </p:blipFill>
        <p:spPr bwMode="auto">
          <a:xfrm>
            <a:off x="838200" y="1193800"/>
            <a:ext cx="74676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Convergence: proposed-path trace (dotted) + running best solid envelope for BIC (left) and Validation RMSE (right). Green = monotonic AADT, grey = non-monotonic (excluded), star = global best.</a:t>
            </a:r>
          </a:p>
        </p:txBody>
      </p:sp>
      <p:sp>
        <p:nvSpPr>
          <p:cNvPr id="3" name="Content Placeholder 2"/>
          <p:cNvSpPr>
            <a:spLocks noGrp="1"/>
          </p:cNvSpPr>
          <p:nvPr>
            <p:ph idx="1"/>
          </p:nvPr>
        </p:nvSpPr>
        <p:spPr/>
        <p:txBody>
          <a:bodyPr/>
          <a:lstStyle/>
          <a:p>
            <a:pPr lvl="0" indent="0" marL="0">
              <a:buNone/>
            </a:pPr>
            <a:r>
              <a:rPr/>
              <a:t>Dotted line = all proposed models · Solid envelope = running best · Green = monotonic AADT · Grey = excluded · Star = global best</a:t>
            </a:r>
          </a:p>
          <a:p>
            <a:pPr lvl="0" indent="0" marL="0">
              <a:buNone/>
            </a:pPr>
            <a:r>
              <a:rPr/>
              <a:t>Metric scope note</a:t>
            </a:r>
          </a:p>
          <a:p>
            <a:pPr lvl="0"/>
            <a:r>
              <a:rPr/>
              <a:t>Search-convergence plots report </a:t>
            </a:r>
            <a:r>
              <a:rPr b="1"/>
              <a:t>validation metrics during selection</a:t>
            </a:r>
            <a:r>
              <a:rPr/>
              <a:t> (train-fit evaluated on validation split).</a:t>
            </a:r>
          </a:p>
          <a:p>
            <a:pPr lvl="0"/>
            <a:r>
              <a:rPr/>
              <a:t>Benchmark comparison slide reports </a:t>
            </a:r>
            <a:r>
              <a:rPr b="1"/>
              <a:t>held-out test metrics after final refit</a:t>
            </a:r>
            <a:r>
              <a:rPr/>
              <a:t> on train+validation.</a:t>
            </a:r>
          </a:p>
          <a:p>
            <a:pPr lvl="0"/>
            <a:r>
              <a:rPr/>
              <a:t>These numbers are expected to differ because they are computed on different splits and at different fit stages.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Best Model Found by Search</a:t>
            </a:r>
          </a:p>
        </p:txBody>
      </p:sp>
      <p:pic>
        <p:nvPicPr>
          <p:cNvPr descr="../results/ex16_3_cmf/refinement_phase_traces.png" id="0" name="Picture 1"/>
          <p:cNvPicPr>
            <a:picLocks noGrp="1" noChangeAspect="1"/>
          </p:cNvPicPr>
          <p:nvPr/>
        </p:nvPicPr>
        <p:blipFill>
          <a:blip r:embed="rId2"/>
          <a:stretch>
            <a:fillRect/>
          </a:stretch>
        </p:blipFill>
        <p:spPr bwMode="auto">
          <a:xfrm>
            <a:off x="838200" y="1193800"/>
            <a:ext cx="74676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Both refinement phases shown together: Harmony Search (left) and Simulated Annealing (right). BIC and Validation RMSE axes are windowed to show only competitive models. Running-best envelopes in bold; per-iteration proposals in lighter dots.</a:t>
            </a:r>
          </a:p>
        </p:txBody>
      </p:sp>
      <p:sp>
        <p:nvSpPr>
          <p:cNvPr id="3" name="Content Placeholder 2"/>
          <p:cNvSpPr>
            <a:spLocks noGrp="1"/>
          </p:cNvSpPr>
          <p:nvPr>
            <p:ph idx="1"/>
          </p:nvPr>
        </p:nvSpPr>
        <p:spPr/>
        <p:txBody>
          <a:bodyPr/>
          <a:lstStyle/>
          <a:p>
            <a:pPr lvl="0" indent="0" marL="0">
              <a:buNone/>
            </a:pPr>
            <a:r>
              <a:rPr b="1"/>
              <a:t>Bottom line:</a:t>
            </a:r>
            <a:r>
              <a:rPr/>
              <a:t> both refinement methods converged to the same winning specification.</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Phase</a:t>
                      </a:r>
                    </a:p>
                  </a:txBody>
                  <a:tcPr/>
                </a:tc>
                <a:tc>
                  <a:txBody>
                    <a:bodyPr/>
                    <a:lstStyle/>
                    <a:p>
                      <a:pPr lvl="0" indent="0" marL="0" algn="r">
                        <a:buNone/>
                      </a:pPr>
                      <a:r>
                        <a:rPr/>
                        <a:t>Best iteration</a:t>
                      </a:r>
                    </a:p>
                  </a:txBody>
                  <a:tcPr/>
                </a:tc>
                <a:tc>
                  <a:txBody>
                    <a:bodyPr/>
                    <a:lstStyle/>
                    <a:p>
                      <a:pPr lvl="0" indent="0" marL="0" algn="r">
                        <a:buNone/>
                      </a:pPr>
                      <a:r>
                        <a:rPr/>
                        <a:t>Best BIC</a:t>
                      </a:r>
                    </a:p>
                  </a:txBody>
                  <a:tcPr/>
                </a:tc>
                <a:tc>
                  <a:txBody>
                    <a:bodyPr/>
                    <a:lstStyle/>
                    <a:p>
                      <a:pPr lvl="0" indent="0" marL="0" algn="r">
                        <a:buNone/>
                      </a:pPr>
                      <a:r>
                        <a:rPr/>
                        <a:t>Best validation RMSE</a:t>
                      </a:r>
                    </a:p>
                  </a:txBody>
                  <a:tcPr/>
                </a:tc>
              </a:tr>
              <a:tr h="0">
                <a:tc>
                  <a:txBody>
                    <a:bodyPr/>
                    <a:lstStyle/>
                    <a:p>
                      <a:pPr lvl="0" indent="0" marL="0">
                        <a:buNone/>
                      </a:pPr>
                      <a:r>
                        <a:rPr/>
                        <a:t>Simulated Annealing</a:t>
                      </a:r>
                    </a:p>
                  </a:txBody>
                </a:tc>
                <a:tc>
                  <a:txBody>
                    <a:bodyPr/>
                    <a:lstStyle/>
                    <a:p>
                      <a:pPr lvl="0" indent="0" marL="0" algn="r">
                        <a:buNone/>
                      </a:pPr>
                      <a:r>
                        <a:rPr/>
                        <a:t>2,203</a:t>
                      </a:r>
                    </a:p>
                  </a:txBody>
                </a:tc>
                <a:tc>
                  <a:txBody>
                    <a:bodyPr/>
                    <a:lstStyle/>
                    <a:p>
                      <a:pPr lvl="0" indent="0" marL="0" algn="r">
                        <a:buNone/>
                      </a:pPr>
                      <a:r>
                        <a:rPr/>
                        <a:t>1,147.82</a:t>
                      </a:r>
                    </a:p>
                  </a:txBody>
                </a:tc>
                <a:tc>
                  <a:txBody>
                    <a:bodyPr/>
                    <a:lstStyle/>
                    <a:p>
                      <a:pPr lvl="0" indent="0" marL="0" algn="r">
                        <a:buNone/>
                      </a:pPr>
                      <a:r>
                        <a:rPr/>
                        <a:t>16.2576</a:t>
                      </a:r>
                    </a:p>
                  </a:txBody>
                </a:tc>
              </a:tr>
              <a:tr h="0">
                <a:tc>
                  <a:txBody>
                    <a:bodyPr/>
                    <a:lstStyle/>
                    <a:p>
                      <a:pPr lvl="0" indent="0" marL="0">
                        <a:buNone/>
                      </a:pPr>
                      <a:r>
                        <a:rPr/>
                        <a:t>Harmony Search</a:t>
                      </a:r>
                    </a:p>
                  </a:txBody>
                </a:tc>
                <a:tc>
                  <a:txBody>
                    <a:bodyPr/>
                    <a:lstStyle/>
                    <a:p>
                      <a:pPr lvl="0" indent="0" marL="0" algn="r">
                        <a:buNone/>
                      </a:pPr>
                      <a:r>
                        <a:rPr/>
                        <a:t>1,129</a:t>
                      </a:r>
                    </a:p>
                  </a:txBody>
                </a:tc>
                <a:tc>
                  <a:txBody>
                    <a:bodyPr/>
                    <a:lstStyle/>
                    <a:p>
                      <a:pPr lvl="0" indent="0" marL="0" algn="r">
                        <a:buNone/>
                      </a:pPr>
                      <a:r>
                        <a:rPr/>
                        <a:t>1,147.82</a:t>
                      </a:r>
                    </a:p>
                  </a:txBody>
                </a:tc>
                <a:tc>
                  <a:txBody>
                    <a:bodyPr/>
                    <a:lstStyle/>
                    <a:p>
                      <a:pPr lvl="0" indent="0" marL="0" algn="r">
                        <a:buNone/>
                      </a:pPr>
                      <a:r>
                        <a:rPr/>
                        <a:t>16.2576</a:t>
                      </a:r>
                    </a:p>
                  </a:txBody>
                </a:tc>
              </a:tr>
            </a:tbl>
          </a:graphicData>
        </a:graphic>
      </p:graphicFrame>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Simulated Annealing vs Harmony (Side-by-Side)</a:t>
            </a:r>
          </a:p>
        </p:txBody>
      </p:sp>
      <p:pic>
        <p:nvPicPr>
          <p:cNvPr descr="../results/ex16_3_cmf/search_phase_comparison.png" id="0" name="Picture 1"/>
          <p:cNvPicPr>
            <a:picLocks noGrp="1" noChangeAspect="1"/>
          </p:cNvPicPr>
          <p:nvPr/>
        </p:nvPicPr>
        <p:blipFill>
          <a:blip r:embed="rId2"/>
          <a:stretch>
            <a:fillRect/>
          </a:stretch>
        </p:blipFill>
        <p:spPr bwMode="auto">
          <a:xfrm>
            <a:off x="1117600" y="1193800"/>
            <a:ext cx="69215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Best SA candidate vs best Harmony candidate by BIC and Validation RMSE.</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SA vs Harmony - Distribution Differences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1181100"/>
                <a:gridCol w="1181100"/>
                <a:gridCol w="1181100"/>
                <a:gridCol w="1181100"/>
                <a:gridCol w="1181100"/>
                <a:gridCol w="1181100"/>
                <a:gridCol w="1181100"/>
              </a:tblGrid>
              <a:tr h="0">
                <a:tc>
                  <a:txBody>
                    <a:bodyPr/>
                    <a:lstStyle/>
                    <a:p>
                      <a:pPr lvl="0" indent="0" marL="0">
                        <a:buNone/>
                      </a:pPr>
                      <a:r>
                        <a:rPr/>
                        <a:t>Search Phase</a:t>
                      </a:r>
                    </a:p>
                  </a:txBody>
                  <a:tcPr/>
                </a:tc>
                <a:tc>
                  <a:txBody>
                    <a:bodyPr/>
                    <a:lstStyle/>
                    <a:p>
                      <a:pPr lvl="0" indent="0" marL="0">
                        <a:buNone/>
                      </a:pPr>
                      <a:r>
                        <a:rPr/>
                        <a:t>Candidates evaluated</a:t>
                      </a:r>
                    </a:p>
                  </a:txBody>
                  <a:tcPr/>
                </a:tc>
                <a:tc>
                  <a:txBody>
                    <a:bodyPr/>
                    <a:lstStyle/>
                    <a:p>
                      <a:pPr lvl="0" indent="0" marL="0">
                        <a:buNone/>
                      </a:pPr>
                      <a:r>
                        <a:rPr/>
                        <a:t>Best BIC</a:t>
                      </a:r>
                    </a:p>
                  </a:txBody>
                  <a:tcPr/>
                </a:tc>
                <a:tc>
                  <a:txBody>
                    <a:bodyPr/>
                    <a:lstStyle/>
                    <a:p>
                      <a:pPr lvl="0" indent="0" marL="0">
                        <a:buNone/>
                      </a:pPr>
                      <a:r>
                        <a:rPr/>
                        <a:t>Best Val RMSE</a:t>
                      </a:r>
                    </a:p>
                  </a:txBody>
                  <a:tcPr/>
                </a:tc>
                <a:tc>
                  <a:txBody>
                    <a:bodyPr/>
                    <a:lstStyle/>
                    <a:p>
                      <a:pPr lvl="0" indent="0" marL="0">
                        <a:buNone/>
                      </a:pPr>
                      <a:r>
                        <a:rPr/>
                        <a:t>Median BIC</a:t>
                      </a:r>
                    </a:p>
                  </a:txBody>
                  <a:tcPr/>
                </a:tc>
                <a:tc>
                  <a:txBody>
                    <a:bodyPr/>
                    <a:lstStyle/>
                    <a:p>
                      <a:pPr lvl="0" indent="0" marL="0">
                        <a:buNone/>
                      </a:pPr>
                      <a:r>
                        <a:rPr/>
                        <a:t>Median Val RMSE</a:t>
                      </a:r>
                    </a:p>
                  </a:txBody>
                  <a:tcPr/>
                </a:tc>
                <a:tc>
                  <a:txBody>
                    <a:bodyPr/>
                    <a:lstStyle/>
                    <a:p>
                      <a:pPr lvl="0" indent="0" marL="0">
                        <a:buNone/>
                      </a:pPr>
                      <a:r>
                        <a:rPr/>
                        <a:t>First iter within 0.5% of best BIC</a:t>
                      </a:r>
                    </a:p>
                  </a:txBody>
                  <a:tcPr/>
                </a:tc>
              </a:tr>
              <a:tr h="0">
                <a:tc>
                  <a:txBody>
                    <a:bodyPr/>
                    <a:lstStyle/>
                    <a:p>
                      <a:pPr lvl="0" indent="0" marL="0">
                        <a:buNone/>
                      </a:pPr>
                      <a:r>
                        <a:rPr/>
                        <a:t>Simulated Annealing</a:t>
                      </a:r>
                    </a:p>
                  </a:txBody>
                </a:tc>
                <a:tc>
                  <a:txBody>
                    <a:bodyPr/>
                    <a:lstStyle/>
                    <a:p>
                      <a:pPr lvl="0" indent="0" marL="0">
                        <a:buNone/>
                      </a:pPr>
                      <a:r>
                        <a:rPr/>
                        <a:t>177.00</a:t>
                      </a:r>
                    </a:p>
                  </a:txBody>
                </a:tc>
                <a:tc>
                  <a:txBody>
                    <a:bodyPr/>
                    <a:lstStyle/>
                    <a:p>
                      <a:pPr lvl="0" indent="0" marL="0">
                        <a:buNone/>
                      </a:pPr>
                      <a:r>
                        <a:rPr/>
                        <a:t>1,149.85</a:t>
                      </a:r>
                    </a:p>
                  </a:txBody>
                </a:tc>
                <a:tc>
                  <a:txBody>
                    <a:bodyPr/>
                    <a:lstStyle/>
                    <a:p>
                      <a:pPr lvl="0" indent="0" marL="0">
                        <a:buNone/>
                      </a:pPr>
                      <a:r>
                        <a:rPr/>
                        <a:t>14.7784</a:t>
                      </a:r>
                    </a:p>
                  </a:txBody>
                </a:tc>
                <a:tc>
                  <a:txBody>
                    <a:bodyPr/>
                    <a:lstStyle/>
                    <a:p>
                      <a:pPr lvl="0" indent="0" marL="0">
                        <a:buNone/>
                      </a:pPr>
                      <a:r>
                        <a:rPr/>
                        <a:t>1,174.27</a:t>
                      </a:r>
                    </a:p>
                  </a:txBody>
                </a:tc>
                <a:tc>
                  <a:txBody>
                    <a:bodyPr/>
                    <a:lstStyle/>
                    <a:p>
                      <a:pPr lvl="0" indent="0" marL="0">
                        <a:buNone/>
                      </a:pPr>
                      <a:r>
                        <a:rPr/>
                        <a:t>17.2133</a:t>
                      </a:r>
                    </a:p>
                  </a:txBody>
                </a:tc>
                <a:tc>
                  <a:txBody>
                    <a:bodyPr/>
                    <a:lstStyle/>
                    <a:p>
                      <a:pPr lvl="0" indent="0" marL="0">
                        <a:buNone/>
                      </a:pPr>
                      <a:r>
                        <a:rPr/>
                        <a:t>376.00</a:t>
                      </a:r>
                    </a:p>
                  </a:txBody>
                </a:tc>
              </a:tr>
              <a:tr h="0">
                <a:tc>
                  <a:txBody>
                    <a:bodyPr/>
                    <a:lstStyle/>
                    <a:p>
                      <a:pPr lvl="0" indent="0" marL="0">
                        <a:buNone/>
                      </a:pPr>
                      <a:r>
                        <a:rPr/>
                        <a:t>Harmony Search</a:t>
                      </a:r>
                    </a:p>
                  </a:txBody>
                </a:tc>
                <a:tc>
                  <a:txBody>
                    <a:bodyPr/>
                    <a:lstStyle/>
                    <a:p>
                      <a:pPr lvl="0" indent="0" marL="0">
                        <a:buNone/>
                      </a:pPr>
                      <a:r>
                        <a:rPr/>
                        <a:t>95.0000</a:t>
                      </a:r>
                    </a:p>
                  </a:txBody>
                </a:tc>
                <a:tc>
                  <a:txBody>
                    <a:bodyPr/>
                    <a:lstStyle/>
                    <a:p>
                      <a:pPr lvl="0" indent="0" marL="0">
                        <a:buNone/>
                      </a:pPr>
                      <a:r>
                        <a:rPr/>
                        <a:t>1,155.37</a:t>
                      </a:r>
                    </a:p>
                  </a:txBody>
                </a:tc>
                <a:tc>
                  <a:txBody>
                    <a:bodyPr/>
                    <a:lstStyle/>
                    <a:p>
                      <a:pPr lvl="0" indent="0" marL="0">
                        <a:buNone/>
                      </a:pPr>
                      <a:r>
                        <a:rPr/>
                        <a:t>13.7222</a:t>
                      </a:r>
                    </a:p>
                  </a:txBody>
                </a:tc>
                <a:tc>
                  <a:txBody>
                    <a:bodyPr/>
                    <a:lstStyle/>
                    <a:p>
                      <a:pPr lvl="0" indent="0" marL="0">
                        <a:buNone/>
                      </a:pPr>
                      <a:r>
                        <a:rPr/>
                        <a:t>1,172.22</a:t>
                      </a:r>
                    </a:p>
                  </a:txBody>
                </a:tc>
                <a:tc>
                  <a:txBody>
                    <a:bodyPr/>
                    <a:lstStyle/>
                    <a:p>
                      <a:pPr lvl="0" indent="0" marL="0">
                        <a:buNone/>
                      </a:pPr>
                      <a:r>
                        <a:rPr/>
                        <a:t>17.3585</a:t>
                      </a:r>
                    </a:p>
                  </a:txBody>
                </a:tc>
                <a:tc>
                  <a:txBody>
                    <a:bodyPr/>
                    <a:lstStyle/>
                    <a:p>
                      <a:pPr lvl="0" indent="0" marL="0">
                        <a:buNone/>
                      </a:pPr>
                      <a:r>
                        <a:rPr/>
                        <a:t>131.00</a:t>
                      </a:r>
                    </a:p>
                  </a:txBody>
                </a:tc>
              </a:tr>
            </a:tbl>
          </a:graphicData>
        </a:graphic>
      </p:graphicFrame>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Final Model — Random-Parameters NB2</a:t>
            </a:r>
          </a:p>
        </p:txBody>
      </p:sp>
      <p:sp>
        <p:nvSpPr>
          <p:cNvPr id="4" name="Text Placeholder 3"/>
          <p:cNvSpPr>
            <a:spLocks noGrp="1"/>
          </p:cNvSpPr>
          <p:nvPr>
            <p:ph idx="2" sz="half" type="body"/>
          </p:nvPr>
        </p:nvSpPr>
        <p:spPr/>
        <p:txBody>
          <a:bodyPr/>
          <a:lstStyle/>
          <a:p>
            <a:pPr lvl="0" indent="0" marL="0">
              <a:spcBef>
                <a:spcPts val="3000"/>
              </a:spcBef>
              <a:buNone/>
            </a:pPr>
            <a:r>
              <a:rPr b="1"/>
              <a:t>Full coefficient table: fixed effects + random parameters (Mean ± SD across sites)</a:t>
            </a:r>
          </a:p>
          <a:p>
            <a:pPr lvl="0" indent="0" marL="0">
              <a:buNone/>
            </a:pPr>
            <a:r>
              <a:rPr i="1"/>
              <a:t>Random parameters capture site-level heterogeneity in the effect of each variable.</a:t>
            </a:r>
          </a:p>
          <a:p>
            <a:pPr lvl="0" indent="0" marL="0">
              <a:buNone/>
            </a:pPr>
            <a:r>
              <a:rPr b="1"/>
              <a:t>Random-parameters summary</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Type</a:t>
                      </a:r>
                    </a:p>
                  </a:txBody>
                  <a:tcPr/>
                </a:tc>
                <a:tc>
                  <a:txBody>
                    <a:bodyPr/>
                    <a:lstStyle/>
                    <a:p>
                      <a:pPr lvl="0" indent="0" marL="0">
                        <a:buNone/>
                      </a:pPr>
                      <a:r>
                        <a:rPr/>
                        <a:t>Meaning</a:t>
                      </a:r>
                    </a:p>
                  </a:txBody>
                  <a:tcPr/>
                </a:tc>
              </a:tr>
              <a:tr h="0">
                <a:tc>
                  <a:txBody>
                    <a:bodyPr/>
                    <a:lstStyle/>
                    <a:p>
                      <a:pPr lvl="0" indent="0" marL="0">
                        <a:buNone/>
                      </a:pPr>
                      <a:r>
                        <a:rPr/>
                        <a:t>Fixed effects</a:t>
                      </a:r>
                    </a:p>
                  </a:txBody>
                </a:tc>
                <a:tc>
                  <a:txBody>
                    <a:bodyPr/>
                    <a:lstStyle/>
                    <a:p>
                      <a:pPr lvl="0" indent="0" marL="0">
                        <a:buNone/>
                      </a:pPr>
                      <a:r>
                        <a:rPr/>
                        <a:t>Same coefficient for every segment</a:t>
                      </a:r>
                    </a:p>
                  </a:txBody>
                </a:tc>
              </a:tr>
              <a:tr h="0">
                <a:tc>
                  <a:txBody>
                    <a:bodyPr/>
                    <a:lstStyle/>
                    <a:p>
                      <a:pPr lvl="0" indent="0" marL="0">
                        <a:buNone/>
                      </a:pPr>
                      <a:r>
                        <a:rPr/>
                        <a:t>Random means</a:t>
                      </a:r>
                    </a:p>
                  </a:txBody>
                </a:tc>
                <a:tc>
                  <a:txBody>
                    <a:bodyPr/>
                    <a:lstStyle/>
                    <a:p>
                      <a:pPr lvl="0" indent="0" marL="0">
                        <a:buNone/>
                      </a:pPr>
                      <a:r>
                        <a:rPr/>
                        <a:t>Average effect across sites</a:t>
                      </a:r>
                    </a:p>
                  </a:txBody>
                </a:tc>
              </a:tr>
              <a:tr h="0">
                <a:tc>
                  <a:txBody>
                    <a:bodyPr/>
                    <a:lstStyle/>
                    <a:p>
                      <a:pPr lvl="0" indent="0" marL="0">
                        <a:buNone/>
                      </a:pPr>
                      <a:r>
                        <a:rPr/>
                        <a:t>Random SDs</a:t>
                      </a:r>
                    </a:p>
                  </a:txBody>
                </a:tc>
                <a:tc>
                  <a:txBody>
                    <a:bodyPr/>
                    <a:lstStyle/>
                    <a:p>
                      <a:pPr lvl="0" indent="0" marL="0">
                        <a:buNone/>
                      </a:pPr>
                      <a:r>
                        <a:rPr/>
                        <a:t>How much the effect varies by site</a:t>
                      </a:r>
                    </a:p>
                  </a:txBody>
                </a:tc>
              </a:tr>
            </a:tbl>
          </a:graphicData>
        </a:graphic>
      </p:graphicFrame>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Random-Parameters NB2 | unavailable</a:t>
            </a:r>
          </a:p>
          <a:p>
            <a:pPr lvl="0"/>
            <a:r>
              <a:rPr/>
              <a:t>Compact random-parameter table unavailable in this run.</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Fixed-Effects Decomposition</a:t>
            </a:r>
          </a:p>
        </p:txBody>
      </p:sp>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spcBef>
                    <a:spcPts val="3000"/>
                  </a:spcBef>
                  <a:buNone/>
                </a:pPr>
                <a:r>
                  <a:rPr b="1"/>
                  <a:t>Upper terms (AADT-independent CMFs) and lower terms (AADT-interaction effects)</a:t>
                </a:r>
              </a:p>
              <a:p>
                <a:pPr lvl="0" indent="0" marL="0">
                  <a:buNone/>
                </a:pPr>
                <a:r>
                  <a:rPr b="1"/>
                  <a:t>Upper terms — direct CMF (same at any AADT level)</a:t>
                </a:r>
              </a:p>
              <a:p>
                <a:pPr lvl="0" indent="0" marL="0">
                  <a:buNone/>
                </a:pPr>
                <a14:m>
                  <m:oMath xmlns:m="http://schemas.openxmlformats.org/officeDocument/2006/math">
                    <m:r>
                      <m:rPr>
                        <m:nor/>
                        <m:sty m:val="p"/>
                      </m:rPr>
                      <m:t>CMF</m:t>
                    </m:r>
                    <m:r>
                      <m:rPr>
                        <m:sty m:val="p"/>
                      </m:rPr>
                      <m:t>=</m:t>
                    </m:r>
                    <m:sSup>
                      <m:e>
                        <m:r>
                          <m:t>e</m:t>
                        </m:r>
                      </m:e>
                      <m:sup>
                        <m:r>
                          <m:t> </m:t>
                        </m:r>
                        <m:r>
                          <m:t>β</m:t>
                        </m:r>
                        <m:r>
                          <m:t> </m:t>
                        </m:r>
                        <m:r>
                          <m:t>Δ</m:t>
                        </m:r>
                        <m:r>
                          <m:t>x</m:t>
                        </m:r>
                      </m:sup>
                    </m:sSup>
                  </m:oMath>
                </a14:m>
              </a:p>
            </p:txBody>
          </p:sp>
        </mc:Choice>
      </mc:AlternateContent>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749300"/>
                <a:gridCol w="2933700"/>
                <a:gridCol w="914400"/>
                <a:gridCol w="508000"/>
              </a:tblGrid>
              <a:tr h="0">
                <a:tc>
                  <a:txBody>
                    <a:bodyPr/>
                    <a:lstStyle/>
                    <a:p>
                      <a:pPr lvl="0" indent="0" marL="0">
                        <a:buNone/>
                      </a:pPr>
                      <a:r>
                        <a:rPr/>
                        <a:t>Variable</a:t>
                      </a:r>
                    </a:p>
                  </a:txBody>
                  <a:tcPr/>
                </a:tc>
                <a:tc>
                  <a:txBody>
                    <a:bodyPr/>
                    <a:lstStyle/>
                    <a:p>
                      <a:pPr lvl="0" indent="0" marL="0">
                        <a:buNone/>
                      </a:pPr>
                      <a:r>
                        <a:rPr/>
                        <a:t>Full Name</a:t>
                      </a:r>
                    </a:p>
                  </a:txBody>
                  <a:tcPr/>
                </a:tc>
                <a:tc>
                  <a:txBody>
                    <a:bodyPr/>
                    <a:lstStyle/>
                    <a:p>
                      <a:pPr lvl="0" indent="0" marL="0">
                        <a:buNone/>
                      </a:pPr>
                      <a:r>
                        <a:rPr/>
                        <a:t>Coefficient</a:t>
                      </a:r>
                    </a:p>
                  </a:txBody>
                  <a:tcPr/>
                </a:tc>
                <a:tc>
                  <a:txBody>
                    <a:bodyPr/>
                    <a:lstStyle/>
                    <a:p>
                      <a:pPr lvl="0" indent="0" marL="0">
                        <a:buNone/>
                      </a:pPr>
                      <a:r>
                        <a:rPr/>
                        <a:t>CMF</a:t>
                      </a:r>
                    </a:p>
                  </a:txBody>
                  <a:tcPr/>
                </a:tc>
              </a:tr>
              <a:tr h="0">
                <a:tc>
                  <a:txBody>
                    <a:bodyPr/>
                    <a:lstStyle/>
                    <a:p>
                      <a:pPr lvl="0" indent="0" marL="0">
                        <a:buNone/>
                      </a:pPr>
                      <a:r>
                        <a:rPr/>
                        <a:t>Intercept</a:t>
                      </a:r>
                    </a:p>
                  </a:txBody>
                </a:tc>
                <a:tc>
                  <a:txBody>
                    <a:bodyPr/>
                    <a:lstStyle/>
                    <a:p>
                      <a:pPr lvl="0" indent="0" marL="0">
                        <a:buNone/>
                      </a:pPr>
                      <a:r>
                        <a:rPr/>
                        <a:t>Intercept</a:t>
                      </a:r>
                    </a:p>
                  </a:txBody>
                </a:tc>
                <a:tc>
                  <a:txBody>
                    <a:bodyPr/>
                    <a:lstStyle/>
                    <a:p>
                      <a:pPr lvl="0" indent="0" marL="0">
                        <a:buNone/>
                      </a:pPr>
                      <a:r>
                        <a:rPr/>
                        <a:t>-7.0970</a:t>
                      </a:r>
                    </a:p>
                  </a:txBody>
                </a:tc>
                <a:tc>
                  <a:txBody>
                    <a:bodyPr/>
                    <a:lstStyle/>
                    <a:p>
                      <a:endParaRPr/>
                    </a:p>
                  </a:txBody>
                </a:tc>
              </a:tr>
              <a:tr h="0">
                <a:tc>
                  <a:txBody>
                    <a:bodyPr/>
                    <a:lstStyle/>
                    <a:p>
                      <a:pPr lvl="0" indent="0" marL="0">
                        <a:buNone/>
                      </a:pPr>
                      <a:r>
                        <a:rPr/>
                        <a:t>log(AADT)</a:t>
                      </a:r>
                    </a:p>
                  </a:txBody>
                </a:tc>
                <a:tc>
                  <a:txBody>
                    <a:bodyPr/>
                    <a:lstStyle/>
                    <a:p>
                      <a:pPr lvl="0" indent="0" marL="0">
                        <a:buNone/>
                      </a:pPr>
                      <a:r>
                        <a:rPr/>
                        <a:t>log(AADT) Elasticity</a:t>
                      </a:r>
                    </a:p>
                  </a:txBody>
                </a:tc>
                <a:tc>
                  <a:txBody>
                    <a:bodyPr/>
                    <a:lstStyle/>
                    <a:p>
                      <a:pPr lvl="0" indent="0" marL="0">
                        <a:buNone/>
                      </a:pPr>
                      <a:r>
                        <a:rPr/>
                        <a:t>+0.8834</a:t>
                      </a:r>
                    </a:p>
                  </a:txBody>
                </a:tc>
                <a:tc>
                  <a:txBody>
                    <a:bodyPr/>
                    <a:lstStyle/>
                    <a:p>
                      <a:endParaRPr/>
                    </a:p>
                  </a:txBody>
                </a:tc>
              </a:tr>
              <a:tr h="0">
                <a:tc>
                  <a:txBody>
                    <a:bodyPr/>
                    <a:lstStyle/>
                    <a:p>
                      <a:pPr lvl="0" indent="0" marL="0">
                        <a:buNone/>
                      </a:pPr>
                      <a:r>
                        <a:rPr/>
                        <a:t>CURVES</a:t>
                      </a:r>
                    </a:p>
                  </a:txBody>
                </a:tc>
                <a:tc>
                  <a:txBody>
                    <a:bodyPr/>
                    <a:lstStyle/>
                    <a:p>
                      <a:pPr lvl="0" indent="0" marL="0">
                        <a:buNone/>
                      </a:pPr>
                      <a:r>
                        <a:rPr/>
                        <a:t>Number of Horizontal Curves (count)</a:t>
                      </a:r>
                    </a:p>
                  </a:txBody>
                </a:tc>
                <a:tc>
                  <a:txBody>
                    <a:bodyPr/>
                    <a:lstStyle/>
                    <a:p>
                      <a:pPr lvl="0" indent="0" marL="0">
                        <a:buNone/>
                      </a:pPr>
                      <a:r>
                        <a:rPr/>
                        <a:t>-0.0693</a:t>
                      </a:r>
                    </a:p>
                  </a:txBody>
                </a:tc>
                <a:tc>
                  <a:txBody>
                    <a:bodyPr/>
                    <a:lstStyle/>
                    <a:p>
                      <a:pPr lvl="0" indent="0" marL="0">
                        <a:buNone/>
                      </a:pPr>
                      <a:r>
                        <a:rPr/>
                        <a:t>0.9773</a:t>
                      </a:r>
                    </a:p>
                  </a:txBody>
                </a:tc>
              </a:tr>
              <a:tr h="0">
                <a:tc>
                  <a:txBody>
                    <a:bodyPr/>
                    <a:lstStyle/>
                    <a:p>
                      <a:pPr lvl="0" indent="0" marL="0">
                        <a:buNone/>
                      </a:pPr>
                      <a:r>
                        <a:rPr/>
                        <a:t>MIGRADE</a:t>
                      </a:r>
                    </a:p>
                  </a:txBody>
                </a:tc>
                <a:tc>
                  <a:txBody>
                    <a:bodyPr/>
                    <a:lstStyle/>
                    <a:p>
                      <a:pPr lvl="0" indent="0" marL="0">
                        <a:buNone/>
                      </a:pPr>
                      <a:r>
                        <a:rPr/>
                        <a:t>Minimum Vertical Grade (%)</a:t>
                      </a:r>
                    </a:p>
                  </a:txBody>
                </a:tc>
                <a:tc>
                  <a:txBody>
                    <a:bodyPr/>
                    <a:lstStyle/>
                    <a:p>
                      <a:pPr lvl="0" indent="0" marL="0">
                        <a:buNone/>
                      </a:pPr>
                      <a:r>
                        <a:rPr/>
                        <a:t>-0.0648</a:t>
                      </a:r>
                    </a:p>
                  </a:txBody>
                </a:tc>
                <a:tc>
                  <a:txBody>
                    <a:bodyPr/>
                    <a:lstStyle/>
                    <a:p>
                      <a:pPr lvl="0" indent="0" marL="0">
                        <a:buNone/>
                      </a:pPr>
                      <a:r>
                        <a:rPr/>
                        <a:t>0.9416</a:t>
                      </a:r>
                    </a:p>
                  </a:txBody>
                </a:tc>
              </a:tr>
              <a:tr h="0">
                <a:tc>
                  <a:txBody>
                    <a:bodyPr/>
                    <a:lstStyle/>
                    <a:p>
                      <a:pPr lvl="0" indent="0" marL="0">
                        <a:buNone/>
                      </a:pPr>
                      <a:r>
                        <a:rPr/>
                        <a:t>SLOPE</a:t>
                      </a:r>
                    </a:p>
                  </a:txBody>
                </a:tc>
                <a:tc>
                  <a:txBody>
                    <a:bodyPr/>
                    <a:lstStyle/>
                    <a:p>
                      <a:pPr lvl="0" indent="0" marL="0">
                        <a:buNone/>
                      </a:pPr>
                      <a:r>
                        <a:rPr/>
                        <a:t>Average Longitudinal Slope (%)</a:t>
                      </a:r>
                    </a:p>
                  </a:txBody>
                </a:tc>
                <a:tc>
                  <a:txBody>
                    <a:bodyPr/>
                    <a:lstStyle/>
                    <a:p>
                      <a:pPr lvl="0" indent="0" marL="0">
                        <a:buNone/>
                      </a:pPr>
                      <a:r>
                        <a:rPr/>
                        <a:t>-1.1840</a:t>
                      </a:r>
                    </a:p>
                  </a:txBody>
                </a:tc>
                <a:tc>
                  <a:txBody>
                    <a:bodyPr/>
                    <a:lstStyle/>
                    <a:p>
                      <a:pPr lvl="0" indent="0" marL="0">
                        <a:buNone/>
                      </a:pPr>
                      <a:r>
                        <a:rPr/>
                        <a:t>0.2324</a:t>
                      </a:r>
                    </a:p>
                  </a:txBody>
                </a:tc>
              </a:tr>
              <a:tr h="0">
                <a:tc>
                  <a:txBody>
                    <a:bodyPr/>
                    <a:lstStyle/>
                    <a:p>
                      <a:pPr lvl="0" indent="0" marL="0">
                        <a:buNone/>
                      </a:pPr>
                      <a:r>
                        <a:rPr/>
                        <a:t>SPEED</a:t>
                      </a:r>
                    </a:p>
                  </a:txBody>
                </a:tc>
                <a:tc>
                  <a:txBody>
                    <a:bodyPr/>
                    <a:lstStyle/>
                    <a:p>
                      <a:pPr lvl="0" indent="0" marL="0">
                        <a:buNone/>
                      </a:pPr>
                      <a:r>
                        <a:rPr/>
                        <a:t>Posted Speed Limit (mph)</a:t>
                      </a:r>
                    </a:p>
                  </a:txBody>
                </a:tc>
                <a:tc>
                  <a:txBody>
                    <a:bodyPr/>
                    <a:lstStyle/>
                    <a:p>
                      <a:pPr lvl="0" indent="0" marL="0">
                        <a:buNone/>
                      </a:pPr>
                      <a:r>
                        <a:rPr/>
                        <a:t>-0.0669</a:t>
                      </a:r>
                    </a:p>
                  </a:txBody>
                </a:tc>
                <a:tc>
                  <a:txBody>
                    <a:bodyPr/>
                    <a:lstStyle/>
                    <a:p>
                      <a:pPr lvl="0" indent="0" marL="0">
                        <a:buNone/>
                      </a:pPr>
                      <a:r>
                        <a:rPr/>
                        <a:t>0.9881</a:t>
                      </a:r>
                    </a:p>
                  </a:txBody>
                </a:tc>
              </a:tr>
              <a:tr h="0">
                <a:tc>
                  <a:txBody>
                    <a:bodyPr/>
                    <a:lstStyle/>
                    <a:p>
                      <a:pPr lvl="0" indent="0" marL="0">
                        <a:buNone/>
                      </a:pPr>
                      <a:r>
                        <a:rPr/>
                        <a:t>WIDTH</a:t>
                      </a:r>
                    </a:p>
                  </a:txBody>
                </a:tc>
                <a:tc>
                  <a:txBody>
                    <a:bodyPr/>
                    <a:lstStyle/>
                    <a:p>
                      <a:pPr lvl="0" indent="0" marL="0">
                        <a:buNone/>
                      </a:pPr>
                      <a:r>
                        <a:rPr/>
                        <a:t>Lane Width (ft)</a:t>
                      </a:r>
                    </a:p>
                  </a:txBody>
                </a:tc>
                <a:tc>
                  <a:txBody>
                    <a:bodyPr/>
                    <a:lstStyle/>
                    <a:p>
                      <a:pPr lvl="0" indent="0" marL="0">
                        <a:buNone/>
                      </a:pPr>
                      <a:r>
                        <a:rPr/>
                        <a:t>-1.5104</a:t>
                      </a:r>
                    </a:p>
                  </a:txBody>
                </a:tc>
                <a:tc>
                  <a:txBody>
                    <a:bodyPr/>
                    <a:lstStyle/>
                    <a:p>
                      <a:pPr lvl="0" indent="0" marL="0">
                        <a:buNone/>
                      </a:pPr>
                      <a:r>
                        <a:rPr/>
                        <a:t>0.9107</a:t>
                      </a:r>
                    </a:p>
                  </a:txBody>
                </a:tc>
              </a:tr>
            </a:tbl>
          </a:graphicData>
        </a:graphic>
      </p:graphicFrame>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buNone/>
                </a:pPr>
                <a:r>
                  <a:rPr b="1"/>
                  <a:t>Lower terms — modify AADT elasticity</a:t>
                </a:r>
              </a:p>
              <a:p>
                <a:pPr lvl="0" indent="0" marL="0">
                  <a:buNone/>
                </a:pPr>
                <a14:m>
                  <m:oMath xmlns:m="http://schemas.openxmlformats.org/officeDocument/2006/math">
                    <m:r>
                      <m:rPr>
                        <m:nor/>
                        <m:sty m:val="p"/>
                      </m:rPr>
                      <m:t>CMF</m:t>
                    </m:r>
                    <m:d>
                      <m:dPr>
                        <m:begChr m:val="("/>
                        <m:sepChr m:val=""/>
                        <m:endChr m:val=")"/>
                        <m:grow/>
                      </m:dPr>
                      <m:e>
                        <m:r>
                          <m:rPr>
                            <m:nor/>
                            <m:sty m:val="p"/>
                          </m:rPr>
                          <m:t>AADT</m:t>
                        </m:r>
                      </m:e>
                    </m:d>
                    <m:r>
                      <m:rPr>
                        <m:sty m:val="p"/>
                      </m:rPr>
                      <m:t>=</m:t>
                    </m:r>
                    <m:sSup>
                      <m:e>
                        <m:r>
                          <m:rPr>
                            <m:nor/>
                            <m:sty m:val="p"/>
                          </m:rPr>
                          <m:t>AADT</m:t>
                        </m:r>
                      </m:e>
                      <m:sup>
                        <m:r>
                          <m:t> </m:t>
                        </m:r>
                        <m:r>
                          <m:t>γ</m:t>
                        </m:r>
                        <m:r>
                          <m:t> </m:t>
                        </m:r>
                        <m:r>
                          <m:t>Δ</m:t>
                        </m:r>
                        <m:r>
                          <m:t>x</m:t>
                        </m:r>
                      </m:sup>
                    </m:sSup>
                  </m:oMath>
                </a14:m>
              </a:p>
            </p:txBody>
          </p:sp>
        </mc:Choice>
      </mc:AlternateContent>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Variable</a:t>
                      </a:r>
                    </a:p>
                  </a:txBody>
                  <a:tcPr/>
                </a:tc>
                <a:tc>
                  <a:txBody>
                    <a:bodyPr/>
                    <a:lstStyle/>
                    <a:p>
                      <a:pPr lvl="0" indent="0" marL="0">
                        <a:buNone/>
                      </a:pPr>
                      <a:r>
                        <a:rPr/>
                        <a:t>Full Name</a:t>
                      </a:r>
                    </a:p>
                  </a:txBody>
                  <a:tcPr/>
                </a:tc>
                <a:tc>
                  <a:txBody>
                    <a:bodyPr/>
                    <a:lstStyle/>
                    <a:p>
                      <a:pPr lvl="0" indent="0" marL="0">
                        <a:buNone/>
                      </a:pPr>
                      <a:r>
                        <a:rPr/>
                        <a:t>Coefficient</a:t>
                      </a:r>
                    </a:p>
                  </a:txBody>
                  <a:tcPr/>
                </a:tc>
              </a:tr>
              <a:tr h="0">
                <a:tc>
                  <a:txBody>
                    <a:bodyPr/>
                    <a:lstStyle/>
                    <a:p>
                      <a:pPr lvl="0" indent="0" marL="0">
                        <a:buNone/>
                      </a:pPr>
                      <a:r>
                        <a:rPr/>
                        <a:t>AVEPRE</a:t>
                      </a:r>
                    </a:p>
                  </a:txBody>
                </a:tc>
                <a:tc>
                  <a:txBody>
                    <a:bodyPr/>
                    <a:lstStyle/>
                    <a:p>
                      <a:pPr lvl="0" indent="0" marL="0">
                        <a:buNone/>
                      </a:pPr>
                      <a:r>
                        <a:rPr/>
                        <a:t>Average Annual Precipitation (in/yr)</a:t>
                      </a:r>
                    </a:p>
                  </a:txBody>
                </a:tc>
                <a:tc>
                  <a:txBody>
                    <a:bodyPr/>
                    <a:lstStyle/>
                    <a:p>
                      <a:pPr lvl="0" indent="0" marL="0">
                        <a:buNone/>
                      </a:pPr>
                      <a:r>
                        <a:rPr/>
                        <a:t>+0.0141</a:t>
                      </a:r>
                    </a:p>
                  </a:txBody>
                </a:tc>
              </a:tr>
              <a:tr h="0">
                <a:tc>
                  <a:txBody>
                    <a:bodyPr/>
                    <a:lstStyle/>
                    <a:p>
                      <a:pPr lvl="0" indent="0" marL="0">
                        <a:buNone/>
                      </a:pPr>
                      <a:r>
                        <a:rPr/>
                        <a:t>SLOPE</a:t>
                      </a:r>
                    </a:p>
                  </a:txBody>
                </a:tc>
                <a:tc>
                  <a:txBody>
                    <a:bodyPr/>
                    <a:lstStyle/>
                    <a:p>
                      <a:pPr lvl="0" indent="0" marL="0">
                        <a:buNone/>
                      </a:pPr>
                      <a:r>
                        <a:rPr/>
                        <a:t>Average Longitudinal Slope (%)</a:t>
                      </a:r>
                    </a:p>
                  </a:txBody>
                </a:tc>
                <a:tc>
                  <a:txBody>
                    <a:bodyPr/>
                    <a:lstStyle/>
                    <a:p>
                      <a:pPr lvl="0" indent="0" marL="0">
                        <a:buNone/>
                      </a:pPr>
                      <a:r>
                        <a:rPr/>
                        <a:t>+0.1210</a:t>
                      </a:r>
                    </a:p>
                  </a:txBody>
                </a:tc>
              </a:tr>
              <a:tr h="0">
                <a:tc>
                  <a:txBody>
                    <a:bodyPr/>
                    <a:lstStyle/>
                    <a:p>
                      <a:pPr lvl="0" indent="0" marL="0">
                        <a:buNone/>
                      </a:pPr>
                      <a:r>
                        <a:rPr/>
                        <a:t>WIDTH</a:t>
                      </a:r>
                    </a:p>
                  </a:txBody>
                </a:tc>
                <a:tc>
                  <a:txBody>
                    <a:bodyPr/>
                    <a:lstStyle/>
                    <a:p>
                      <a:pPr lvl="0" indent="0" marL="0">
                        <a:buNone/>
                      </a:pPr>
                      <a:r>
                        <a:rPr/>
                        <a:t>Lane Width (ft)</a:t>
                      </a:r>
                    </a:p>
                  </a:txBody>
                </a:tc>
                <a:tc>
                  <a:txBody>
                    <a:bodyPr/>
                    <a:lstStyle/>
                    <a:p>
                      <a:pPr lvl="0" indent="0" marL="0">
                        <a:buNone/>
                      </a:pPr>
                      <a:r>
                        <a:rPr/>
                        <a:t>+0.1163</a:t>
                      </a:r>
                    </a:p>
                  </a:txBody>
                </a:tc>
              </a:tr>
            </a:tbl>
          </a:graphicData>
        </a:graphic>
      </p:graphicFrame>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Benchmark Comparison</a:t>
            </a:r>
          </a:p>
        </p:txBody>
      </p:sp>
      <p:sp>
        <p:nvSpPr>
          <p:cNvPr id="4" name="Text Placeholder 3"/>
          <p:cNvSpPr>
            <a:spLocks noGrp="1"/>
          </p:cNvSpPr>
          <p:nvPr>
            <p:ph idx="2" sz="half" type="body"/>
          </p:nvPr>
        </p:nvSpPr>
        <p:spPr/>
        <p:txBody>
          <a:bodyPr/>
          <a:lstStyle/>
          <a:p>
            <a:pPr lvl="0" indent="0" marL="0">
              <a:spcBef>
                <a:spcPts val="3000"/>
              </a:spcBef>
              <a:buNone/>
            </a:pPr>
            <a:r>
              <a:rPr b="1"/>
              <a:t>Hierarchical CMF vs Benchmark — key metrics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209800"/>
                <a:gridCol w="444500"/>
                <a:gridCol w="444500"/>
                <a:gridCol w="571500"/>
                <a:gridCol w="1003300"/>
                <a:gridCol w="444500"/>
              </a:tblGrid>
              <a:tr h="0">
                <a:tc>
                  <a:txBody>
                    <a:bodyPr/>
                    <a:lstStyle/>
                    <a:p>
                      <a:pPr lvl="0" indent="0" marL="0">
                        <a:buNone/>
                      </a:pPr>
                      <a:r>
                        <a:rPr/>
                        <a:t>Model</a:t>
                      </a:r>
                    </a:p>
                  </a:txBody>
                  <a:tcPr/>
                </a:tc>
                <a:tc>
                  <a:txBody>
                    <a:bodyPr/>
                    <a:lstStyle/>
                    <a:p>
                      <a:pPr lvl="0" indent="0" marL="0">
                        <a:buNone/>
                      </a:pPr>
                      <a:r>
                        <a:rPr/>
                        <a:t>BIC</a:t>
                      </a:r>
                    </a:p>
                  </a:txBody>
                  <a:tcPr/>
                </a:tc>
                <a:tc>
                  <a:txBody>
                    <a:bodyPr/>
                    <a:lstStyle/>
                    <a:p>
                      <a:pPr lvl="0" indent="0" marL="0">
                        <a:buNone/>
                      </a:pPr>
                      <a:r>
                        <a:rPr/>
                        <a:t>AIC</a:t>
                      </a:r>
                    </a:p>
                  </a:txBody>
                  <a:tcPr/>
                </a:tc>
                <a:tc>
                  <a:txBody>
                    <a:bodyPr/>
                    <a:lstStyle/>
                    <a:p>
                      <a:pPr lvl="0" indent="0" marL="0">
                        <a:buNone/>
                      </a:pPr>
                      <a:r>
                        <a:rPr/>
                        <a:t>Test RMSE</a:t>
                      </a:r>
                    </a:p>
                  </a:txBody>
                  <a:tcPr/>
                </a:tc>
                <a:tc>
                  <a:txBody>
                    <a:bodyPr/>
                    <a:lstStyle/>
                    <a:p>
                      <a:pPr lvl="0" indent="0" marL="0">
                        <a:buNone/>
                      </a:pPr>
                      <a:r>
                        <a:rPr/>
                        <a:t>Test Poisson Dev</a:t>
                      </a:r>
                    </a:p>
                  </a:txBody>
                  <a:tcPr/>
                </a:tc>
                <a:tc>
                  <a:txBody>
                    <a:bodyPr/>
                    <a:lstStyle/>
                    <a:p>
                      <a:pPr lvl="0" indent="0" marL="0">
                        <a:buNone/>
                      </a:pPr>
                      <a:r>
                        <a:rPr/>
                        <a:t>Test R2</a:t>
                      </a:r>
                    </a:p>
                  </a:txBody>
                  <a:tcPr/>
                </a:tc>
              </a:tr>
              <a:tr h="0">
                <a:tc>
                  <a:txBody>
                    <a:bodyPr/>
                    <a:lstStyle/>
                    <a:p>
                      <a:pPr lvl="0" indent="0" marL="0">
                        <a:buNone/>
                      </a:pPr>
                      <a:r>
                        <a:rPr/>
                        <a:t>Benchmark (Ex16-3 literature model)</a:t>
                      </a:r>
                    </a:p>
                  </a:txBody>
                </a:tc>
                <a:tc>
                  <a:txBody>
                    <a:bodyPr/>
                    <a:lstStyle/>
                    <a:p>
                      <a:pPr lvl="0" indent="0" marL="0">
                        <a:buNone/>
                      </a:pPr>
                      <a:r>
                        <a:rPr/>
                        <a:t>1607.72</a:t>
                      </a:r>
                    </a:p>
                  </a:txBody>
                </a:tc>
                <a:tc>
                  <a:txBody>
                    <a:bodyPr/>
                    <a:lstStyle/>
                    <a:p>
                      <a:pPr lvl="0" indent="0" marL="0">
                        <a:buNone/>
                      </a:pPr>
                      <a:r>
                        <a:rPr/>
                        <a:t>1577.18</a:t>
                      </a:r>
                    </a:p>
                  </a:txBody>
                </a:tc>
                <a:tc>
                  <a:txBody>
                    <a:bodyPr/>
                    <a:lstStyle/>
                    <a:p>
                      <a:pPr lvl="0" indent="0" marL="0">
                        <a:buNone/>
                      </a:pPr>
                      <a:r>
                        <a:rPr/>
                        <a:t>14.186</a:t>
                      </a:r>
                    </a:p>
                  </a:txBody>
                </a:tc>
                <a:tc>
                  <a:txBody>
                    <a:bodyPr/>
                    <a:lstStyle/>
                    <a:p>
                      <a:pPr lvl="0" indent="0" marL="0">
                        <a:buNone/>
                      </a:pPr>
                      <a:r>
                        <a:rPr/>
                        <a:t>315.17</a:t>
                      </a:r>
                    </a:p>
                  </a:txBody>
                </a:tc>
                <a:tc>
                  <a:txBody>
                    <a:bodyPr/>
                    <a:lstStyle/>
                    <a:p>
                      <a:pPr lvl="0" indent="0" marL="0">
                        <a:buNone/>
                      </a:pPr>
                      <a:r>
                        <a:rPr/>
                        <a:t>0.5432</a:t>
                      </a:r>
                    </a:p>
                  </a:txBody>
                </a:tc>
              </a:tr>
              <a:tr h="0">
                <a:tc>
                  <a:txBody>
                    <a:bodyPr/>
                    <a:lstStyle/>
                    <a:p>
                      <a:pPr lvl="0" indent="0" marL="0">
                        <a:buNone/>
                      </a:pPr>
                      <a:r>
                        <a:rPr/>
                        <a:t>Hierarchical CMF (selected)</a:t>
                      </a:r>
                    </a:p>
                  </a:txBody>
                </a:tc>
                <a:tc>
                  <a:txBody>
                    <a:bodyPr/>
                    <a:lstStyle/>
                    <a:p>
                      <a:pPr lvl="0" indent="0" marL="0">
                        <a:buNone/>
                      </a:pPr>
                      <a:r>
                        <a:rPr/>
                        <a:t>1593.77</a:t>
                      </a:r>
                    </a:p>
                  </a:txBody>
                </a:tc>
                <a:tc>
                  <a:txBody>
                    <a:bodyPr/>
                    <a:lstStyle/>
                    <a:p>
                      <a:pPr lvl="0" indent="0" marL="0">
                        <a:buNone/>
                      </a:pPr>
                      <a:r>
                        <a:rPr/>
                        <a:t>1556.44</a:t>
                      </a:r>
                    </a:p>
                  </a:txBody>
                </a:tc>
                <a:tc>
                  <a:txBody>
                    <a:bodyPr/>
                    <a:lstStyle/>
                    <a:p>
                      <a:pPr lvl="0" indent="0" marL="0">
                        <a:buNone/>
                      </a:pPr>
                      <a:r>
                        <a:rPr/>
                        <a:t>12.8741</a:t>
                      </a:r>
                    </a:p>
                  </a:txBody>
                </a:tc>
                <a:tc>
                  <a:txBody>
                    <a:bodyPr/>
                    <a:lstStyle/>
                    <a:p>
                      <a:pPr lvl="0" indent="0" marL="0">
                        <a:buNone/>
                      </a:pPr>
                      <a:r>
                        <a:rPr/>
                        <a:t>308.15</a:t>
                      </a:r>
                    </a:p>
                  </a:txBody>
                </a:tc>
                <a:tc>
                  <a:txBody>
                    <a:bodyPr/>
                    <a:lstStyle/>
                    <a:p>
                      <a:pPr lvl="0" indent="0" marL="0">
                        <a:buNone/>
                      </a:pPr>
                      <a:r>
                        <a:rPr/>
                        <a:t>0.6238</a:t>
                      </a:r>
                    </a:p>
                  </a:txBody>
                </a:tc>
              </a:tr>
            </a:tbl>
          </a:graphicData>
        </a:graphic>
      </p:graphicFrame>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idx="1" type="body"/>
          </p:nvPr>
        </p:nvSpPr>
        <p:spPr/>
        <p:txBody>
          <a:bodyPr/>
          <a:lstStyle/>
          <a:p>
            <a:pPr lvl="0" indent="0" marL="0">
              <a:buNone/>
            </a:pPr>
            <a:r>
              <a:rPr b="1"/>
              <a:t>What the numbers mean</a:t>
            </a:r>
          </a:p>
        </p:txBody>
      </p:sp>
      <p:graphicFrame>
        <p:nvGraphicFramePr>
          <p:cNvPr id="6" name="Content Placeholder 5"/>
          <p:cNvGraphicFramePr>
            <a:graphicFrameLocks noGrp="1"/>
          </p:cNvGraphicFramePr>
          <p:nvPr>
            <p:ph idx="1"/>
          </p:nvPr>
        </p:nvGraphicFramePr>
        <p:xfrm>
          <a:off x="457200" y="1625600"/>
          <a:ext cx="4038600" cy="2959100"/>
        </p:xfrm>
        <a:graphic>
          <a:graphicData uri="http://schemas.openxmlformats.org/drawingml/2006/table">
            <a:tbl>
              <a:tblPr firstRow="1" bandRow="1">
                <a:tableStyleId>{5C22544A-7EE6-4342-B048-85BDC9FD1C3A}</a:tableStyleId>
              </a:tblPr>
              <a:tblGrid>
                <a:gridCol w="1346200"/>
                <a:gridCol w="1346200"/>
                <a:gridCol w="1346200"/>
              </a:tblGrid>
              <a:tr h="0">
                <a:tc>
                  <a:txBody>
                    <a:bodyPr/>
                    <a:lstStyle/>
                    <a:p>
                      <a:pPr lvl="0" indent="0" marL="0">
                        <a:buNone/>
                      </a:pPr>
                      <a:r>
                        <a:rPr/>
                        <a:t>Metric</a:t>
                      </a:r>
                    </a:p>
                  </a:txBody>
                  <a:tcPr/>
                </a:tc>
                <a:tc>
                  <a:txBody>
                    <a:bodyPr/>
                    <a:lstStyle/>
                    <a:p>
                      <a:pPr lvl="0" indent="0" marL="0">
                        <a:buNone/>
                      </a:pPr>
                      <a:r>
                        <a:rPr/>
                        <a:t>Better is…</a:t>
                      </a:r>
                    </a:p>
                  </a:txBody>
                  <a:tcPr/>
                </a:tc>
                <a:tc>
                  <a:txBody>
                    <a:bodyPr/>
                    <a:lstStyle/>
                    <a:p>
                      <a:pPr lvl="0" indent="0" marL="0">
                        <a:buNone/>
                      </a:pPr>
                      <a:r>
                        <a:rPr/>
                        <a:t>Result</a:t>
                      </a:r>
                    </a:p>
                  </a:txBody>
                  <a:tcPr/>
                </a:tc>
              </a:tr>
              <a:tr h="0">
                <a:tc>
                  <a:txBody>
                    <a:bodyPr/>
                    <a:lstStyle/>
                    <a:p>
                      <a:pPr lvl="0" indent="0" marL="0">
                        <a:buNone/>
                      </a:pPr>
                      <a:r>
                        <a:rPr/>
                        <a:t>BIC</a:t>
                      </a:r>
                    </a:p>
                  </a:txBody>
                </a:tc>
                <a:tc>
                  <a:txBody>
                    <a:bodyPr/>
                    <a:lstStyle/>
                    <a:p>
                      <a:pPr lvl="0" indent="0" marL="0">
                        <a:buNone/>
                      </a:pPr>
                      <a:r>
                        <a:rPr/>
                        <a:t>Lower</a:t>
                      </a:r>
                    </a:p>
                  </a:txBody>
                </a:tc>
                <a:tc>
                  <a:txBody>
                    <a:bodyPr/>
                    <a:lstStyle/>
                    <a:p>
                      <a:pPr lvl="0" indent="0" marL="0">
                        <a:buNone/>
                      </a:pPr>
                      <a:r>
                        <a:rPr/>
                        <a:t>Hierarchical wins</a:t>
                      </a:r>
                    </a:p>
                  </a:txBody>
                </a:tc>
              </a:tr>
              <a:tr h="0">
                <a:tc>
                  <a:txBody>
                    <a:bodyPr/>
                    <a:lstStyle/>
                    <a:p>
                      <a:pPr lvl="0" indent="0" marL="0">
                        <a:buNone/>
                      </a:pPr>
                      <a:r>
                        <a:rPr/>
                        <a:t>Test RMSE</a:t>
                      </a:r>
                    </a:p>
                  </a:txBody>
                </a:tc>
                <a:tc>
                  <a:txBody>
                    <a:bodyPr/>
                    <a:lstStyle/>
                    <a:p>
                      <a:pPr lvl="0" indent="0" marL="0">
                        <a:buNone/>
                      </a:pPr>
                      <a:r>
                        <a:rPr/>
                        <a:t>Lower</a:t>
                      </a:r>
                    </a:p>
                  </a:txBody>
                </a:tc>
                <a:tc>
                  <a:txBody>
                    <a:bodyPr/>
                    <a:lstStyle/>
                    <a:p>
                      <a:pPr lvl="0" indent="0" marL="0">
                        <a:buNone/>
                      </a:pPr>
                      <a:r>
                        <a:rPr/>
                        <a:t>Hierarchical wins</a:t>
                      </a:r>
                    </a:p>
                  </a:txBody>
                </a:tc>
              </a:tr>
              <a:tr h="0">
                <a:tc>
                  <a:txBody>
                    <a:bodyPr/>
                    <a:lstStyle/>
                    <a:p>
                      <a:pPr lvl="0" indent="0" marL="0">
                        <a:buNone/>
                      </a:pPr>
                      <a:r>
                        <a:rPr/>
                        <a:t>Test R²</a:t>
                      </a:r>
                    </a:p>
                  </a:txBody>
                </a:tc>
                <a:tc>
                  <a:txBody>
                    <a:bodyPr/>
                    <a:lstStyle/>
                    <a:p>
                      <a:pPr lvl="0" indent="0" marL="0">
                        <a:buNone/>
                      </a:pPr>
                      <a:r>
                        <a:rPr/>
                        <a:t>Higher</a:t>
                      </a:r>
                    </a:p>
                  </a:txBody>
                </a:tc>
                <a:tc>
                  <a:txBody>
                    <a:bodyPr/>
                    <a:lstStyle/>
                    <a:p>
                      <a:pPr lvl="0" indent="0" marL="0">
                        <a:buNone/>
                      </a:pPr>
                      <a:r>
                        <a:rPr/>
                        <a:t>Hierarchical wins</a:t>
                      </a:r>
                    </a:p>
                  </a:txBody>
                </a:tc>
              </a:tr>
            </a:tbl>
          </a:graphicData>
        </a:graphic>
      </p:graphicFrame>
      <p:sp>
        <p:nvSpPr>
          <p:cNvPr id="4" name="Content Placeholder 3"/>
          <p:cNvSpPr>
            <a:spLocks noGrp="1"/>
          </p:cNvSpPr>
          <p:nvPr>
            <p:ph idx="2" sz="half"/>
          </p:nvPr>
        </p:nvSpPr>
        <p:spPr/>
        <p:txBody>
          <a:bodyPr/>
          <a:lstStyle/>
          <a:p>
            <a:pPr lvl="0"/>
            <a:r>
              <a:rPr/>
              <a:t>Lower BIC = model improvement is genuine, not overfitting</a:t>
            </a:r>
          </a:p>
          <a:p>
            <a:pPr lvl="0"/>
            <a:r>
              <a:rPr/>
              <a:t>Lower RMSE = better predictions on unseen segments</a:t>
            </a:r>
          </a:p>
          <a:p>
            <a:pPr lvl="0"/>
            <a:r>
              <a:rPr/>
              <a:t>Higher R² = more crash variance explained</a:t>
            </a:r>
          </a:p>
        </p:txBody>
      </p:sp>
      <p:sp>
        <p:nvSpPr>
          <p:cNvPr id="5" name="Text Placeholder 4"/>
          <p:cNvSpPr>
            <a:spLocks noGrp="1"/>
          </p:cNvSpPr>
          <p:nvPr>
            <p:ph idx="3" sz="quarter" type="body"/>
          </p:nvPr>
        </p:nvSpPr>
        <p:spPr/>
        <p:txBody>
          <a:bodyPr/>
          <a:lstStyle/>
          <a:p>
            <a:pPr lvl="0" indent="0" marL="0">
              <a:buNone/>
            </a:pPr>
            <a:r>
              <a:rPr b="1"/>
              <a:t>Model difference</a:t>
            </a:r>
          </a:p>
        </p:txBody>
      </p:sp>
      <p:graphicFrame>
        <p:nvGraphicFramePr>
          <p:cNvPr id="6" name="Content Placeholder 5"/>
          <p:cNvGraphicFramePr>
            <a:graphicFrameLocks noGrp="1"/>
          </p:cNvGraphicFramePr>
          <p:nvPr>
            <p:ph idx="1"/>
          </p:nvPr>
        </p:nvGraphicFramePr>
        <p:xfrm>
          <a:off x="4635500" y="1625600"/>
          <a:ext cx="4038600" cy="2959100"/>
        </p:xfrm>
        <a:graphic>
          <a:graphicData uri="http://schemas.openxmlformats.org/drawingml/2006/table">
            <a:tbl>
              <a:tblPr firstRow="1" bandRow="1">
                <a:tableStyleId>{5C22544A-7EE6-4342-B048-85BDC9FD1C3A}</a:tableStyleId>
              </a:tblPr>
              <a:tblGrid>
                <a:gridCol w="1346200"/>
                <a:gridCol w="1346200"/>
                <a:gridCol w="1346200"/>
              </a:tblGrid>
              <a:tr h="0">
                <a:tc>
                  <a:txBody>
                    <a:bodyPr/>
                    <a:lstStyle/>
                    <a:p>
                      <a:pPr lvl="0" indent="0" marL="0">
                        <a:buNone/>
                      </a:pPr>
                      <a:r>
                        <a:rPr/>
                        <a:t>Feature</a:t>
                      </a:r>
                    </a:p>
                  </a:txBody>
                  <a:tcPr/>
                </a:tc>
                <a:tc>
                  <a:txBody>
                    <a:bodyPr/>
                    <a:lstStyle/>
                    <a:p>
                      <a:pPr lvl="0" indent="0" marL="0">
                        <a:buNone/>
                      </a:pPr>
                      <a:r>
                        <a:rPr/>
                        <a:t>Benchmark</a:t>
                      </a:r>
                    </a:p>
                  </a:txBody>
                  <a:tcPr/>
                </a:tc>
                <a:tc>
                  <a:txBody>
                    <a:bodyPr/>
                    <a:lstStyle/>
                    <a:p>
                      <a:pPr lvl="0" indent="0" marL="0">
                        <a:buNone/>
                      </a:pPr>
                      <a:r>
                        <a:rPr/>
                        <a:t>Hierarchical</a:t>
                      </a:r>
                    </a:p>
                  </a:txBody>
                  <a:tcPr/>
                </a:tc>
              </a:tr>
              <a:tr h="0">
                <a:tc>
                  <a:txBody>
                    <a:bodyPr/>
                    <a:lstStyle/>
                    <a:p>
                      <a:pPr lvl="0" indent="0" marL="0">
                        <a:buNone/>
                      </a:pPr>
                      <a:r>
                        <a:rPr/>
                        <a:t>AADT coefficient</a:t>
                      </a:r>
                    </a:p>
                  </a:txBody>
                </a:tc>
                <a:tc>
                  <a:txBody>
                    <a:bodyPr/>
                    <a:lstStyle/>
                    <a:p>
                      <a:pPr lvl="0" indent="0" marL="0">
                        <a:buNone/>
                      </a:pPr>
                      <a:r>
                        <a:rPr/>
                        <a:t>Fixed = 1.0</a:t>
                      </a:r>
                    </a:p>
                  </a:txBody>
                </a:tc>
                <a:tc>
                  <a:txBody>
                    <a:bodyPr/>
                    <a:lstStyle/>
                    <a:p>
                      <a:pPr lvl="0" indent="0" marL="0">
                        <a:buNone/>
                      </a:pPr>
                      <a:r>
                        <a:rPr/>
                        <a:t>Estimated elasticity</a:t>
                      </a:r>
                    </a:p>
                  </a:txBody>
                </a:tc>
              </a:tr>
              <a:tr h="0">
                <a:tc>
                  <a:txBody>
                    <a:bodyPr/>
                    <a:lstStyle/>
                    <a:p>
                      <a:pPr lvl="0" indent="0" marL="0">
                        <a:buNone/>
                      </a:pPr>
                      <a:r>
                        <a:rPr/>
                        <a:t>Variable CMFs</a:t>
                      </a:r>
                    </a:p>
                  </a:txBody>
                </a:tc>
                <a:tc>
                  <a:txBody>
                    <a:bodyPr/>
                    <a:lstStyle/>
                    <a:p>
                      <a:pPr lvl="0" indent="0" marL="0">
                        <a:buNone/>
                      </a:pPr>
                      <a:r>
                        <a:rPr/>
                        <a:t>Fixed only</a:t>
                      </a:r>
                    </a:p>
                  </a:txBody>
                </a:tc>
                <a:tc>
                  <a:txBody>
                    <a:bodyPr/>
                    <a:lstStyle/>
                    <a:p>
                      <a:pPr lvl="0" indent="0" marL="0">
                        <a:buNone/>
                      </a:pPr>
                      <a:r>
                        <a:rPr/>
                        <a:t>Fixed + AADT-varying</a:t>
                      </a:r>
                    </a:p>
                  </a:txBody>
                </a:tc>
              </a:tr>
              <a:tr h="0">
                <a:tc>
                  <a:txBody>
                    <a:bodyPr/>
                    <a:lstStyle/>
                    <a:p>
                      <a:pPr lvl="0" indent="0" marL="0">
                        <a:buNone/>
                      </a:pPr>
                      <a:r>
                        <a:rPr/>
                        <a:t>Site heterogeneity</a:t>
                      </a:r>
                    </a:p>
                  </a:txBody>
                </a:tc>
                <a:tc>
                  <a:txBody>
                    <a:bodyPr/>
                    <a:lstStyle/>
                    <a:p>
                      <a:pPr lvl="0" indent="0" marL="0">
                        <a:buNone/>
                      </a:pPr>
                      <a:r>
                        <a:rPr/>
                        <a:t>None</a:t>
                      </a:r>
                    </a:p>
                  </a:txBody>
                </a:tc>
                <a:tc>
                  <a:txBody>
                    <a:bodyPr/>
                    <a:lstStyle/>
                    <a:p>
                      <a:pPr lvl="0" indent="0" marL="0">
                        <a:buNone/>
                      </a:pPr>
                      <a:r>
                        <a:rPr/>
                        <a:t>Random parameters</a:t>
                      </a:r>
                    </a:p>
                  </a:txBody>
                </a:tc>
              </a:tr>
              <a:tr h="0">
                <a:tc>
                  <a:txBody>
                    <a:bodyPr/>
                    <a:lstStyle/>
                    <a:p>
                      <a:pPr lvl="0" indent="0" marL="0">
                        <a:buNone/>
                      </a:pPr>
                      <a:r>
                        <a:rPr/>
                        <a:t>AADT monotonicity</a:t>
                      </a:r>
                    </a:p>
                  </a:txBody>
                </a:tc>
                <a:tc>
                  <a:txBody>
                    <a:bodyPr/>
                    <a:lstStyle/>
                    <a:p>
                      <a:pPr lvl="0" indent="0" marL="0">
                        <a:buNone/>
                      </a:pPr>
                      <a:r>
                        <a:rPr/>
                        <a:t>Not enforced</a:t>
                      </a:r>
                    </a:p>
                  </a:txBody>
                </a:tc>
                <a:tc>
                  <a:txBody>
                    <a:bodyPr/>
                    <a:lstStyle/>
                    <a:p>
                      <a:pPr lvl="0" indent="0" marL="0">
                        <a:buNone/>
                      </a:pPr>
                      <a:r>
                        <a:rPr/>
                        <a:t>Enforced during search</a:t>
                      </a:r>
                    </a:p>
                  </a:txBody>
                </a:tc>
              </a:tr>
            </a:tbl>
          </a:graphicData>
        </a:graphic>
      </p:graphicFrame>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t>Metric scope note</a:t>
            </a:r>
          </a:p>
          <a:p>
            <a:pPr lvl="0"/>
            <a:r>
              <a:rPr/>
              <a:t>Search-convergence plots report </a:t>
            </a:r>
            <a:r>
              <a:rPr b="1"/>
              <a:t>validation metrics during selection</a:t>
            </a:r>
            <a:r>
              <a:rPr/>
              <a:t> (train-fit evaluated on validation split).</a:t>
            </a:r>
          </a:p>
          <a:p>
            <a:pPr lvl="0"/>
            <a:r>
              <a:rPr/>
              <a:t>Benchmark comparison slide reports </a:t>
            </a:r>
            <a:r>
              <a:rPr b="1"/>
              <a:t>held-out test metrics after final refit</a:t>
            </a:r>
            <a:r>
              <a:rPr/>
              <a:t> on train+validation.</a:t>
            </a:r>
          </a:p>
          <a:p>
            <a:pPr lvl="0"/>
            <a:r>
              <a:rPr/>
              <a:t>These numbers are expected to differ because they are computed on different splits and at different fit stages.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buNone/>
                      </a:pPr>
                      <a:r>
                        <a:rPr/>
                        <a:t>Parameter</a:t>
                      </a:r>
                    </a:p>
                  </a:txBody>
                  <a:tcPr/>
                </a:tc>
                <a:tc>
                  <a:txBody>
                    <a:bodyPr/>
                    <a:lstStyle/>
                    <a:p>
                      <a:pPr lvl="0" indent="0" marL="0">
                        <a:buNone/>
                      </a:pPr>
                      <a:r>
                        <a:rPr/>
                        <a:t>Benchmark coef</a:t>
                      </a:r>
                    </a:p>
                  </a:txBody>
                  <a:tcPr/>
                </a:tc>
                <a:tc>
                  <a:txBody>
                    <a:bodyPr/>
                    <a:lstStyle/>
                    <a:p>
                      <a:pPr lvl="0" indent="0" marL="0">
                        <a:buNone/>
                      </a:pPr>
                      <a:r>
                        <a:rPr/>
                        <a:t>Proposed coef</a:t>
                      </a:r>
                    </a:p>
                  </a:txBody>
                  <a:tcPr/>
                </a:tc>
                <a:tc>
                  <a:txBody>
                    <a:bodyPr/>
                    <a:lstStyle/>
                    <a:p>
                      <a:pPr lvl="0" indent="0" marL="0">
                        <a:buNone/>
                      </a:pPr>
                      <a:r>
                        <a:rPr/>
                        <a:t>Safety implication</a:t>
                      </a:r>
                    </a:p>
                  </a:txBody>
                  <a:tcPr/>
                </a:tc>
              </a:tr>
              <a:tr h="0">
                <a:tc>
                  <a:txBody>
                    <a:bodyPr/>
                    <a:lstStyle/>
                    <a:p>
                      <a:pPr lvl="0" indent="0" marL="0">
                        <a:buNone/>
                      </a:pPr>
                      <a:r>
                        <a:rPr/>
                        <a:t>Intercept</a:t>
                      </a:r>
                    </a:p>
                  </a:txBody>
                </a:tc>
                <a:tc>
                  <a:txBody>
                    <a:bodyPr/>
                    <a:lstStyle/>
                    <a:p>
                      <a:pPr lvl="0" indent="0" marL="0">
                        <a:buNone/>
                      </a:pPr>
                      <a:r>
                        <a:rPr/>
                        <a:t>-8.2280</a:t>
                      </a:r>
                    </a:p>
                  </a:txBody>
                </a:tc>
                <a:tc>
                  <a:txBody>
                    <a:bodyPr/>
                    <a:lstStyle/>
                    <a:p>
                      <a:pPr lvl="0" indent="0" marL="0">
                        <a:buNone/>
                      </a:pPr>
                      <a:r>
                        <a:rPr/>
                        <a:t>-7.0970</a:t>
                      </a:r>
                    </a:p>
                  </a:txBody>
                </a:tc>
                <a:tc>
                  <a:txBody>
                    <a:bodyPr/>
                    <a:lstStyle/>
                    <a:p>
                      <a:pPr lvl="0" indent="0" marL="0">
                        <a:buNone/>
                      </a:pPr>
                      <a:r>
                        <a:rPr/>
                        <a:t>higher value linked with lower crashes; weaker than benchmark</a:t>
                      </a:r>
                    </a:p>
                  </a:txBody>
                </a:tc>
              </a:tr>
              <a:tr h="0">
                <a:tc>
                  <a:txBody>
                    <a:bodyPr/>
                    <a:lstStyle/>
                    <a:p>
                      <a:pPr lvl="0" indent="0" marL="0">
                        <a:buNone/>
                      </a:pPr>
                      <a:r>
                        <a:rPr/>
                        <a:t>Average Longitudinal Slope (%)</a:t>
                      </a:r>
                    </a:p>
                  </a:txBody>
                </a:tc>
                <a:tc>
                  <a:txBody>
                    <a:bodyPr/>
                    <a:lstStyle/>
                    <a:p>
                      <a:endParaRPr/>
                    </a:p>
                  </a:txBody>
                </a:tc>
                <a:tc>
                  <a:txBody>
                    <a:bodyPr/>
                    <a:lstStyle/>
                    <a:p>
                      <a:pPr lvl="0" indent="0" marL="0">
                        <a:buNone/>
                      </a:pPr>
                      <a:r>
                        <a:rPr/>
                        <a:t>-1.4595</a:t>
                      </a:r>
                    </a:p>
                  </a:txBody>
                </a:tc>
                <a:tc>
                  <a:txBody>
                    <a:bodyPr/>
                    <a:lstStyle/>
                    <a:p>
                      <a:pPr lvl="0" indent="0" marL="0">
                        <a:buNone/>
                      </a:pPr>
                      <a:r>
                        <a:rPr/>
                        <a:t>higher value linked with lower crashes; new or benchmark-missing term</a:t>
                      </a:r>
                    </a:p>
                  </a:txBody>
                </a:tc>
              </a:tr>
              <a:tr h="0">
                <a:tc>
                  <a:txBody>
                    <a:bodyPr/>
                    <a:lstStyle/>
                    <a:p>
                      <a:pPr lvl="0" indent="0" marL="0">
                        <a:buNone/>
                      </a:pPr>
                      <a:r>
                        <a:rPr/>
                        <a:t>log(AADT)</a:t>
                      </a:r>
                    </a:p>
                  </a:txBody>
                </a:tc>
                <a:tc>
                  <a:txBody>
                    <a:bodyPr/>
                    <a:lstStyle/>
                    <a:p>
                      <a:endParaRPr/>
                    </a:p>
                  </a:txBody>
                </a:tc>
                <a:tc>
                  <a:txBody>
                    <a:bodyPr/>
                    <a:lstStyle/>
                    <a:p>
                      <a:pPr lvl="0" indent="0" marL="0">
                        <a:buNone/>
                      </a:pPr>
                      <a:r>
                        <a:rPr/>
                        <a:t>0.883433</a:t>
                      </a:r>
                    </a:p>
                  </a:txBody>
                </a:tc>
                <a:tc>
                  <a:txBody>
                    <a:bodyPr/>
                    <a:lstStyle/>
                    <a:p>
                      <a:pPr lvl="0" indent="0" marL="0">
                        <a:buNone/>
                      </a:pPr>
                      <a:r>
                        <a:rPr/>
                        <a:t>higher value linked with higher crashes; new or benchmark-missing term</a:t>
                      </a:r>
                    </a:p>
                  </a:txBody>
                </a:tc>
              </a:tr>
              <a:tr h="0">
                <a:tc>
                  <a:txBody>
                    <a:bodyPr/>
                    <a:lstStyle/>
                    <a:p>
                      <a:pPr lvl="0" indent="0" marL="0">
                        <a:buNone/>
                      </a:pPr>
                      <a:r>
                        <a:rPr/>
                        <a:t>Average Longitudinal Slope (%) x log(AADT)</a:t>
                      </a:r>
                    </a:p>
                  </a:txBody>
                </a:tc>
                <a:tc>
                  <a:txBody>
                    <a:bodyPr/>
                    <a:lstStyle/>
                    <a:p>
                      <a:endParaRPr/>
                    </a:p>
                  </a:txBody>
                </a:tc>
                <a:tc>
                  <a:txBody>
                    <a:bodyPr/>
                    <a:lstStyle/>
                    <a:p>
                      <a:pPr lvl="0" indent="0" marL="0">
                        <a:buNone/>
                      </a:pPr>
                      <a:r>
                        <a:rPr/>
                        <a:t>0.149102</a:t>
                      </a:r>
                    </a:p>
                  </a:txBody>
                </a:tc>
                <a:tc>
                  <a:txBody>
                    <a:bodyPr/>
                    <a:lstStyle/>
                    <a:p>
                      <a:pPr lvl="0" indent="0" marL="0">
                        <a:buNone/>
                      </a:pPr>
                      <a:r>
                        <a:rPr/>
                        <a:t>higher value linked with higher crashes; new or benchmark-missing term</a:t>
                      </a:r>
                    </a:p>
                  </a:txBody>
                </a:tc>
              </a:tr>
              <a:tr h="0">
                <a:tc>
                  <a:txBody>
                    <a:bodyPr/>
                    <a:lstStyle/>
                    <a:p>
                      <a:pPr lvl="0" indent="0" marL="0">
                        <a:buNone/>
                      </a:pPr>
                      <a:r>
                        <a:rPr/>
                        <a:t>Lane Width (ft)</a:t>
                      </a:r>
                    </a:p>
                  </a:txBody>
                </a:tc>
                <a:tc>
                  <a:txBody>
                    <a:bodyPr/>
                    <a:lstStyle/>
                    <a:p>
                      <a:endParaRPr/>
                    </a:p>
                  </a:txBody>
                </a:tc>
                <a:tc>
                  <a:txBody>
                    <a:bodyPr/>
                    <a:lstStyle/>
                    <a:p>
                      <a:pPr lvl="0" indent="0" marL="0">
                        <a:buNone/>
                      </a:pPr>
                      <a:r>
                        <a:rPr/>
                        <a:t>-0.093587</a:t>
                      </a:r>
                    </a:p>
                  </a:txBody>
                </a:tc>
                <a:tc>
                  <a:txBody>
                    <a:bodyPr/>
                    <a:lstStyle/>
                    <a:p>
                      <a:pPr lvl="0" indent="0" marL="0">
                        <a:buNone/>
                      </a:pPr>
                      <a:r>
                        <a:rPr/>
                        <a:t>higher value linked with lower crashes; new or benchmark-missing term</a:t>
                      </a:r>
                    </a:p>
                  </a:txBody>
                </a:tc>
              </a:tr>
              <a:tr h="0">
                <a:tc>
                  <a:txBody>
                    <a:bodyPr/>
                    <a:lstStyle/>
                    <a:p>
                      <a:pPr lvl="0" indent="0" marL="0">
                        <a:buNone/>
                      </a:pPr>
                      <a:r>
                        <a:rPr/>
                        <a:t>Minimum Vertical Grade (%)</a:t>
                      </a:r>
                    </a:p>
                  </a:txBody>
                </a:tc>
                <a:tc>
                  <a:txBody>
                    <a:bodyPr/>
                    <a:lstStyle/>
                    <a:p>
                      <a:endParaRPr/>
                    </a:p>
                  </a:txBody>
                </a:tc>
                <a:tc>
                  <a:txBody>
                    <a:bodyPr/>
                    <a:lstStyle/>
                    <a:p>
                      <a:pPr lvl="0" indent="0" marL="0">
                        <a:buNone/>
                      </a:pPr>
                      <a:r>
                        <a:rPr/>
                        <a:t>-0.060196</a:t>
                      </a:r>
                    </a:p>
                  </a:txBody>
                </a:tc>
                <a:tc>
                  <a:txBody>
                    <a:bodyPr/>
                    <a:lstStyle/>
                    <a:p>
                      <a:pPr lvl="0" indent="0" marL="0">
                        <a:buNone/>
                      </a:pPr>
                      <a:r>
                        <a:rPr/>
                        <a:t>higher value linked with lower crashes; new or benchmark-missing term</a:t>
                      </a:r>
                    </a:p>
                  </a:txBody>
                </a:tc>
              </a:tr>
              <a:tr h="0">
                <a:tc>
                  <a:txBody>
                    <a:bodyPr/>
                    <a:lstStyle/>
                    <a:p>
                      <a:pPr lvl="0" indent="0" marL="0">
                        <a:buNone/>
                      </a:pPr>
                      <a:r>
                        <a:rPr/>
                        <a:t>Number of Horizontal Curves (count)</a:t>
                      </a:r>
                    </a:p>
                  </a:txBody>
                </a:tc>
                <a:tc>
                  <a:txBody>
                    <a:bodyPr/>
                    <a:lstStyle/>
                    <a:p>
                      <a:endParaRPr/>
                    </a:p>
                  </a:txBody>
                </a:tc>
                <a:tc>
                  <a:txBody>
                    <a:bodyPr/>
                    <a:lstStyle/>
                    <a:p>
                      <a:pPr lvl="0" indent="0" marL="0">
                        <a:buNone/>
                      </a:pPr>
                      <a:r>
                        <a:rPr/>
                        <a:t>-0.022981</a:t>
                      </a:r>
                    </a:p>
                  </a:txBody>
                </a:tc>
                <a:tc>
                  <a:txBody>
                    <a:bodyPr/>
                    <a:lstStyle/>
                    <a:p>
                      <a:pPr lvl="0" indent="0" marL="0">
                        <a:buNone/>
                      </a:pPr>
                      <a:r>
                        <a:rPr/>
                        <a:t>higher value linked with lower crashes; new or benchmark-missing term</a:t>
                      </a:r>
                    </a:p>
                  </a:txBody>
                </a:tc>
              </a:tr>
              <a:tr h="0">
                <a:tc>
                  <a:txBody>
                    <a:bodyPr/>
                    <a:lstStyle/>
                    <a:p>
                      <a:pPr lvl="0" indent="0" marL="0">
                        <a:buNone/>
                      </a:pPr>
                      <a:r>
                        <a:rPr/>
                        <a:t>Posted Speed Limit (mph)</a:t>
                      </a:r>
                    </a:p>
                  </a:txBody>
                </a:tc>
                <a:tc>
                  <a:txBody>
                    <a:bodyPr/>
                    <a:lstStyle/>
                    <a:p>
                      <a:endParaRPr/>
                    </a:p>
                  </a:txBody>
                </a:tc>
                <a:tc>
                  <a:txBody>
                    <a:bodyPr/>
                    <a:lstStyle/>
                    <a:p>
                      <a:pPr lvl="0" indent="0" marL="0">
                        <a:buNone/>
                      </a:pPr>
                      <a:r>
                        <a:rPr/>
                        <a:t>-0.011960</a:t>
                      </a:r>
                    </a:p>
                  </a:txBody>
                </a:tc>
                <a:tc>
                  <a:txBody>
                    <a:bodyPr/>
                    <a:lstStyle/>
                    <a:p>
                      <a:pPr lvl="0" indent="0" marL="0">
                        <a:buNone/>
                      </a:pPr>
                      <a:r>
                        <a:rPr/>
                        <a:t>higher value linked with lower crashes; new or benchmark-missing term</a:t>
                      </a:r>
                    </a:p>
                  </a:txBody>
                </a:tc>
              </a:tr>
            </a:tbl>
          </a:graphicData>
        </a:graphic>
      </p:graphicFrame>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Side-by-Side Model Forms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Form</a:t>
                      </a:r>
                    </a:p>
                  </a:txBody>
                  <a:tcPr/>
                </a:tc>
                <a:tc>
                  <a:txBody>
                    <a:bodyPr/>
                    <a:lstStyle/>
                    <a:p>
                      <a:pPr lvl="0" indent="0" marL="0">
                        <a:buNone/>
                      </a:pPr>
                      <a:r>
                        <a:rPr/>
                        <a:t>Structure</a:t>
                      </a:r>
                    </a:p>
                  </a:txBody>
                  <a:tcPr/>
                </a:tc>
              </a:tr>
              <a:tr h="0">
                <a:tc>
                  <a:txBody>
                    <a:bodyPr/>
                    <a:lstStyle/>
                    <a:p>
                      <a:pPr lvl="0" indent="0" marL="0">
                        <a:buNone/>
                      </a:pPr>
                      <a:r>
                        <a:rPr/>
                        <a:t>Benchmark</a:t>
                      </a:r>
                    </a:p>
                  </a:txBody>
                </a:tc>
                <a:tc>
                  <a:txBody>
                    <a:bodyPr/>
                    <a:lstStyle/>
                    <a:p>
                      <a:pPr lvl="0" indent="0" marL="0">
                        <a:buNone/>
                      </a:pPr>
                      <a:r>
                        <a:rPr/>
                        <a:t>log(mu_hat) = alpha + log(AADT) + log(L) + sum(beta_j * x_j)</a:t>
                      </a:r>
                    </a:p>
                  </a:txBody>
                </a:tc>
              </a:tr>
              <a:tr h="0">
                <a:tc>
                  <a:txBody>
                    <a:bodyPr/>
                    <a:lstStyle/>
                    <a:p>
                      <a:pPr lvl="0" indent="0" marL="0">
                        <a:buNone/>
                      </a:pPr>
                      <a:r>
                        <a:rPr/>
                        <a:t>Hierarchical</a:t>
                      </a:r>
                    </a:p>
                  </a:txBody>
                </a:tc>
                <a:tc>
                  <a:txBody>
                    <a:bodyPr/>
                    <a:lstStyle/>
                    <a:p>
                      <a:pPr lvl="0" indent="0" marL="0">
                        <a:buNone/>
                      </a:pPr>
                      <a:r>
                        <a:rPr/>
                        <a:t>log(mu_hat) = alpha + beta_AADT</a:t>
                      </a:r>
                      <a:r>
                        <a:rPr i="1"/>
                        <a:t>log(A) + sum(beta_j</a:t>
                      </a:r>
                      <a:r>
                        <a:rPr/>
                        <a:t>x_j) + sum(gamma_k</a:t>
                      </a:r>
                      <a:r>
                        <a:rPr i="1"/>
                        <a:t>x_k</a:t>
                      </a:r>
                      <a:r>
                        <a:rPr/>
                        <a:t>log(A)) + log(L)</a:t>
                      </a:r>
                    </a:p>
                  </a:txBody>
                </a:tc>
              </a:tr>
            </a:tbl>
          </a:graphicData>
        </a:graphic>
      </p:graphicFrame>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pPr lvl="0" indent="0" marL="0">
                        <a:buNone/>
                      </a:pPr>
                      <a:r>
                        <a:rPr/>
                        <a:t>Main difference</a:t>
                      </a:r>
                    </a:p>
                  </a:txBody>
                  <a:tcPr/>
                </a:tc>
                <a:tc>
                  <a:txBody>
                    <a:bodyPr/>
                    <a:lstStyle/>
                    <a:p>
                      <a:pPr lvl="0" indent="0" marL="0">
                        <a:buNone/>
                      </a:pPr>
                      <a:r>
                        <a:rPr/>
                        <a:t>Benchmark</a:t>
                      </a:r>
                    </a:p>
                  </a:txBody>
                  <a:tcPr/>
                </a:tc>
                <a:tc>
                  <a:txBody>
                    <a:bodyPr/>
                    <a:lstStyle/>
                    <a:p>
                      <a:pPr lvl="0" indent="0" marL="0">
                        <a:buNone/>
                      </a:pPr>
                      <a:r>
                        <a:rPr/>
                        <a:t>Hierarchical</a:t>
                      </a:r>
                    </a:p>
                  </a:txBody>
                  <a:tcPr/>
                </a:tc>
              </a:tr>
              <a:tr h="0">
                <a:tc>
                  <a:txBody>
                    <a:bodyPr/>
                    <a:lstStyle/>
                    <a:p>
                      <a:pPr lvl="0" indent="0" marL="0">
                        <a:buNone/>
                      </a:pPr>
                      <a:r>
                        <a:rPr/>
                        <a:t>AADT slope</a:t>
                      </a:r>
                    </a:p>
                  </a:txBody>
                </a:tc>
                <a:tc>
                  <a:txBody>
                    <a:bodyPr/>
                    <a:lstStyle/>
                    <a:p>
                      <a:pPr lvl="0" indent="0" marL="0">
                        <a:buNone/>
                      </a:pPr>
                      <a:r>
                        <a:rPr/>
                        <a:t>Fixed at 1.0</a:t>
                      </a:r>
                    </a:p>
                  </a:txBody>
                </a:tc>
                <a:tc>
                  <a:txBody>
                    <a:bodyPr/>
                    <a:lstStyle/>
                    <a:p>
                      <a:pPr lvl="0" indent="0" marL="0">
                        <a:buNone/>
                      </a:pPr>
                      <a:r>
                        <a:rPr/>
                        <a:t>Estimated</a:t>
                      </a:r>
                    </a:p>
                  </a:txBody>
                </a:tc>
              </a:tr>
              <a:tr h="0">
                <a:tc>
                  <a:txBody>
                    <a:bodyPr/>
                    <a:lstStyle/>
                    <a:p>
                      <a:pPr lvl="0" indent="0" marL="0">
                        <a:buNone/>
                      </a:pPr>
                      <a:r>
                        <a:rPr/>
                        <a:t>CMFs</a:t>
                      </a:r>
                    </a:p>
                  </a:txBody>
                </a:tc>
                <a:tc>
                  <a:txBody>
                    <a:bodyPr/>
                    <a:lstStyle/>
                    <a:p>
                      <a:pPr lvl="0" indent="0" marL="0">
                        <a:buNone/>
                      </a:pPr>
                      <a:r>
                        <a:rPr/>
                        <a:t>Fixed only</a:t>
                      </a:r>
                    </a:p>
                  </a:txBody>
                </a:tc>
                <a:tc>
                  <a:txBody>
                    <a:bodyPr/>
                    <a:lstStyle/>
                    <a:p>
                      <a:pPr lvl="0" indent="0" marL="0">
                        <a:buNone/>
                      </a:pPr>
                      <a:r>
                        <a:rPr/>
                        <a:t>Fixed + traffic-varying</a:t>
                      </a:r>
                    </a:p>
                  </a:txBody>
                </a:tc>
              </a:tr>
              <a:tr h="0">
                <a:tc>
                  <a:txBody>
                    <a:bodyPr/>
                    <a:lstStyle/>
                    <a:p>
                      <a:pPr lvl="0" indent="0" marL="0">
                        <a:buNone/>
                      </a:pPr>
                      <a:r>
                        <a:rPr/>
                        <a:t>Heterogeneity</a:t>
                      </a:r>
                    </a:p>
                  </a:txBody>
                </a:tc>
                <a:tc>
                  <a:txBody>
                    <a:bodyPr/>
                    <a:lstStyle/>
                    <a:p>
                      <a:pPr lvl="0" indent="0" marL="0">
                        <a:buNone/>
                      </a:pPr>
                      <a:r>
                        <a:rPr/>
                        <a:t>None</a:t>
                      </a:r>
                    </a:p>
                  </a:txBody>
                </a:tc>
                <a:tc>
                  <a:txBody>
                    <a:bodyPr/>
                    <a:lstStyle/>
                    <a:p>
                      <a:pPr lvl="0" indent="0" marL="0">
                        <a:buNone/>
                      </a:pPr>
                      <a:r>
                        <a:rPr/>
                        <a:t>Random parameters</a:t>
                      </a:r>
                    </a:p>
                  </a:txBody>
                </a:tc>
              </a:tr>
            </a:tbl>
          </a:graphicData>
        </a:graphic>
      </p:graphicFrame>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What Is Gained Beyond Benchmark CMFs</a:t>
            </a:r>
          </a:p>
        </p:txBody>
      </p:sp>
      <p:sp>
        <p:nvSpPr>
          <p:cNvPr id="4" name="Text Placeholder 3"/>
          <p:cNvSpPr>
            <a:spLocks noGrp="1"/>
          </p:cNvSpPr>
          <p:nvPr>
            <p:ph idx="2" sz="half" type="body"/>
          </p:nvPr>
        </p:nvSpPr>
        <p:spPr/>
        <p:txBody>
          <a:bodyPr/>
          <a:lstStyle/>
          <a:p>
            <a:pPr lvl="0" indent="0" marL="0">
              <a:spcBef>
                <a:spcPts val="3000"/>
              </a:spcBef>
              <a:buNone/>
            </a:pPr>
            <a:r>
              <a:rPr b="1"/>
              <a:t>CMF capability: benchmark vs hierarchical approach</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Capability</a:t>
                      </a:r>
                    </a:p>
                  </a:txBody>
                  <a:tcPr/>
                </a:tc>
                <a:tc>
                  <a:txBody>
                    <a:bodyPr/>
                    <a:lstStyle/>
                    <a:p>
                      <a:pPr lvl="0" indent="0" marL="0">
                        <a:buNone/>
                      </a:pPr>
                      <a:r>
                        <a:rPr/>
                        <a:t>Benchmark SPF</a:t>
                      </a:r>
                    </a:p>
                  </a:txBody>
                  <a:tcPr/>
                </a:tc>
                <a:tc>
                  <a:txBody>
                    <a:bodyPr/>
                    <a:lstStyle/>
                    <a:p>
                      <a:pPr lvl="0" indent="0" marL="0">
                        <a:buNone/>
                      </a:pPr>
                      <a:r>
                        <a:rPr/>
                        <a:t>Hierarchical CMF</a:t>
                      </a:r>
                    </a:p>
                  </a:txBody>
                  <a:tcPr/>
                </a:tc>
              </a:tr>
              <a:tr h="0">
                <a:tc>
                  <a:txBody>
                    <a:bodyPr/>
                    <a:lstStyle/>
                    <a:p>
                      <a:pPr lvl="0" indent="0" marL="0">
                        <a:buNone/>
                      </a:pPr>
                      <a:r>
                        <a:rPr/>
                        <a:t>Traffic-only CMF between two AADT levels</a:t>
                      </a:r>
                    </a:p>
                  </a:txBody>
                </a:tc>
                <a:tc>
                  <a:txBody>
                    <a:bodyPr/>
                    <a:lstStyle/>
                    <a:p>
                      <a:pPr lvl="0" indent="0" marL="0">
                        <a:buNone/>
                      </a:pPr>
                      <a:r>
                        <a:rPr/>
                        <a:t>Yes: (A2/A1)^beta_AADT</a:t>
                      </a:r>
                    </a:p>
                  </a:txBody>
                </a:tc>
                <a:tc>
                  <a:txBody>
                    <a:bodyPr/>
                    <a:lstStyle/>
                    <a:p>
                      <a:pPr lvl="0" indent="0" marL="0">
                        <a:buNone/>
                      </a:pPr>
                      <a:r>
                        <a:rPr/>
                        <a:t>Yes</a:t>
                      </a:r>
                    </a:p>
                  </a:txBody>
                </a:tc>
              </a:tr>
              <a:tr h="0">
                <a:tc>
                  <a:txBody>
                    <a:bodyPr/>
                    <a:lstStyle/>
                    <a:p>
                      <a:pPr lvl="0" indent="0" marL="0">
                        <a:buNone/>
                      </a:pPr>
                      <a:r>
                        <a:rPr/>
                        <a:t>Variable-specific CMF (lane width, shoulder, etc.)</a:t>
                      </a:r>
                    </a:p>
                  </a:txBody>
                </a:tc>
                <a:tc>
                  <a:txBody>
                    <a:bodyPr/>
                    <a:lstStyle/>
                    <a:p>
                      <a:pPr lvl="0" indent="0" marL="0">
                        <a:buNone/>
                      </a:pPr>
                      <a:r>
                        <a:rPr/>
                        <a:t>No</a:t>
                      </a:r>
                    </a:p>
                  </a:txBody>
                </a:tc>
                <a:tc>
                  <a:txBody>
                    <a:bodyPr/>
                    <a:lstStyle/>
                    <a:p>
                      <a:pPr lvl="0" indent="0" marL="0">
                        <a:buNone/>
                      </a:pPr>
                      <a:r>
                        <a:rPr/>
                        <a:t>Yes (upper terms)</a:t>
                      </a:r>
                    </a:p>
                  </a:txBody>
                </a:tc>
              </a:tr>
              <a:tr h="0">
                <a:tc>
                  <a:txBody>
                    <a:bodyPr/>
                    <a:lstStyle/>
                    <a:p>
                      <a:pPr lvl="0" indent="0" marL="0">
                        <a:buNone/>
                      </a:pPr>
                      <a:r>
                        <a:rPr/>
                        <a:t>AADT-varying CMF for a variable</a:t>
                      </a:r>
                    </a:p>
                  </a:txBody>
                </a:tc>
                <a:tc>
                  <a:txBody>
                    <a:bodyPr/>
                    <a:lstStyle/>
                    <a:p>
                      <a:pPr lvl="0" indent="0" marL="0">
                        <a:buNone/>
                      </a:pPr>
                      <a:r>
                        <a:rPr/>
                        <a:t>No</a:t>
                      </a:r>
                    </a:p>
                  </a:txBody>
                </a:tc>
                <a:tc>
                  <a:txBody>
                    <a:bodyPr/>
                    <a:lstStyle/>
                    <a:p>
                      <a:pPr lvl="0" indent="0" marL="0">
                        <a:buNone/>
                      </a:pPr>
                      <a:r>
                        <a:rPr/>
                        <a:t>Yes (lower terms)</a:t>
                      </a:r>
                    </a:p>
                  </a:txBody>
                </a:tc>
              </a:tr>
              <a:tr h="0">
                <a:tc>
                  <a:txBody>
                    <a:bodyPr/>
                    <a:lstStyle/>
                    <a:p>
                      <a:pPr lvl="0" indent="0" marL="0">
                        <a:buNone/>
                      </a:pPr>
                      <a:r>
                        <a:rPr/>
                        <a:t>Site heterogeneity in parameter effects</a:t>
                      </a:r>
                    </a:p>
                  </a:txBody>
                </a:tc>
                <a:tc>
                  <a:txBody>
                    <a:bodyPr/>
                    <a:lstStyle/>
                    <a:p>
                      <a:pPr lvl="0" indent="0" marL="0">
                        <a:buNone/>
                      </a:pPr>
                      <a:r>
                        <a:rPr/>
                        <a:t>No</a:t>
                      </a:r>
                    </a:p>
                  </a:txBody>
                </a:tc>
                <a:tc>
                  <a:txBody>
                    <a:bodyPr/>
                    <a:lstStyle/>
                    <a:p>
                      <a:pPr lvl="0" indent="0" marL="0">
                        <a:buNone/>
                      </a:pPr>
                      <a:r>
                        <a:rPr/>
                        <a:t>Yes (random parameters)</a:t>
                      </a:r>
                    </a:p>
                  </a:txBody>
                </a:tc>
              </a:tr>
              <a:tr h="0">
                <a:tc>
                  <a:txBody>
                    <a:bodyPr/>
                    <a:lstStyle/>
                    <a:p>
                      <a:pPr lvl="0" indent="0" marL="0">
                        <a:buNone/>
                      </a:pPr>
                      <a:r>
                        <a:rPr/>
                        <a:t>Monotonic AADT enforcement during selection</a:t>
                      </a:r>
                    </a:p>
                  </a:txBody>
                </a:tc>
                <a:tc>
                  <a:txBody>
                    <a:bodyPr/>
                    <a:lstStyle/>
                    <a:p>
                      <a:pPr lvl="0" indent="0" marL="0">
                        <a:buNone/>
                      </a:pPr>
                      <a:r>
                        <a:rPr/>
                        <a:t>Not explicit</a:t>
                      </a:r>
                    </a:p>
                  </a:txBody>
                </a:tc>
                <a:tc>
                  <a:txBody>
                    <a:bodyPr/>
                    <a:lstStyle/>
                    <a:p>
                      <a:pPr lvl="0" indent="0" marL="0">
                        <a:buNone/>
                      </a:pPr>
                      <a:r>
                        <a:rPr/>
                        <a:t>Explicit (elasticity constraint)</a:t>
                      </a:r>
                    </a:p>
                  </a:txBody>
                </a:tc>
              </a:tr>
            </a:tbl>
          </a:graphicData>
        </a:graphic>
      </p:graphicFrame>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Practical meaning:</a:t>
            </a:r>
            <a:r>
              <a:rPr/>
              <a:t> the benchmark can only scale crashes with traffic volume globally. The hierarchical model can answer policy questions like “how does widening shoulder or changing curvature affect risk at low vs high AADT, and how variable is that effect across sites?”</a:t>
            </a:r>
          </a:p>
          <a:p>
            <a:pPr lvl="0" indent="0" marL="0">
              <a:buNone/>
            </a:pPr>
            <a:r>
              <a:rPr b="1"/>
              <a:t>Benchmark CMF form:</a:t>
            </a:r>
            <a:r>
              <a:rPr/>
              <a:t> (A2/A1)^beta_AADT</a:t>
            </a:r>
          </a:p>
          <a:p>
            <a:pPr lvl="0" indent="0" marL="0">
              <a:buNone/>
            </a:pPr>
            <a:r>
              <a:rPr b="1"/>
              <a:t>Hierarchical CMF forms:</a:t>
            </a:r>
            <a:r>
              <a:rPr/>
              <a:t> exp(beta</a:t>
            </a:r>
            <a:r>
              <a:rPr i="1"/>
              <a:t>delta_x) and AADT^(gamma</a:t>
            </a:r>
            <a:r>
              <a:rPr/>
              <a:t>delta_x)</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Model Comparison — Baseline vs Hierarchical</a:t>
            </a:r>
          </a:p>
        </p:txBody>
      </p:sp>
      <p:sp>
        <p:nvSpPr>
          <p:cNvPr id="4" name="Text Placeholder 3"/>
          <p:cNvSpPr>
            <a:spLocks noGrp="1"/>
          </p:cNvSpPr>
          <p:nvPr>
            <p:ph idx="2" sz="half" type="body"/>
          </p:nvPr>
        </p:nvSpPr>
        <p:spPr/>
        <p:txBody>
          <a:bodyPr/>
          <a:lstStyle/>
          <a:p>
            <a:pPr lvl="0" indent="0" marL="0">
              <a:spcBef>
                <a:spcPts val="3000"/>
              </a:spcBef>
              <a:buNone/>
            </a:pPr>
            <a:r>
              <a:rPr b="1"/>
              <a:t>Observed crashes + both predicted curves on the same AADT axes</a:t>
            </a:r>
          </a:p>
        </p:txBody>
      </p:sp>
      <p:pic>
        <p:nvPicPr>
          <p:cNvPr descr="../results/ex16_3_cmf/model_comparison.png" id="0" name="Picture 1"/>
          <p:cNvPicPr>
            <a:picLocks noGrp="1" noChangeAspect="1"/>
          </p:cNvPicPr>
          <p:nvPr/>
        </p:nvPicPr>
        <p:blipFill>
          <a:blip r:embed="rId2"/>
          <a:stretch>
            <a:fillRect/>
          </a:stretch>
        </p:blipFill>
        <p:spPr bwMode="auto">
          <a:xfrm>
            <a:off x="3568700" y="609600"/>
            <a:ext cx="5105400" cy="30607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Observed crashes (dots by split) vs polynomial-smooth predictions from the AADT-only benchmark (blue dashed) and the hierarchical CMF model (orange solid). Bottom panel shows normalised residuals for each model vs AADT.</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3556000"/>
                <a:gridCol w="711200"/>
                <a:gridCol w="711200"/>
                <a:gridCol w="914400"/>
                <a:gridCol w="1625600"/>
                <a:gridCol w="711200"/>
              </a:tblGrid>
              <a:tr h="0">
                <a:tc>
                  <a:txBody>
                    <a:bodyPr/>
                    <a:lstStyle/>
                    <a:p>
                      <a:pPr lvl="0" indent="0" marL="0">
                        <a:buNone/>
                      </a:pPr>
                      <a:r>
                        <a:rPr/>
                        <a:t>Model</a:t>
                      </a:r>
                    </a:p>
                  </a:txBody>
                  <a:tcPr/>
                </a:tc>
                <a:tc>
                  <a:txBody>
                    <a:bodyPr/>
                    <a:lstStyle/>
                    <a:p>
                      <a:pPr lvl="0" indent="0" marL="0">
                        <a:buNone/>
                      </a:pPr>
                      <a:r>
                        <a:rPr/>
                        <a:t>BIC</a:t>
                      </a:r>
                    </a:p>
                  </a:txBody>
                  <a:tcPr/>
                </a:tc>
                <a:tc>
                  <a:txBody>
                    <a:bodyPr/>
                    <a:lstStyle/>
                    <a:p>
                      <a:pPr lvl="0" indent="0" marL="0">
                        <a:buNone/>
                      </a:pPr>
                      <a:r>
                        <a:rPr/>
                        <a:t>AIC</a:t>
                      </a:r>
                    </a:p>
                  </a:txBody>
                  <a:tcPr/>
                </a:tc>
                <a:tc>
                  <a:txBody>
                    <a:bodyPr/>
                    <a:lstStyle/>
                    <a:p>
                      <a:pPr lvl="0" indent="0" marL="0">
                        <a:buNone/>
                      </a:pPr>
                      <a:r>
                        <a:rPr/>
                        <a:t>Test RMSE</a:t>
                      </a:r>
                    </a:p>
                  </a:txBody>
                  <a:tcPr/>
                </a:tc>
                <a:tc>
                  <a:txBody>
                    <a:bodyPr/>
                    <a:lstStyle/>
                    <a:p>
                      <a:pPr lvl="0" indent="0" marL="0">
                        <a:buNone/>
                      </a:pPr>
                      <a:r>
                        <a:rPr/>
                        <a:t>Test Poisson Dev</a:t>
                      </a:r>
                    </a:p>
                  </a:txBody>
                  <a:tcPr/>
                </a:tc>
                <a:tc>
                  <a:txBody>
                    <a:bodyPr/>
                    <a:lstStyle/>
                    <a:p>
                      <a:pPr lvl="0" indent="0" marL="0">
                        <a:buNone/>
                      </a:pPr>
                      <a:r>
                        <a:rPr/>
                        <a:t>Test R2</a:t>
                      </a:r>
                    </a:p>
                  </a:txBody>
                  <a:tcPr/>
                </a:tc>
              </a:tr>
              <a:tr h="0">
                <a:tc>
                  <a:txBody>
                    <a:bodyPr/>
                    <a:lstStyle/>
                    <a:p>
                      <a:pPr lvl="0" indent="0" marL="0">
                        <a:buNone/>
                      </a:pPr>
                      <a:r>
                        <a:rPr/>
                        <a:t>Benchmark (Ex16-3 literature model)</a:t>
                      </a:r>
                    </a:p>
                  </a:txBody>
                </a:tc>
                <a:tc>
                  <a:txBody>
                    <a:bodyPr/>
                    <a:lstStyle/>
                    <a:p>
                      <a:pPr lvl="0" indent="0" marL="0">
                        <a:buNone/>
                      </a:pPr>
                      <a:r>
                        <a:rPr/>
                        <a:t>1607.72</a:t>
                      </a:r>
                    </a:p>
                  </a:txBody>
                </a:tc>
                <a:tc>
                  <a:txBody>
                    <a:bodyPr/>
                    <a:lstStyle/>
                    <a:p>
                      <a:pPr lvl="0" indent="0" marL="0">
                        <a:buNone/>
                      </a:pPr>
                      <a:r>
                        <a:rPr/>
                        <a:t>1577.18</a:t>
                      </a:r>
                    </a:p>
                  </a:txBody>
                </a:tc>
                <a:tc>
                  <a:txBody>
                    <a:bodyPr/>
                    <a:lstStyle/>
                    <a:p>
                      <a:pPr lvl="0" indent="0" marL="0">
                        <a:buNone/>
                      </a:pPr>
                      <a:r>
                        <a:rPr/>
                        <a:t>14.186</a:t>
                      </a:r>
                    </a:p>
                  </a:txBody>
                </a:tc>
                <a:tc>
                  <a:txBody>
                    <a:bodyPr/>
                    <a:lstStyle/>
                    <a:p>
                      <a:pPr lvl="0" indent="0" marL="0">
                        <a:buNone/>
                      </a:pPr>
                      <a:r>
                        <a:rPr/>
                        <a:t>315.17</a:t>
                      </a:r>
                    </a:p>
                  </a:txBody>
                </a:tc>
                <a:tc>
                  <a:txBody>
                    <a:bodyPr/>
                    <a:lstStyle/>
                    <a:p>
                      <a:pPr lvl="0" indent="0" marL="0">
                        <a:buNone/>
                      </a:pPr>
                      <a:r>
                        <a:rPr/>
                        <a:t>0.5432</a:t>
                      </a:r>
                    </a:p>
                  </a:txBody>
                </a:tc>
              </a:tr>
              <a:tr h="0">
                <a:tc>
                  <a:txBody>
                    <a:bodyPr/>
                    <a:lstStyle/>
                    <a:p>
                      <a:pPr lvl="0" indent="0" marL="0">
                        <a:buNone/>
                      </a:pPr>
                      <a:r>
                        <a:rPr/>
                        <a:t>Hierarchical CMF (selected)</a:t>
                      </a:r>
                    </a:p>
                  </a:txBody>
                </a:tc>
                <a:tc>
                  <a:txBody>
                    <a:bodyPr/>
                    <a:lstStyle/>
                    <a:p>
                      <a:pPr lvl="0" indent="0" marL="0">
                        <a:buNone/>
                      </a:pPr>
                      <a:r>
                        <a:rPr/>
                        <a:t>1593.77</a:t>
                      </a:r>
                    </a:p>
                  </a:txBody>
                </a:tc>
                <a:tc>
                  <a:txBody>
                    <a:bodyPr/>
                    <a:lstStyle/>
                    <a:p>
                      <a:pPr lvl="0" indent="0" marL="0">
                        <a:buNone/>
                      </a:pPr>
                      <a:r>
                        <a:rPr/>
                        <a:t>1556.44</a:t>
                      </a:r>
                    </a:p>
                  </a:txBody>
                </a:tc>
                <a:tc>
                  <a:txBody>
                    <a:bodyPr/>
                    <a:lstStyle/>
                    <a:p>
                      <a:pPr lvl="0" indent="0" marL="0">
                        <a:buNone/>
                      </a:pPr>
                      <a:r>
                        <a:rPr/>
                        <a:t>12.8741</a:t>
                      </a:r>
                    </a:p>
                  </a:txBody>
                </a:tc>
                <a:tc>
                  <a:txBody>
                    <a:bodyPr/>
                    <a:lstStyle/>
                    <a:p>
                      <a:pPr lvl="0" indent="0" marL="0">
                        <a:buNone/>
                      </a:pPr>
                      <a:r>
                        <a:rPr/>
                        <a:t>308.15</a:t>
                      </a:r>
                    </a:p>
                  </a:txBody>
                </a:tc>
                <a:tc>
                  <a:txBody>
                    <a:bodyPr/>
                    <a:lstStyle/>
                    <a:p>
                      <a:pPr lvl="0" indent="0" marL="0">
                        <a:buNone/>
                      </a:pPr>
                      <a:r>
                        <a:rPr/>
                        <a:t>0.6238</a:t>
                      </a:r>
                    </a:p>
                  </a:txBody>
                </a:tc>
              </a:tr>
            </a:tbl>
          </a:graphicData>
        </a:graphic>
      </p:graphicFrame>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Why curves can look similar:</a:t>
            </a:r>
            <a:r>
              <a:rPr/>
              <a:t> both models track the same traffic-exposure trend. The improvement appears in residual structure and test metrics (RMSE and R2), not only visual separation of smoothed lines.</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Prediction Delta vs AADT</a:t>
            </a:r>
          </a:p>
        </p:txBody>
      </p:sp>
      <p:pic>
        <p:nvPicPr>
          <p:cNvPr descr="../results/ex16_3_cmf/model_prediction_delta.png" id="0" name="Picture 1"/>
          <p:cNvPicPr>
            <a:picLocks noGrp="1" noChangeAspect="1"/>
          </p:cNvPicPr>
          <p:nvPr/>
        </p:nvPicPr>
        <p:blipFill>
          <a:blip r:embed="rId2"/>
          <a:stretch>
            <a:fillRect/>
          </a:stretch>
        </p:blipFill>
        <p:spPr bwMode="auto">
          <a:xfrm>
            <a:off x="1536700" y="1193800"/>
            <a:ext cx="60833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Prediction difference by traffic level: hierarchical minus benchmark predicted crashes, plotted against log(AADT). Values above zero indicate the hierarchical model predicts more crashes; below zero indicates fewer than benchmark.</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AADT Response — Hierarchical Model</a:t>
            </a:r>
          </a:p>
        </p:txBody>
      </p:sp>
      <p:sp>
        <p:nvSpPr>
          <p:cNvPr id="4" name="Text Placeholder 3"/>
          <p:cNvSpPr>
            <a:spLocks noGrp="1"/>
          </p:cNvSpPr>
          <p:nvPr>
            <p:ph idx="2" sz="half" type="body"/>
          </p:nvPr>
        </p:nvSpPr>
        <p:spPr/>
        <p:txBody>
          <a:bodyPr/>
          <a:lstStyle/>
          <a:p>
            <a:pPr lvl="0" indent="0" marL="0">
              <a:spcBef>
                <a:spcPts val="3000"/>
              </a:spcBef>
              <a:buNone/>
            </a:pPr>
            <a:r>
              <a:rPr b="1"/>
              <a:t>Observed vs hierarchical predictions with normalised residuals</a:t>
            </a:r>
          </a:p>
        </p:txBody>
      </p:sp>
      <p:pic>
        <p:nvPicPr>
          <p:cNvPr descr="../results/ex16_3_cmf/aadt_obs_pred.png" id="0" name="Picture 1"/>
          <p:cNvPicPr>
            <a:picLocks noGrp="1" noChangeAspect="1"/>
          </p:cNvPicPr>
          <p:nvPr/>
        </p:nvPicPr>
        <p:blipFill>
          <a:blip r:embed="rId2"/>
          <a:stretch>
            <a:fillRect/>
          </a:stretch>
        </p:blipFill>
        <p:spPr bwMode="auto">
          <a:xfrm>
            <a:off x="3568700" y="355600"/>
            <a:ext cx="5105400" cy="35560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Observed crashes vs hierarchical model polynomial smooth. Bottom: normalised residuals — orange = over-predicted, teal = under-predicted.</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The Fitted Model — Every Term Spelled Out</a:t>
            </a:r>
          </a:p>
        </p:txBody>
      </p:sp>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buNone/>
                </a:pPr>
                <a:r>
                  <a:rPr b="1"/>
                  <a:t>Upper terms</a:t>
                </a:r>
                <a:r>
                  <a:rPr/>
                  <a:t> — direct CMF (</a:t>
                </a:r>
                <a14:m>
                  <m:oMath xmlns:m="http://schemas.openxmlformats.org/officeDocument/2006/math">
                    <m:sSup>
                      <m:e>
                        <m:r>
                          <m:t>e</m:t>
                        </m:r>
                      </m:e>
                      <m:sup>
                        <m:r>
                          <m:t> </m:t>
                        </m:r>
                        <m:r>
                          <m:t>β</m:t>
                        </m:r>
                        <m:r>
                          <m:t> </m:t>
                        </m:r>
                        <m:r>
                          <m:t>Δ</m:t>
                        </m:r>
                        <m:r>
                          <m:t>x</m:t>
                        </m:r>
                      </m:sup>
                    </m:sSup>
                  </m:oMath>
                </a14:m>
                <a:r>
                  <a:rPr/>
                  <a:t>, same at any AADT)</a:t>
                </a:r>
              </a:p>
            </p:txBody>
          </p:sp>
        </mc:Choice>
      </mc:AlternateContent>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749300"/>
                <a:gridCol w="2933700"/>
                <a:gridCol w="914400"/>
                <a:gridCol w="508000"/>
              </a:tblGrid>
              <a:tr h="0">
                <a:tc>
                  <a:txBody>
                    <a:bodyPr/>
                    <a:lstStyle/>
                    <a:p>
                      <a:pPr lvl="0" indent="0" marL="0">
                        <a:buNone/>
                      </a:pPr>
                      <a:r>
                        <a:rPr/>
                        <a:t>Variable</a:t>
                      </a:r>
                    </a:p>
                  </a:txBody>
                  <a:tcPr/>
                </a:tc>
                <a:tc>
                  <a:txBody>
                    <a:bodyPr/>
                    <a:lstStyle/>
                    <a:p>
                      <a:pPr lvl="0" indent="0" marL="0">
                        <a:buNone/>
                      </a:pPr>
                      <a:r>
                        <a:rPr/>
                        <a:t>Full Name</a:t>
                      </a:r>
                    </a:p>
                  </a:txBody>
                  <a:tcPr/>
                </a:tc>
                <a:tc>
                  <a:txBody>
                    <a:bodyPr/>
                    <a:lstStyle/>
                    <a:p>
                      <a:pPr lvl="0" indent="0" marL="0">
                        <a:buNone/>
                      </a:pPr>
                      <a:r>
                        <a:rPr/>
                        <a:t>Coefficient</a:t>
                      </a:r>
                    </a:p>
                  </a:txBody>
                  <a:tcPr/>
                </a:tc>
                <a:tc>
                  <a:txBody>
                    <a:bodyPr/>
                    <a:lstStyle/>
                    <a:p>
                      <a:pPr lvl="0" indent="0" marL="0">
                        <a:buNone/>
                      </a:pPr>
                      <a:r>
                        <a:rPr/>
                        <a:t>CMF</a:t>
                      </a:r>
                    </a:p>
                  </a:txBody>
                  <a:tcPr/>
                </a:tc>
              </a:tr>
              <a:tr h="0">
                <a:tc>
                  <a:txBody>
                    <a:bodyPr/>
                    <a:lstStyle/>
                    <a:p>
                      <a:pPr lvl="0" indent="0" marL="0">
                        <a:buNone/>
                      </a:pPr>
                      <a:r>
                        <a:rPr/>
                        <a:t>Intercept</a:t>
                      </a:r>
                    </a:p>
                  </a:txBody>
                </a:tc>
                <a:tc>
                  <a:txBody>
                    <a:bodyPr/>
                    <a:lstStyle/>
                    <a:p>
                      <a:pPr lvl="0" indent="0" marL="0">
                        <a:buNone/>
                      </a:pPr>
                      <a:r>
                        <a:rPr/>
                        <a:t>Intercept</a:t>
                      </a:r>
                    </a:p>
                  </a:txBody>
                </a:tc>
                <a:tc>
                  <a:txBody>
                    <a:bodyPr/>
                    <a:lstStyle/>
                    <a:p>
                      <a:pPr lvl="0" indent="0" marL="0">
                        <a:buNone/>
                      </a:pPr>
                      <a:r>
                        <a:rPr/>
                        <a:t>-7.0970</a:t>
                      </a:r>
                    </a:p>
                  </a:txBody>
                </a:tc>
                <a:tc>
                  <a:txBody>
                    <a:bodyPr/>
                    <a:lstStyle/>
                    <a:p>
                      <a:endParaRPr/>
                    </a:p>
                  </a:txBody>
                </a:tc>
              </a:tr>
              <a:tr h="0">
                <a:tc>
                  <a:txBody>
                    <a:bodyPr/>
                    <a:lstStyle/>
                    <a:p>
                      <a:pPr lvl="0" indent="0" marL="0">
                        <a:buNone/>
                      </a:pPr>
                      <a:r>
                        <a:rPr/>
                        <a:t>log(AADT)</a:t>
                      </a:r>
                    </a:p>
                  </a:txBody>
                </a:tc>
                <a:tc>
                  <a:txBody>
                    <a:bodyPr/>
                    <a:lstStyle/>
                    <a:p>
                      <a:pPr lvl="0" indent="0" marL="0">
                        <a:buNone/>
                      </a:pPr>
                      <a:r>
                        <a:rPr/>
                        <a:t>log(AADT) Elasticity</a:t>
                      </a:r>
                    </a:p>
                  </a:txBody>
                </a:tc>
                <a:tc>
                  <a:txBody>
                    <a:bodyPr/>
                    <a:lstStyle/>
                    <a:p>
                      <a:pPr lvl="0" indent="0" marL="0">
                        <a:buNone/>
                      </a:pPr>
                      <a:r>
                        <a:rPr/>
                        <a:t>+0.8834</a:t>
                      </a:r>
                    </a:p>
                  </a:txBody>
                </a:tc>
                <a:tc>
                  <a:txBody>
                    <a:bodyPr/>
                    <a:lstStyle/>
                    <a:p>
                      <a:endParaRPr/>
                    </a:p>
                  </a:txBody>
                </a:tc>
              </a:tr>
              <a:tr h="0">
                <a:tc>
                  <a:txBody>
                    <a:bodyPr/>
                    <a:lstStyle/>
                    <a:p>
                      <a:pPr lvl="0" indent="0" marL="0">
                        <a:buNone/>
                      </a:pPr>
                      <a:r>
                        <a:rPr/>
                        <a:t>CURVES</a:t>
                      </a:r>
                    </a:p>
                  </a:txBody>
                </a:tc>
                <a:tc>
                  <a:txBody>
                    <a:bodyPr/>
                    <a:lstStyle/>
                    <a:p>
                      <a:pPr lvl="0" indent="0" marL="0">
                        <a:buNone/>
                      </a:pPr>
                      <a:r>
                        <a:rPr/>
                        <a:t>Number of Horizontal Curves (count)</a:t>
                      </a:r>
                    </a:p>
                  </a:txBody>
                </a:tc>
                <a:tc>
                  <a:txBody>
                    <a:bodyPr/>
                    <a:lstStyle/>
                    <a:p>
                      <a:pPr lvl="0" indent="0" marL="0">
                        <a:buNone/>
                      </a:pPr>
                      <a:r>
                        <a:rPr/>
                        <a:t>-0.0693</a:t>
                      </a:r>
                    </a:p>
                  </a:txBody>
                </a:tc>
                <a:tc>
                  <a:txBody>
                    <a:bodyPr/>
                    <a:lstStyle/>
                    <a:p>
                      <a:pPr lvl="0" indent="0" marL="0">
                        <a:buNone/>
                      </a:pPr>
                      <a:r>
                        <a:rPr/>
                        <a:t>0.9773</a:t>
                      </a:r>
                    </a:p>
                  </a:txBody>
                </a:tc>
              </a:tr>
              <a:tr h="0">
                <a:tc>
                  <a:txBody>
                    <a:bodyPr/>
                    <a:lstStyle/>
                    <a:p>
                      <a:pPr lvl="0" indent="0" marL="0">
                        <a:buNone/>
                      </a:pPr>
                      <a:r>
                        <a:rPr/>
                        <a:t>MIGRADE</a:t>
                      </a:r>
                    </a:p>
                  </a:txBody>
                </a:tc>
                <a:tc>
                  <a:txBody>
                    <a:bodyPr/>
                    <a:lstStyle/>
                    <a:p>
                      <a:pPr lvl="0" indent="0" marL="0">
                        <a:buNone/>
                      </a:pPr>
                      <a:r>
                        <a:rPr/>
                        <a:t>Minimum Vertical Grade (%)</a:t>
                      </a:r>
                    </a:p>
                  </a:txBody>
                </a:tc>
                <a:tc>
                  <a:txBody>
                    <a:bodyPr/>
                    <a:lstStyle/>
                    <a:p>
                      <a:pPr lvl="0" indent="0" marL="0">
                        <a:buNone/>
                      </a:pPr>
                      <a:r>
                        <a:rPr/>
                        <a:t>-0.0648</a:t>
                      </a:r>
                    </a:p>
                  </a:txBody>
                </a:tc>
                <a:tc>
                  <a:txBody>
                    <a:bodyPr/>
                    <a:lstStyle/>
                    <a:p>
                      <a:pPr lvl="0" indent="0" marL="0">
                        <a:buNone/>
                      </a:pPr>
                      <a:r>
                        <a:rPr/>
                        <a:t>0.9416</a:t>
                      </a:r>
                    </a:p>
                  </a:txBody>
                </a:tc>
              </a:tr>
              <a:tr h="0">
                <a:tc>
                  <a:txBody>
                    <a:bodyPr/>
                    <a:lstStyle/>
                    <a:p>
                      <a:pPr lvl="0" indent="0" marL="0">
                        <a:buNone/>
                      </a:pPr>
                      <a:r>
                        <a:rPr/>
                        <a:t>SLOPE</a:t>
                      </a:r>
                    </a:p>
                  </a:txBody>
                </a:tc>
                <a:tc>
                  <a:txBody>
                    <a:bodyPr/>
                    <a:lstStyle/>
                    <a:p>
                      <a:pPr lvl="0" indent="0" marL="0">
                        <a:buNone/>
                      </a:pPr>
                      <a:r>
                        <a:rPr/>
                        <a:t>Average Longitudinal Slope (%)</a:t>
                      </a:r>
                    </a:p>
                  </a:txBody>
                </a:tc>
                <a:tc>
                  <a:txBody>
                    <a:bodyPr/>
                    <a:lstStyle/>
                    <a:p>
                      <a:pPr lvl="0" indent="0" marL="0">
                        <a:buNone/>
                      </a:pPr>
                      <a:r>
                        <a:rPr/>
                        <a:t>-1.1840</a:t>
                      </a:r>
                    </a:p>
                  </a:txBody>
                </a:tc>
                <a:tc>
                  <a:txBody>
                    <a:bodyPr/>
                    <a:lstStyle/>
                    <a:p>
                      <a:pPr lvl="0" indent="0" marL="0">
                        <a:buNone/>
                      </a:pPr>
                      <a:r>
                        <a:rPr/>
                        <a:t>0.2324</a:t>
                      </a:r>
                    </a:p>
                  </a:txBody>
                </a:tc>
              </a:tr>
              <a:tr h="0">
                <a:tc>
                  <a:txBody>
                    <a:bodyPr/>
                    <a:lstStyle/>
                    <a:p>
                      <a:pPr lvl="0" indent="0" marL="0">
                        <a:buNone/>
                      </a:pPr>
                      <a:r>
                        <a:rPr/>
                        <a:t>SPEED</a:t>
                      </a:r>
                    </a:p>
                  </a:txBody>
                </a:tc>
                <a:tc>
                  <a:txBody>
                    <a:bodyPr/>
                    <a:lstStyle/>
                    <a:p>
                      <a:pPr lvl="0" indent="0" marL="0">
                        <a:buNone/>
                      </a:pPr>
                      <a:r>
                        <a:rPr/>
                        <a:t>Posted Speed Limit (mph)</a:t>
                      </a:r>
                    </a:p>
                  </a:txBody>
                </a:tc>
                <a:tc>
                  <a:txBody>
                    <a:bodyPr/>
                    <a:lstStyle/>
                    <a:p>
                      <a:pPr lvl="0" indent="0" marL="0">
                        <a:buNone/>
                      </a:pPr>
                      <a:r>
                        <a:rPr/>
                        <a:t>-0.0669</a:t>
                      </a:r>
                    </a:p>
                  </a:txBody>
                </a:tc>
                <a:tc>
                  <a:txBody>
                    <a:bodyPr/>
                    <a:lstStyle/>
                    <a:p>
                      <a:pPr lvl="0" indent="0" marL="0">
                        <a:buNone/>
                      </a:pPr>
                      <a:r>
                        <a:rPr/>
                        <a:t>0.9881</a:t>
                      </a:r>
                    </a:p>
                  </a:txBody>
                </a:tc>
              </a:tr>
              <a:tr h="0">
                <a:tc>
                  <a:txBody>
                    <a:bodyPr/>
                    <a:lstStyle/>
                    <a:p>
                      <a:pPr lvl="0" indent="0" marL="0">
                        <a:buNone/>
                      </a:pPr>
                      <a:r>
                        <a:rPr/>
                        <a:t>WIDTH</a:t>
                      </a:r>
                    </a:p>
                  </a:txBody>
                </a:tc>
                <a:tc>
                  <a:txBody>
                    <a:bodyPr/>
                    <a:lstStyle/>
                    <a:p>
                      <a:pPr lvl="0" indent="0" marL="0">
                        <a:buNone/>
                      </a:pPr>
                      <a:r>
                        <a:rPr/>
                        <a:t>Lane Width (ft)</a:t>
                      </a:r>
                    </a:p>
                  </a:txBody>
                </a:tc>
                <a:tc>
                  <a:txBody>
                    <a:bodyPr/>
                    <a:lstStyle/>
                    <a:p>
                      <a:pPr lvl="0" indent="0" marL="0">
                        <a:buNone/>
                      </a:pPr>
                      <a:r>
                        <a:rPr/>
                        <a:t>-1.5104</a:t>
                      </a:r>
                    </a:p>
                  </a:txBody>
                </a:tc>
                <a:tc>
                  <a:txBody>
                    <a:bodyPr/>
                    <a:lstStyle/>
                    <a:p>
                      <a:pPr lvl="0" indent="0" marL="0">
                        <a:buNone/>
                      </a:pPr>
                      <a:r>
                        <a:rPr/>
                        <a:t>0.9107</a:t>
                      </a:r>
                    </a:p>
                  </a:txBody>
                </a:tc>
              </a:tr>
            </a:tbl>
          </a:graphicData>
        </a:graphic>
      </p:graphicFrame>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buNone/>
                </a:pPr>
                <a:r>
                  <a:rPr b="1"/>
                  <a:t>Lower terms</a:t>
                </a:r>
                <a:r>
                  <a:rPr/>
                  <a:t> — modify AADT elasticity (</a:t>
                </a:r>
                <a14:m>
                  <m:oMath xmlns:m="http://schemas.openxmlformats.org/officeDocument/2006/math">
                    <m:sSup>
                      <m:e>
                        <m:r>
                          <m:rPr>
                            <m:nor/>
                            <m:sty m:val="p"/>
                          </m:rPr>
                          <m:t>AADT</m:t>
                        </m:r>
                      </m:e>
                      <m:sup>
                        <m:r>
                          <m:t> </m:t>
                        </m:r>
                        <m:r>
                          <m:t>γ</m:t>
                        </m:r>
                        <m:r>
                          <m:t> </m:t>
                        </m:r>
                        <m:r>
                          <m:t>Δ</m:t>
                        </m:r>
                        <m:r>
                          <m:t>x</m:t>
                        </m:r>
                      </m:sup>
                    </m:sSup>
                  </m:oMath>
                </a14:m>
                <a:r>
                  <a:rPr/>
                  <a:t>)</a:t>
                </a:r>
              </a:p>
            </p:txBody>
          </p:sp>
        </mc:Choice>
      </mc:AlternateContent>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Variable</a:t>
                      </a:r>
                    </a:p>
                  </a:txBody>
                  <a:tcPr/>
                </a:tc>
                <a:tc>
                  <a:txBody>
                    <a:bodyPr/>
                    <a:lstStyle/>
                    <a:p>
                      <a:pPr lvl="0" indent="0" marL="0">
                        <a:buNone/>
                      </a:pPr>
                      <a:r>
                        <a:rPr/>
                        <a:t>Full Name</a:t>
                      </a:r>
                    </a:p>
                  </a:txBody>
                  <a:tcPr/>
                </a:tc>
                <a:tc>
                  <a:txBody>
                    <a:bodyPr/>
                    <a:lstStyle/>
                    <a:p>
                      <a:pPr lvl="0" indent="0" marL="0">
                        <a:buNone/>
                      </a:pPr>
                      <a:r>
                        <a:rPr/>
                        <a:t>Coefficient</a:t>
                      </a:r>
                    </a:p>
                  </a:txBody>
                  <a:tcPr/>
                </a:tc>
              </a:tr>
              <a:tr h="0">
                <a:tc>
                  <a:txBody>
                    <a:bodyPr/>
                    <a:lstStyle/>
                    <a:p>
                      <a:pPr lvl="0" indent="0" marL="0">
                        <a:buNone/>
                      </a:pPr>
                      <a:r>
                        <a:rPr/>
                        <a:t>AVEPRE</a:t>
                      </a:r>
                    </a:p>
                  </a:txBody>
                </a:tc>
                <a:tc>
                  <a:txBody>
                    <a:bodyPr/>
                    <a:lstStyle/>
                    <a:p>
                      <a:pPr lvl="0" indent="0" marL="0">
                        <a:buNone/>
                      </a:pPr>
                      <a:r>
                        <a:rPr/>
                        <a:t>Average Annual Precipitation (in/yr)</a:t>
                      </a:r>
                    </a:p>
                  </a:txBody>
                </a:tc>
                <a:tc>
                  <a:txBody>
                    <a:bodyPr/>
                    <a:lstStyle/>
                    <a:p>
                      <a:pPr lvl="0" indent="0" marL="0">
                        <a:buNone/>
                      </a:pPr>
                      <a:r>
                        <a:rPr/>
                        <a:t>+0.0141</a:t>
                      </a:r>
                    </a:p>
                  </a:txBody>
                </a:tc>
              </a:tr>
              <a:tr h="0">
                <a:tc>
                  <a:txBody>
                    <a:bodyPr/>
                    <a:lstStyle/>
                    <a:p>
                      <a:pPr lvl="0" indent="0" marL="0">
                        <a:buNone/>
                      </a:pPr>
                      <a:r>
                        <a:rPr/>
                        <a:t>SLOPE</a:t>
                      </a:r>
                    </a:p>
                  </a:txBody>
                </a:tc>
                <a:tc>
                  <a:txBody>
                    <a:bodyPr/>
                    <a:lstStyle/>
                    <a:p>
                      <a:pPr lvl="0" indent="0" marL="0">
                        <a:buNone/>
                      </a:pPr>
                      <a:r>
                        <a:rPr/>
                        <a:t>Average Longitudinal Slope (%)</a:t>
                      </a:r>
                    </a:p>
                  </a:txBody>
                </a:tc>
                <a:tc>
                  <a:txBody>
                    <a:bodyPr/>
                    <a:lstStyle/>
                    <a:p>
                      <a:pPr lvl="0" indent="0" marL="0">
                        <a:buNone/>
                      </a:pPr>
                      <a:r>
                        <a:rPr/>
                        <a:t>+0.1210</a:t>
                      </a:r>
                    </a:p>
                  </a:txBody>
                </a:tc>
              </a:tr>
              <a:tr h="0">
                <a:tc>
                  <a:txBody>
                    <a:bodyPr/>
                    <a:lstStyle/>
                    <a:p>
                      <a:pPr lvl="0" indent="0" marL="0">
                        <a:buNone/>
                      </a:pPr>
                      <a:r>
                        <a:rPr/>
                        <a:t>WIDTH</a:t>
                      </a:r>
                    </a:p>
                  </a:txBody>
                </a:tc>
                <a:tc>
                  <a:txBody>
                    <a:bodyPr/>
                    <a:lstStyle/>
                    <a:p>
                      <a:pPr lvl="0" indent="0" marL="0">
                        <a:buNone/>
                      </a:pPr>
                      <a:r>
                        <a:rPr/>
                        <a:t>Lane Width (ft)</a:t>
                      </a:r>
                    </a:p>
                  </a:txBody>
                </a:tc>
                <a:tc>
                  <a:txBody>
                    <a:bodyPr/>
                    <a:lstStyle/>
                    <a:p>
                      <a:pPr lvl="0" indent="0" marL="0">
                        <a:buNone/>
                      </a:pPr>
                      <a:r>
                        <a:rPr/>
                        <a:t>+0.1163</a:t>
                      </a:r>
                    </a:p>
                  </a:txBody>
                </a:tc>
              </a:tr>
            </a:tbl>
          </a:graphicData>
        </a:graphic>
      </p:graphicFrame>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1270000">
                  <a:buNone/>
                </a:pPr>
                <a:r>
                  <a:rPr sz="2000" b="1"/>
                  <a:t>Full equation:</a:t>
                </a:r>
                <a:r>
                  <a:rPr sz="2000"/>
                  <a:t> </a:t>
                </a:r>
                <a14:m>
                  <m:oMath xmlns:m="http://schemas.openxmlformats.org/officeDocument/2006/math">
                    <m:r>
                      <m:rPr>
                        <m:sty m:val="p"/>
                      </m:rPr>
                      <m:t>log</m:t>
                    </m:r>
                    <m:d>
                      <m:dPr>
                        <m:begChr m:val="("/>
                        <m:sepChr m:val=""/>
                        <m:endChr m:val=")"/>
                        <m:grow/>
                      </m:dPr>
                      <m:e>
                        <m:sSub>
                          <m:e>
                            <m:acc>
                              <m:accPr>
                                <m:chr m:val="̂"/>
                              </m:accPr>
                              <m:e>
                                <m:r>
                                  <m:t>μ</m:t>
                                </m:r>
                              </m:e>
                            </m:acc>
                          </m:e>
                          <m:sub>
                            <m:r>
                              <m:t>i</m:t>
                            </m:r>
                          </m:sub>
                        </m:sSub>
                      </m:e>
                    </m:d>
                    <m:r>
                      <m:rPr>
                        <m:sty m:val="p"/>
                      </m:rPr>
                      <m:t>=</m:t>
                    </m:r>
                    <m:r>
                      <m:t>α</m:t>
                    </m:r>
                    <m:r>
                      <m:rPr>
                        <m:sty m:val="p"/>
                      </m:rPr>
                      <m:t>+</m:t>
                    </m:r>
                    <m:sSub>
                      <m:e>
                        <m:r>
                          <m:t>β</m:t>
                        </m:r>
                      </m:e>
                      <m:sub>
                        <m:r>
                          <m:rPr>
                            <m:nor/>
                            <m:sty m:val="p"/>
                          </m:rPr>
                          <m:t>AADT</m:t>
                        </m:r>
                      </m:sub>
                    </m:sSub>
                    <m:r>
                      <m:rPr>
                        <m:sty m:val="p"/>
                      </m:rPr>
                      <m:t>log</m:t>
                    </m:r>
                    <m:sSub>
                      <m:e>
                        <m:r>
                          <m:t>A</m:t>
                        </m:r>
                      </m:e>
                      <m:sub>
                        <m:r>
                          <m:t>i</m:t>
                        </m:r>
                      </m:sub>
                    </m:sSub>
                    <m:r>
                      <m:rPr>
                        <m:sty m:val="p"/>
                      </m:rPr>
                      <m:t>+</m:t>
                    </m:r>
                    <m:nary>
                      <m:naryPr>
                        <m:chr m:val="∑"/>
                        <m:limLoc m:val="undOvr"/>
                        <m:subHide m:val="off"/>
                        <m:supHide m:val="on"/>
                      </m:naryPr>
                      <m:sub>
                        <m:r>
                          <m:t>j</m:t>
                        </m:r>
                      </m:sub>
                      <m:sup>
                        <m:r>
                          <m:t>​</m:t>
                        </m:r>
                      </m:sup>
                      <m:e>
                        <m:sSub>
                          <m:e>
                            <m:r>
                              <m:t>β</m:t>
                            </m:r>
                          </m:e>
                          <m:sub>
                            <m:r>
                              <m:t>j</m:t>
                            </m:r>
                          </m:sub>
                        </m:sSub>
                      </m:e>
                    </m:nary>
                    <m:sSub>
                      <m:e>
                        <m:r>
                          <m:t>x</m:t>
                        </m:r>
                      </m:e>
                      <m:sub>
                        <m:r>
                          <m:t>i</m:t>
                        </m:r>
                        <m:r>
                          <m:t>j</m:t>
                        </m:r>
                      </m:sub>
                    </m:sSub>
                    <m:r>
                      <m:rPr>
                        <m:sty m:val="p"/>
                      </m:rPr>
                      <m:t>+</m:t>
                    </m:r>
                    <m:nary>
                      <m:naryPr>
                        <m:chr m:val="∑"/>
                        <m:limLoc m:val="undOvr"/>
                        <m:subHide m:val="off"/>
                        <m:supHide m:val="on"/>
                      </m:naryPr>
                      <m:sub>
                        <m:r>
                          <m:t>k</m:t>
                        </m:r>
                      </m:sub>
                      <m:sup>
                        <m:r>
                          <m:t>​</m:t>
                        </m:r>
                      </m:sup>
                      <m:e>
                        <m:sSub>
                          <m:e>
                            <m:r>
                              <m:t>γ</m:t>
                            </m:r>
                          </m:e>
                          <m:sub>
                            <m:r>
                              <m:t>k</m:t>
                            </m:r>
                          </m:sub>
                        </m:sSub>
                      </m:e>
                    </m:nary>
                    <m:sSub>
                      <m:e>
                        <m:r>
                          <m:t>x</m:t>
                        </m:r>
                      </m:e>
                      <m:sub>
                        <m:r>
                          <m:t>i</m:t>
                        </m:r>
                        <m:r>
                          <m:t>k</m:t>
                        </m:r>
                      </m:sub>
                    </m:sSub>
                    <m:r>
                      <m:rPr>
                        <m:sty m:val="p"/>
                      </m:rPr>
                      <m:t>log</m:t>
                    </m:r>
                    <m:sSub>
                      <m:e>
                        <m:r>
                          <m:t>A</m:t>
                        </m:r>
                      </m:e>
                      <m:sub>
                        <m:r>
                          <m:t>i</m:t>
                        </m:r>
                      </m:sub>
                    </m:sSub>
                    <m:r>
                      <m:rPr>
                        <m:sty m:val="p"/>
                      </m:rPr>
                      <m:t>+</m:t>
                    </m:r>
                    <m:r>
                      <m:rPr>
                        <m:sty m:val="p"/>
                      </m:rPr>
                      <m:t>log</m:t>
                    </m:r>
                    <m:sSub>
                      <m:e>
                        <m:r>
                          <m:t>L</m:t>
                        </m:r>
                      </m:e>
                      <m:sub>
                        <m:r>
                          <m:t>i</m:t>
                        </m:r>
                      </m:sub>
                    </m:sSub>
                  </m:oMath>
                </a14:m>
              </a:p>
            </p:txBody>
          </p:sp>
        </mc:Choice>
      </mc:AlternateContent>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How to Read Each Coefficient as a CMF</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14:m>
                  <m:oMathPara xmlns:m="http://schemas.openxmlformats.org/officeDocument/2006/math">
                    <m:oMathParaPr>
                      <m:jc m:val="center"/>
                    </m:oMathParaPr>
                    <m:oMath>
                      <m:r>
                        <m:rPr>
                          <m:sty m:val="p"/>
                        </m:rPr>
                        <m:t>log</m:t>
                      </m:r>
                      <m:d>
                        <m:dPr>
                          <m:begChr m:val="("/>
                          <m:sepChr m:val=""/>
                          <m:endChr m:val=")"/>
                          <m:grow/>
                        </m:dPr>
                        <m:e>
                          <m:acc>
                            <m:accPr>
                              <m:chr m:val="̂"/>
                            </m:accPr>
                            <m:e>
                              <m:r>
                                <m:t>μ</m:t>
                              </m:r>
                            </m:e>
                          </m:acc>
                        </m:e>
                      </m:d>
                      <m:r>
                        <m:rPr>
                          <m:sty m:val="p"/>
                        </m:rPr>
                        <m:t>=</m:t>
                      </m:r>
                      <m:limLow>
                        <m:e>
                          <m:limLow>
                            <m:e>
                              <m:r>
                                <m:t>α</m:t>
                              </m:r>
                            </m:e>
                            <m:lim>
                              <m:r>
                                <m:rPr>
                                  <m:sty m:val="p"/>
                                </m:rPr>
                                <m:t>⏟</m:t>
                              </m:r>
                            </m:lim>
                          </m:limLow>
                        </m:e>
                        <m:lim>
                          <m:r>
                            <m:rPr>
                              <m:nor/>
                              <m:sty m:val="p"/>
                            </m:rPr>
                            <m:t>intercept</m:t>
                          </m:r>
                        </m:lim>
                      </m:limLow>
                      <m:r>
                        <m:rPr>
                          <m:sty m:val="p"/>
                        </m:rPr>
                        <m:t>+</m:t>
                      </m:r>
                      <m:limLow>
                        <m:e>
                          <m:limLow>
                            <m:e>
                              <m:sSub>
                                <m:e>
                                  <m:r>
                                    <m:t>β</m:t>
                                  </m:r>
                                </m:e>
                                <m:sub>
                                  <m:r>
                                    <m:rPr>
                                      <m:nor/>
                                      <m:sty m:val="p"/>
                                    </m:rPr>
                                    <m:t>AADT</m:t>
                                  </m:r>
                                </m:sub>
                              </m:sSub>
                              <m:r>
                                <m:rPr>
                                  <m:sty m:val="p"/>
                                </m:rPr>
                                <m:t>log</m:t>
                              </m:r>
                              <m:r>
                                <m:t>A</m:t>
                              </m:r>
                            </m:e>
                            <m:lim>
                              <m:r>
                                <m:rPr>
                                  <m:sty m:val="p"/>
                                </m:rPr>
                                <m:t>⏟</m:t>
                              </m:r>
                            </m:lim>
                          </m:limLow>
                        </m:e>
                        <m:lim>
                          <m:r>
                            <m:rPr>
                              <m:nor/>
                              <m:sty m:val="p"/>
                            </m:rPr>
                            <m:t>base AADT</m:t>
                          </m:r>
                        </m:lim>
                      </m:limLow>
                      <m:r>
                        <m:rPr>
                          <m:sty m:val="p"/>
                        </m:rPr>
                        <m:t>+</m:t>
                      </m:r>
                      <m:limLow>
                        <m:e>
                          <m:limLow>
                            <m:e>
                              <m:nary>
                                <m:naryPr>
                                  <m:chr m:val="∑"/>
                                  <m:limLoc m:val="undOvr"/>
                                  <m:subHide m:val="off"/>
                                  <m:supHide m:val="on"/>
                                </m:naryPr>
                                <m:sub>
                                  <m:r>
                                    <m:t>j</m:t>
                                  </m:r>
                                </m:sub>
                                <m:sup>
                                  <m:r>
                                    <m:t>​</m:t>
                                  </m:r>
                                </m:sup>
                                <m:e>
                                  <m:sSub>
                                    <m:e>
                                      <m:r>
                                        <m:t>β</m:t>
                                      </m:r>
                                    </m:e>
                                    <m:sub>
                                      <m:r>
                                        <m:t>j</m:t>
                                      </m:r>
                                    </m:sub>
                                  </m:sSub>
                                </m:e>
                              </m:nary>
                              <m:sSub>
                                <m:e>
                                  <m:r>
                                    <m:t>x</m:t>
                                  </m:r>
                                </m:e>
                                <m:sub>
                                  <m:r>
                                    <m:t>j</m:t>
                                  </m:r>
                                </m:sub>
                              </m:sSub>
                            </m:e>
                            <m:lim>
                              <m:r>
                                <m:rPr>
                                  <m:sty m:val="p"/>
                                </m:rPr>
                                <m:t>⏟</m:t>
                              </m:r>
                            </m:lim>
                          </m:limLow>
                        </m:e>
                        <m:lim>
                          <m:r>
                            <m:rPr>
                              <m:nor/>
                              <m:sty m:val="p"/>
                            </m:rPr>
                            <m:t>upper</m:t>
                          </m:r>
                        </m:lim>
                      </m:limLow>
                      <m:r>
                        <m:rPr>
                          <m:sty m:val="p"/>
                        </m:rPr>
                        <m:t>+</m:t>
                      </m:r>
                      <m:limLow>
                        <m:e>
                          <m:limLow>
                            <m:e>
                              <m:nary>
                                <m:naryPr>
                                  <m:chr m:val="∑"/>
                                  <m:limLoc m:val="undOvr"/>
                                  <m:subHide m:val="off"/>
                                  <m:supHide m:val="on"/>
                                </m:naryPr>
                                <m:sub>
                                  <m:r>
                                    <m:t>k</m:t>
                                  </m:r>
                                </m:sub>
                                <m:sup>
                                  <m:r>
                                    <m:t>​</m:t>
                                  </m:r>
                                </m:sup>
                                <m:e>
                                  <m:sSub>
                                    <m:e>
                                      <m:r>
                                        <m:t>γ</m:t>
                                      </m:r>
                                    </m:e>
                                    <m:sub>
                                      <m:r>
                                        <m:t>k</m:t>
                                      </m:r>
                                    </m:sub>
                                  </m:sSub>
                                </m:e>
                              </m:nary>
                              <m:sSub>
                                <m:e>
                                  <m:r>
                                    <m:t>x</m:t>
                                  </m:r>
                                </m:e>
                                <m:sub>
                                  <m:r>
                                    <m:t>k</m:t>
                                  </m:r>
                                </m:sub>
                              </m:sSub>
                              <m:r>
                                <m:rPr>
                                  <m:sty m:val="p"/>
                                </m:rPr>
                                <m:t>log</m:t>
                              </m:r>
                              <m:r>
                                <m:t>A</m:t>
                              </m:r>
                            </m:e>
                            <m:lim>
                              <m:r>
                                <m:rPr>
                                  <m:sty m:val="p"/>
                                </m:rPr>
                                <m:t>⏟</m:t>
                              </m:r>
                            </m:lim>
                          </m:limLow>
                        </m:e>
                        <m:lim>
                          <m:r>
                            <m:rPr>
                              <m:nor/>
                              <m:sty m:val="p"/>
                            </m:rPr>
                            <m:t>lower</m:t>
                          </m:r>
                        </m:lim>
                      </m:limLow>
                      <m:r>
                        <m:rPr>
                          <m:sty m:val="p"/>
                        </m:rPr>
                        <m:t>+</m:t>
                      </m:r>
                      <m:r>
                        <m:rPr>
                          <m:sty m:val="p"/>
                        </m:rPr>
                        <m:t>log</m:t>
                      </m:r>
                      <m:r>
                        <m:t>L</m:t>
                      </m:r>
                    </m:oMath>
                  </m:oMathPara>
                </a14:m>
              </a:p>
            </p:txBody>
          </p:sp>
        </mc:Choice>
      </mc:AlternateContent>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laceholder 2"/>
              <p:cNvSpPr>
                <a:spLocks noGrp="1"/>
              </p:cNvSpPr>
              <p:nvPr>
                <p:ph idx="1" type="body"/>
              </p:nvPr>
            </p:nvSpPr>
            <p:spPr/>
            <p:txBody>
              <a:bodyPr/>
              <a:lstStyle/>
              <a:p>
                <a:pPr lvl="0" indent="0" marL="0">
                  <a:buNone/>
                </a:pPr>
                <a:r>
                  <a:rPr b="1"/>
                  <a:t>Upper term — fixed CMF at any AADT</a:t>
                </a:r>
              </a:p>
              <a:p>
                <a:pPr lvl="0" indent="0" marL="0">
                  <a:buNone/>
                </a:pPr>
                <a14:m>
                  <m:oMathPara xmlns:m="http://schemas.openxmlformats.org/officeDocument/2006/math">
                    <m:oMathParaPr>
                      <m:jc m:val="center"/>
                    </m:oMathParaPr>
                    <m:oMath>
                      <m:sSub>
                        <m:e>
                          <m:r>
                            <m:rPr>
                              <m:nor/>
                              <m:sty m:val="p"/>
                            </m:rPr>
                            <m:t>CMF</m:t>
                          </m:r>
                        </m:e>
                        <m:sub>
                          <m:r>
                            <m:t>j</m:t>
                          </m:r>
                        </m:sub>
                      </m:sSub>
                      <m:r>
                        <m:rPr>
                          <m:sty m:val="p"/>
                        </m:rPr>
                        <m:t>=</m:t>
                      </m:r>
                      <m:sSup>
                        <m:e>
                          <m:r>
                            <m:t>e</m:t>
                          </m:r>
                        </m:e>
                        <m:sup>
                          <m:r>
                            <m:t> </m:t>
                          </m:r>
                          <m:sSub>
                            <m:e>
                              <m:r>
                                <m:t>β</m:t>
                              </m:r>
                            </m:e>
                            <m:sub>
                              <m:r>
                                <m:t>j</m:t>
                              </m:r>
                            </m:sub>
                          </m:sSub>
                          <m:r>
                            <m:t> </m:t>
                          </m:r>
                          <m:r>
                            <m:t>Δ</m:t>
                          </m:r>
                          <m:sSub>
                            <m:e>
                              <m:r>
                                <m:t>x</m:t>
                              </m:r>
                            </m:e>
                            <m:sub>
                              <m:r>
                                <m:t>j</m:t>
                              </m:r>
                            </m:sub>
                          </m:sSub>
                        </m:sup>
                      </m:sSup>
                      <m:r>
                        <m:t> </m:t>
                      </m:r>
                      <m:r>
                        <m:rPr>
                          <m:nor/>
                          <m:sty m:val="p"/>
                        </m:rPr>
                        <m:t>(same for all traffic levels)</m:t>
                      </m:r>
                    </m:oMath>
                  </m:oMathPara>
                </a14:m>
              </a:p>
              <a:p>
                <a:pPr lvl="0" indent="0" marL="0">
                  <a:buNone/>
                </a:pPr>
                <a:r>
                  <a:rPr/>
                  <a:t>A negative </a:t>
                </a:r>
                <a14:m>
                  <m:oMath xmlns:m="http://schemas.openxmlformats.org/officeDocument/2006/math">
                    <m:r>
                      <m:t>β</m:t>
                    </m:r>
                  </m:oMath>
                </a14:m>
                <a:r>
                  <a:rPr/>
                  <a:t> (e.g. shoulder width) means more of that variable = fewer crashes, at any AADT.</a:t>
                </a:r>
              </a:p>
              <a:p>
                <a:pPr lvl="0" indent="0" marL="0">
                  <a:buNone/>
                </a:pPr>
                <a:r>
                  <a:rPr b="1"/>
                  <a:t>Lower term — CMF scales with traffic</a:t>
                </a:r>
              </a:p>
              <a:p>
                <a:pPr lvl="0" indent="0" marL="0">
                  <a:buNone/>
                </a:pPr>
                <a14:m>
                  <m:oMathPara xmlns:m="http://schemas.openxmlformats.org/officeDocument/2006/math">
                    <m:oMathParaPr>
                      <m:jc m:val="center"/>
                    </m:oMathParaPr>
                    <m:oMath>
                      <m:sSub>
                        <m:e>
                          <m:r>
                            <m:rPr>
                              <m:nor/>
                              <m:sty m:val="p"/>
                            </m:rPr>
                            <m:t>CMF</m:t>
                          </m:r>
                        </m:e>
                        <m:sub>
                          <m:r>
                            <m:t>k</m:t>
                          </m:r>
                        </m:sub>
                      </m:sSub>
                      <m:d>
                        <m:dPr>
                          <m:begChr m:val="("/>
                          <m:sepChr m:val=""/>
                          <m:endChr m:val=")"/>
                          <m:grow/>
                        </m:dPr>
                        <m:e>
                          <m:r>
                            <m:rPr>
                              <m:nor/>
                              <m:sty m:val="p"/>
                            </m:rPr>
                            <m:t>AADT</m:t>
                          </m:r>
                        </m:e>
                      </m:d>
                      <m:r>
                        <m:rPr>
                          <m:sty m:val="p"/>
                        </m:rPr>
                        <m:t>=</m:t>
                      </m:r>
                      <m:sSup>
                        <m:e>
                          <m:r>
                            <m:rPr>
                              <m:nor/>
                              <m:sty m:val="p"/>
                            </m:rPr>
                            <m:t>AADT</m:t>
                          </m:r>
                        </m:e>
                        <m:sup>
                          <m:r>
                            <m:t> </m:t>
                          </m:r>
                          <m:sSub>
                            <m:e>
                              <m:r>
                                <m:t>γ</m:t>
                              </m:r>
                            </m:e>
                            <m:sub>
                              <m:r>
                                <m:t>k</m:t>
                              </m:r>
                            </m:sub>
                          </m:sSub>
                          <m:r>
                            <m:t> </m:t>
                          </m:r>
                          <m:r>
                            <m:t>Δ</m:t>
                          </m:r>
                          <m:sSub>
                            <m:e>
                              <m:r>
                                <m:t>x</m:t>
                              </m:r>
                            </m:e>
                            <m:sub>
                              <m:r>
                                <m:t>k</m:t>
                              </m:r>
                            </m:sub>
                          </m:sSub>
                        </m:sup>
                      </m:sSup>
                    </m:oMath>
                  </m:oMathPara>
                </a14:m>
              </a:p>
              <a:p>
                <a:pPr lvl="0" indent="0" marL="0">
                  <a:buNone/>
                </a:pPr>
                <a:r>
                  <a:rPr/>
                  <a:t>A positive </a:t>
                </a:r>
                <a14:m>
                  <m:oMath xmlns:m="http://schemas.openxmlformats.org/officeDocument/2006/math">
                    <m:r>
                      <m:t>γ</m:t>
                    </m:r>
                  </m:oMath>
                </a14:m>
                <a:r>
                  <a:rPr/>
                  <a:t> means the variable amplifies crash sensitivity to traffic. Higher-AADT roads feel this effect more strongly.</a:t>
                </a:r>
              </a:p>
            </p:txBody>
          </p:sp>
        </mc:Choice>
      </mc:AlternateContent>
      <p:sp>
        <p:nvSpPr>
          <p:cNvPr id="5" name="Text Placeholder 4"/>
          <p:cNvSpPr>
            <a:spLocks noGrp="1"/>
          </p:cNvSpPr>
          <p:nvPr>
            <p:ph idx="3" sz="quarter" type="body"/>
          </p:nvPr>
        </p:nvSpPr>
        <p:spPr/>
        <p:txBody>
          <a:bodyPr/>
          <a:lstStyle/>
          <a:p>
            <a:pPr lvl="0" indent="0" marL="0">
              <a:buNone/>
            </a:pPr>
            <a:r>
              <a:rPr b="1"/>
              <a:t>Quick reference</a:t>
            </a:r>
          </a:p>
        </p:txBody>
      </p:sp>
      <p:graphicFrame>
        <p:nvGraphicFramePr>
          <p:cNvPr id="6" name="Content Placeholder 5"/>
          <p:cNvGraphicFramePr>
            <a:graphicFrameLocks noGrp="1"/>
          </p:cNvGraphicFramePr>
          <p:nvPr>
            <p:ph idx="1"/>
          </p:nvPr>
        </p:nvGraphicFramePr>
        <p:xfrm>
          <a:off x="4635500" y="1625600"/>
          <a:ext cx="4038600" cy="2959100"/>
        </p:xfrm>
        <a:graphic>
          <a:graphicData uri="http://schemas.openxmlformats.org/drawingml/2006/table">
            <a:tbl>
              <a:tblPr firstRow="1" bandRow="1">
                <a:tableStyleId>{5C22544A-7EE6-4342-B048-85BDC9FD1C3A}</a:tableStyleId>
              </a:tblPr>
              <a:tblGrid>
                <a:gridCol w="1346200"/>
                <a:gridCol w="1346200"/>
                <a:gridCol w="1346200"/>
              </a:tblGrid>
              <a:tr h="0">
                <a:tc>
                  <a:txBody>
                    <a:bodyPr/>
                    <a:lstStyle/>
                    <a:p>
                      <a:pPr lvl="0" indent="0" marL="0">
                        <a:buNone/>
                      </a:pPr>
                      <a:r>
                        <a:rPr/>
                        <a:t>Sign</a:t>
                      </a:r>
                    </a:p>
                  </a:txBody>
                  <a:tcPr/>
                </a:tc>
                <a:tc>
                  <a:txBody>
                    <a:bodyPr/>
                    <a:lstStyle/>
                    <a:p>
                      <a:pPr lvl="0" indent="0" marL="0">
                        <a:buNone/>
                      </a:pPr>
                      <a:r>
                        <a:rPr/>
                        <a:t>Term type</a:t>
                      </a:r>
                    </a:p>
                  </a:txBody>
                  <a:tcPr/>
                </a:tc>
                <a:tc>
                  <a:txBody>
                    <a:bodyPr/>
                    <a:lstStyle/>
                    <a:p>
                      <a:pPr lvl="0" indent="0" marL="0">
                        <a:buNone/>
                      </a:pPr>
                      <a:r>
                        <a:rPr/>
                        <a:t>Effect</a:t>
                      </a:r>
                    </a:p>
                  </a:txBody>
                  <a:tcPr/>
                </a:tc>
              </a:tr>
              <a:tr h="0">
                <a:tc>
                  <a:txBody>
                    <a:bodyPr/>
                    <a:lstStyle/>
                    <a:p>
                      <a:pPr lvl="0" indent="0" marL="0">
                        <a:buNone/>
                      </a:pPr>
                      <a:r>
                        <a:rPr/>
                        <a:t>beta &gt; 0</a:t>
                      </a:r>
                    </a:p>
                  </a:txBody>
                </a:tc>
                <a:tc>
                  <a:txBody>
                    <a:bodyPr/>
                    <a:lstStyle/>
                    <a:p>
                      <a:pPr lvl="0" indent="0" marL="0">
                        <a:buNone/>
                      </a:pPr>
                      <a:r>
                        <a:rPr/>
                        <a:t>upper</a:t>
                      </a:r>
                    </a:p>
                  </a:txBody>
                </a:tc>
                <a:tc>
                  <a:txBody>
                    <a:bodyPr/>
                    <a:lstStyle/>
                    <a:p>
                      <a:pPr lvl="0" indent="0" marL="0">
                        <a:buNone/>
                      </a:pPr>
                      <a:r>
                        <a:rPr/>
                        <a:t>more = higher crash rate</a:t>
                      </a:r>
                    </a:p>
                  </a:txBody>
                </a:tc>
              </a:tr>
              <a:tr h="0">
                <a:tc>
                  <a:txBody>
                    <a:bodyPr/>
                    <a:lstStyle/>
                    <a:p>
                      <a:pPr lvl="0" indent="0" marL="0">
                        <a:buNone/>
                      </a:pPr>
                      <a:r>
                        <a:rPr/>
                        <a:t>beta &lt; 0</a:t>
                      </a:r>
                    </a:p>
                  </a:txBody>
                </a:tc>
                <a:tc>
                  <a:txBody>
                    <a:bodyPr/>
                    <a:lstStyle/>
                    <a:p>
                      <a:pPr lvl="0" indent="0" marL="0">
                        <a:buNone/>
                      </a:pPr>
                      <a:r>
                        <a:rPr/>
                        <a:t>upper</a:t>
                      </a:r>
                    </a:p>
                  </a:txBody>
                </a:tc>
                <a:tc>
                  <a:txBody>
                    <a:bodyPr/>
                    <a:lstStyle/>
                    <a:p>
                      <a:pPr lvl="0" indent="0" marL="0">
                        <a:buNone/>
                      </a:pPr>
                      <a:r>
                        <a:rPr/>
                        <a:t>more = lower crash rate</a:t>
                      </a:r>
                    </a:p>
                  </a:txBody>
                </a:tc>
              </a:tr>
              <a:tr h="0">
                <a:tc>
                  <a:txBody>
                    <a:bodyPr/>
                    <a:lstStyle/>
                    <a:p>
                      <a:pPr lvl="0" indent="0" marL="0">
                        <a:buNone/>
                      </a:pPr>
                      <a:r>
                        <a:rPr/>
                        <a:t>gamma &gt; 0</a:t>
                      </a:r>
                    </a:p>
                  </a:txBody>
                </a:tc>
                <a:tc>
                  <a:txBody>
                    <a:bodyPr/>
                    <a:lstStyle/>
                    <a:p>
                      <a:pPr lvl="0" indent="0" marL="0">
                        <a:buNone/>
                      </a:pPr>
                      <a:r>
                        <a:rPr/>
                        <a:t>lower</a:t>
                      </a:r>
                    </a:p>
                  </a:txBody>
                </a:tc>
                <a:tc>
                  <a:txBody>
                    <a:bodyPr/>
                    <a:lstStyle/>
                    <a:p>
                      <a:pPr lvl="0" indent="0" marL="0">
                        <a:buNone/>
                      </a:pPr>
                      <a:r>
                        <a:rPr/>
                        <a:t>amplifies AADT sensitivity</a:t>
                      </a:r>
                    </a:p>
                  </a:txBody>
                </a:tc>
              </a:tr>
              <a:tr h="0">
                <a:tc>
                  <a:txBody>
                    <a:bodyPr/>
                    <a:lstStyle/>
                    <a:p>
                      <a:pPr lvl="0" indent="0" marL="0">
                        <a:buNone/>
                      </a:pPr>
                      <a:r>
                        <a:rPr/>
                        <a:t>gamma &lt; 0</a:t>
                      </a:r>
                    </a:p>
                  </a:txBody>
                </a:tc>
                <a:tc>
                  <a:txBody>
                    <a:bodyPr/>
                    <a:lstStyle/>
                    <a:p>
                      <a:pPr lvl="0" indent="0" marL="0">
                        <a:buNone/>
                      </a:pPr>
                      <a:r>
                        <a:rPr/>
                        <a:t>lower</a:t>
                      </a:r>
                    </a:p>
                  </a:txBody>
                </a:tc>
                <a:tc>
                  <a:txBody>
                    <a:bodyPr/>
                    <a:lstStyle/>
                    <a:p>
                      <a:pPr lvl="0" indent="0" marL="0">
                        <a:buNone/>
                      </a:pPr>
                      <a:r>
                        <a:rPr/>
                        <a:t>dampens AADT sensitivity</a:t>
                      </a:r>
                    </a:p>
                  </a:txBody>
                </a:tc>
              </a:tr>
            </a:tbl>
          </a:graphicData>
        </a:graphic>
      </p:graphicFrame>
      <p:sp>
        <p:nvSpPr>
          <p:cNvPr id="6" name="Content Placeholder 5"/>
          <p:cNvSpPr>
            <a:spLocks noGrp="1"/>
          </p:cNvSpPr>
          <p:nvPr>
            <p:ph idx="4" sz="quarter"/>
          </p:nvPr>
        </p:nvSpPr>
        <p:spPr/>
        <p:txBody>
          <a:bodyPr/>
          <a:lstStyle/>
          <a:p>
            <a:pPr lvl="0" indent="0" marL="0">
              <a:buNone/>
            </a:pPr>
            <a:r>
              <a:rPr b="1"/>
              <a:t>Offset — log(Length)</a:t>
            </a:r>
          </a:p>
          <a:p>
            <a:pPr lvl="0" indent="0" marL="0">
              <a:buNone/>
            </a:pPr>
            <a:r>
              <a:rPr/>
              <a:t>Always included at coefficient = 1. A 2-mile segment is expected to have exactly twice as many crashes as a 1-mile segment with identical characteristics.</a:t>
            </a:r>
          </a:p>
          <a:p>
            <a:pPr lvl="0" indent="0" marL="0">
              <a:buNone/>
            </a:pPr>
            <a:r>
              <a:rPr i="1"/>
              <a:t>See “The Fitted Model” slide for every coefficient with exact values.</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Why More Trucks / Wider Median Can Mean More Crashes</a:t>
            </a:r>
          </a:p>
        </p:txBody>
      </p:sp>
      <p:sp>
        <p:nvSpPr>
          <p:cNvPr id="4" name="Text Placeholder 3"/>
          <p:cNvSpPr>
            <a:spLocks noGrp="1"/>
          </p:cNvSpPr>
          <p:nvPr>
            <p:ph idx="2" sz="half" type="body"/>
          </p:nvPr>
        </p:nvSpPr>
        <p:spPr/>
        <p:txBody>
          <a:bodyPr/>
          <a:lstStyle/>
          <a:p>
            <a:pPr lvl="0" indent="0" marL="0">
              <a:buNone/>
            </a:pPr>
            <a:r>
              <a:rPr b="1"/>
              <a:t>Counter-intuitive results usually reflect correlated road types, not literal safety effects.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Variable</a:t>
                      </a:r>
                    </a:p>
                  </a:txBody>
                  <a:tcPr/>
                </a:tc>
                <a:tc>
                  <a:txBody>
                    <a:bodyPr/>
                    <a:lstStyle/>
                    <a:p>
                      <a:pPr lvl="0" indent="0" marL="0">
                        <a:buNone/>
                      </a:pPr>
                      <a:r>
                        <a:rPr/>
                        <a:t>Sign</a:t>
                      </a:r>
                    </a:p>
                  </a:txBody>
                  <a:tcPr/>
                </a:tc>
                <a:tc>
                  <a:txBody>
                    <a:bodyPr/>
                    <a:lstStyle/>
                    <a:p>
                      <a:pPr lvl="0" indent="0" marL="0">
                        <a:buNone/>
                      </a:pPr>
                      <a:r>
                        <a:rPr/>
                        <a:t>Likely interpretation</a:t>
                      </a:r>
                    </a:p>
                  </a:txBody>
                  <a:tcPr/>
                </a:tc>
              </a:tr>
              <a:tr h="0">
                <a:tc>
                  <a:txBody>
                    <a:bodyPr/>
                    <a:lstStyle/>
                    <a:p>
                      <a:pPr lvl="0" indent="0" marL="0">
                        <a:buNone/>
                      </a:pPr>
                      <a:r>
                        <a:rPr/>
                        <a:t>Double-unit trucks</a:t>
                      </a:r>
                    </a:p>
                  </a:txBody>
                </a:tc>
                <a:tc>
                  <a:txBody>
                    <a:bodyPr/>
                    <a:lstStyle/>
                    <a:p>
                      <a:pPr lvl="0" indent="0" marL="0">
                        <a:buNone/>
                      </a:pPr>
                      <a:r>
                        <a:rPr/>
                        <a:t>Positive</a:t>
                      </a:r>
                    </a:p>
                  </a:txBody>
                </a:tc>
                <a:tc>
                  <a:txBody>
                    <a:bodyPr/>
                    <a:lstStyle/>
                    <a:p>
                      <a:pPr lvl="0" indent="0" marL="0">
                        <a:buNone/>
                      </a:pPr>
                      <a:r>
                        <a:rPr/>
                        <a:t>Older rural corridors with heavier freight use</a:t>
                      </a:r>
                    </a:p>
                  </a:txBody>
                </a:tc>
              </a:tr>
              <a:tr h="0">
                <a:tc>
                  <a:txBody>
                    <a:bodyPr/>
                    <a:lstStyle/>
                    <a:p>
                      <a:pPr lvl="0" indent="0" marL="0">
                        <a:buNone/>
                      </a:pPr>
                      <a:r>
                        <a:rPr/>
                        <a:t>Median width</a:t>
                      </a:r>
                    </a:p>
                  </a:txBody>
                </a:tc>
                <a:tc>
                  <a:txBody>
                    <a:bodyPr/>
                    <a:lstStyle/>
                    <a:p>
                      <a:pPr lvl="0" indent="0" marL="0">
                        <a:buNone/>
                      </a:pPr>
                      <a:r>
                        <a:rPr/>
                        <a:t>Positive upper term</a:t>
                      </a:r>
                    </a:p>
                  </a:txBody>
                </a:tc>
                <a:tc>
                  <a:txBody>
                    <a:bodyPr/>
                    <a:lstStyle/>
                    <a:p>
                      <a:pPr lvl="0" indent="0" marL="0">
                        <a:buNone/>
                      </a:pPr>
                      <a:r>
                        <a:rPr/>
                        <a:t>High-speed divided arterials with more severe crashes</a:t>
                      </a:r>
                    </a:p>
                  </a:txBody>
                </a:tc>
              </a:tr>
            </a:tbl>
          </a:graphicData>
        </a:graphic>
      </p:graphicFrame>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Key insight:</a:t>
            </a:r>
            <a:r>
              <a:rPr/>
              <a:t> a large random-parameter SD means the effect varies strongly by site.</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Interactive CMF Dashboard</a:t>
            </a:r>
          </a:p>
        </p:txBody>
      </p:sp>
      <p:sp>
        <p:nvSpPr>
          <p:cNvPr id="4" name="Text Placeholder 3"/>
          <p:cNvSpPr>
            <a:spLocks noGrp="1"/>
          </p:cNvSpPr>
          <p:nvPr>
            <p:ph idx="2" sz="half" type="body"/>
          </p:nvPr>
        </p:nvSpPr>
        <p:spPr/>
        <p:txBody>
          <a:bodyPr/>
          <a:lstStyle/>
          <a:p>
            <a:pPr lvl="0" indent="0" marL="0">
              <a:buNone/>
            </a:pPr>
            <a:r>
              <a:rPr b="1"/>
              <a:t>Interactive CMF Dashboard</a:t>
            </a:r>
            <a:r>
              <a:rPr/>
              <a:t> — open </a:t>
            </a:r>
            <a:r>
              <a:rPr>
                <a:latin typeface="Courier"/>
              </a:rPr>
              <a:t>results/ex16_3_cmf/hierarchical_cmf_dashboard.html</a:t>
            </a:r>
            <a:r>
              <a:rPr/>
              <a:t> in any browser.</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Feature</a:t>
                      </a:r>
                    </a:p>
                  </a:txBody>
                  <a:tcPr/>
                </a:tc>
                <a:tc>
                  <a:txBody>
                    <a:bodyPr/>
                    <a:lstStyle/>
                    <a:p>
                      <a:pPr lvl="0" indent="0" marL="0">
                        <a:buNone/>
                      </a:pPr>
                      <a:r>
                        <a:rPr/>
                        <a:t>What it does</a:t>
                      </a:r>
                    </a:p>
                  </a:txBody>
                  <a:tcPr/>
                </a:tc>
              </a:tr>
              <a:tr h="0">
                <a:tc>
                  <a:txBody>
                    <a:bodyPr/>
                    <a:lstStyle/>
                    <a:p>
                      <a:pPr lvl="0" indent="0" marL="0">
                        <a:buNone/>
                      </a:pPr>
                      <a:r>
                        <a:rPr/>
                        <a:t>Variable dropdown</a:t>
                      </a:r>
                    </a:p>
                  </a:txBody>
                </a:tc>
                <a:tc>
                  <a:txBody>
                    <a:bodyPr/>
                    <a:lstStyle/>
                    <a:p>
                      <a:pPr lvl="0" indent="0" marL="0">
                        <a:buNone/>
                      </a:pPr>
                      <a:r>
                        <a:rPr/>
                        <a:t>Select a model variable</a:t>
                      </a:r>
                    </a:p>
                  </a:txBody>
                </a:tc>
              </a:tr>
              <a:tr h="0">
                <a:tc>
                  <a:txBody>
                    <a:bodyPr/>
                    <a:lstStyle/>
                    <a:p>
                      <a:pPr lvl="0" indent="0" marL="0">
                        <a:buNone/>
                      </a:pPr>
                      <a:r>
                        <a:rPr/>
                        <a:t>Mode toggle</a:t>
                      </a:r>
                    </a:p>
                  </a:txBody>
                </a:tc>
                <a:tc>
                  <a:txBody>
                    <a:bodyPr/>
                    <a:lstStyle/>
                    <a:p>
                      <a:pPr lvl="0" indent="0" marL="0">
                        <a:buNone/>
                      </a:pPr>
                      <a:r>
                        <a:rPr/>
                        <a:t>Switch between predicted crashes and CMF</a:t>
                      </a:r>
                    </a:p>
                  </a:txBody>
                </a:tc>
              </a:tr>
              <a:tr h="0">
                <a:tc>
                  <a:txBody>
                    <a:bodyPr/>
                    <a:lstStyle/>
                    <a:p>
                      <a:pPr lvl="0" indent="0" marL="0">
                        <a:buNone/>
                      </a:pPr>
                      <a:r>
                        <a:rPr/>
                        <a:t>AADT slider</a:t>
                      </a:r>
                    </a:p>
                  </a:txBody>
                </a:tc>
                <a:tc>
                  <a:txBody>
                    <a:bodyPr/>
                    <a:lstStyle/>
                    <a:p>
                      <a:pPr lvl="0" indent="0" marL="0">
                        <a:buNone/>
                      </a:pPr>
                      <a:r>
                        <a:rPr/>
                        <a:t>Move between low and high traffic</a:t>
                      </a:r>
                    </a:p>
                  </a:txBody>
                </a:tc>
              </a:tr>
              <a:tr h="0">
                <a:tc>
                  <a:txBody>
                    <a:bodyPr/>
                    <a:lstStyle/>
                    <a:p>
                      <a:pPr lvl="0" indent="0" marL="0">
                        <a:buNone/>
                      </a:pPr>
                      <a:r>
                        <a:rPr/>
                        <a:t>Fan chart</a:t>
                      </a:r>
                    </a:p>
                  </a:txBody>
                </a:tc>
                <a:tc>
                  <a:txBody>
                    <a:bodyPr/>
                    <a:lstStyle/>
                    <a:p>
                      <a:pPr lvl="0" indent="0" marL="0">
                        <a:buNone/>
                      </a:pPr>
                      <a:r>
                        <a:rPr/>
                        <a:t>Shows low / median / high response curves</a:t>
                      </a:r>
                    </a:p>
                  </a:txBody>
                </a:tc>
              </a:tr>
            </a:tbl>
          </a:graphicData>
        </a:graphic>
      </p:graphicFrame>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Fan chart key:</a:t>
            </a:r>
            <a:r>
              <a:rPr/>
              <a:t> parallel lines = upper-level effect · diverging lines = traffic-interaction effect</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Key Findings &amp; Benefits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Benefit</a:t>
                      </a:r>
                    </a:p>
                  </a:txBody>
                  <a:tcPr/>
                </a:tc>
                <a:tc>
                  <a:txBody>
                    <a:bodyPr/>
                    <a:lstStyle/>
                    <a:p>
                      <a:pPr lvl="0" indent="0" marL="0">
                        <a:buNone/>
                      </a:pPr>
                      <a:r>
                        <a:rPr/>
                        <a:t>Summary</a:t>
                      </a:r>
                    </a:p>
                  </a:txBody>
                  <a:tcPr/>
                </a:tc>
              </a:tr>
              <a:tr h="0">
                <a:tc>
                  <a:txBody>
                    <a:bodyPr/>
                    <a:lstStyle/>
                    <a:p>
                      <a:pPr lvl="0" indent="0" marL="0">
                        <a:buNone/>
                      </a:pPr>
                      <a:r>
                        <a:rPr/>
                        <a:t>Two-level structure</a:t>
                      </a:r>
                    </a:p>
                  </a:txBody>
                </a:tc>
                <a:tc>
                  <a:txBody>
                    <a:bodyPr/>
                    <a:lstStyle/>
                    <a:p>
                      <a:pPr lvl="0" indent="0" marL="0">
                        <a:buNone/>
                      </a:pPr>
                      <a:r>
                        <a:rPr/>
                        <a:t>Separates baseline crash rate from traffic sensitivity</a:t>
                      </a:r>
                    </a:p>
                  </a:txBody>
                </a:tc>
              </a:tr>
              <a:tr h="0">
                <a:tc>
                  <a:txBody>
                    <a:bodyPr/>
                    <a:lstStyle/>
                    <a:p>
                      <a:pPr lvl="0" indent="0" marL="0">
                        <a:buNone/>
                      </a:pPr>
                      <a:r>
                        <a:rPr/>
                        <a:t>Random search</a:t>
                      </a:r>
                    </a:p>
                  </a:txBody>
                </a:tc>
                <a:tc>
                  <a:txBody>
                    <a:bodyPr/>
                    <a:lstStyle/>
                    <a:p>
                      <a:pPr lvl="0" indent="0" marL="0">
                        <a:buNone/>
                      </a:pPr>
                      <a:r>
                        <a:rPr/>
                        <a:t>Optimises RMSE and Poisson deviance together</a:t>
                      </a:r>
                    </a:p>
                  </a:txBody>
                </a:tc>
              </a:tr>
              <a:tr h="0">
                <a:tc>
                  <a:txBody>
                    <a:bodyPr/>
                    <a:lstStyle/>
                    <a:p>
                      <a:pPr lvl="0" indent="0" marL="0">
                        <a:buNone/>
                      </a:pPr>
                      <a:r>
                        <a:rPr/>
                        <a:t>Monotonicity constraint</a:t>
                      </a:r>
                    </a:p>
                  </a:txBody>
                </a:tc>
                <a:tc>
                  <a:txBody>
                    <a:bodyPr/>
                    <a:lstStyle/>
                    <a:p>
                      <a:pPr lvl="0" indent="0" marL="0">
                        <a:buNone/>
                      </a:pPr>
                      <a:r>
                        <a:rPr/>
                        <a:t>Keeps crashes increasing with traffic</a:t>
                      </a:r>
                    </a:p>
                  </a:txBody>
                </a:tc>
              </a:tr>
              <a:tr h="0">
                <a:tc>
                  <a:txBody>
                    <a:bodyPr/>
                    <a:lstStyle/>
                    <a:p>
                      <a:pPr lvl="0" indent="0" marL="0">
                        <a:buNone/>
                      </a:pPr>
                      <a:r>
                        <a:rPr/>
                        <a:t>Model result</a:t>
                      </a:r>
                    </a:p>
                  </a:txBody>
                </a:tc>
                <a:tc>
                  <a:txBody>
                    <a:bodyPr/>
                    <a:lstStyle/>
                    <a:p>
                      <a:pPr lvl="0" indent="0" marL="0">
                        <a:buNone/>
                      </a:pPr>
                      <a:r>
                        <a:rPr/>
                        <a:t>Better BIC, lower RMSE, higher R² than the benchmark</a:t>
                      </a:r>
                    </a:p>
                  </a:txBody>
                </a:tc>
              </a:tr>
            </a:tbl>
          </a:graphicData>
        </a:graphic>
      </p:graphicFrame>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Run:</a:t>
            </a:r>
            <a:r>
              <a:rPr/>
              <a:t> </a:t>
            </a:r>
            <a:r>
              <a:rPr>
                <a:latin typeface="Courier"/>
              </a:rPr>
              <a:t>python build_washington_presentation.py</a:t>
            </a:r>
            <a:r>
              <a:rPr/>
              <a:t> to regenerate HTML and PPTX.</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Appendix: Coefficients Side-by-Side</a:t>
            </a:r>
          </a:p>
        </p:txBody>
      </p:sp>
      <p:sp>
        <p:nvSpPr>
          <p:cNvPr id="4" name="Text Placeholder 3"/>
          <p:cNvSpPr>
            <a:spLocks noGrp="1"/>
          </p:cNvSpPr>
          <p:nvPr>
            <p:ph idx="2" sz="half" type="body"/>
          </p:nvPr>
        </p:nvSpPr>
        <p:spPr/>
        <p:txBody>
          <a:bodyPr/>
          <a:lstStyle/>
          <a:p>
            <a:pPr lvl="0" indent="0" marL="0">
              <a:spcBef>
                <a:spcPts val="3000"/>
              </a:spcBef>
              <a:buNone/>
            </a:pPr>
            <a:r>
              <a:rPr b="1"/>
              <a:t>Benchmark vs proposed — all parameters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016000"/>
                <a:gridCol w="1016000"/>
                <a:gridCol w="1016000"/>
                <a:gridCol w="1016000"/>
                <a:gridCol w="1016000"/>
              </a:tblGrid>
              <a:tr h="0">
                <a:tc>
                  <a:txBody>
                    <a:bodyPr/>
                    <a:lstStyle/>
                    <a:p>
                      <a:pPr lvl="0" indent="0" marL="0">
                        <a:buNone/>
                      </a:pPr>
                      <a:r>
                        <a:rPr/>
                        <a:t>Parameter</a:t>
                      </a:r>
                    </a:p>
                  </a:txBody>
                  <a:tcPr/>
                </a:tc>
                <a:tc>
                  <a:txBody>
                    <a:bodyPr/>
                    <a:lstStyle/>
                    <a:p>
                      <a:pPr lvl="0" indent="0" marL="0">
                        <a:buNone/>
                      </a:pPr>
                      <a:r>
                        <a:rPr/>
                        <a:t>Benchmark coef</a:t>
                      </a:r>
                    </a:p>
                  </a:txBody>
                  <a:tcPr/>
                </a:tc>
                <a:tc>
                  <a:txBody>
                    <a:bodyPr/>
                    <a:lstStyle/>
                    <a:p>
                      <a:pPr lvl="0" indent="0" marL="0">
                        <a:buNone/>
                      </a:pPr>
                      <a:r>
                        <a:rPr/>
                        <a:t>Proposed fixed</a:t>
                      </a:r>
                    </a:p>
                  </a:txBody>
                  <a:tcPr/>
                </a:tc>
                <a:tc>
                  <a:txBody>
                    <a:bodyPr/>
                    <a:lstStyle/>
                    <a:p>
                      <a:pPr lvl="0" indent="0" marL="0">
                        <a:buNone/>
                      </a:pPr>
                      <a:r>
                        <a:rPr/>
                        <a:t>Random mean</a:t>
                      </a:r>
                    </a:p>
                  </a:txBody>
                  <a:tcPr/>
                </a:tc>
                <a:tc>
                  <a:txBody>
                    <a:bodyPr/>
                    <a:lstStyle/>
                    <a:p>
                      <a:pPr lvl="0" indent="0" marL="0">
                        <a:buNone/>
                      </a:pPr>
                      <a:r>
                        <a:rPr/>
                        <a:t>Random SD</a:t>
                      </a:r>
                    </a:p>
                  </a:txBody>
                  <a:tcPr/>
                </a:tc>
              </a:tr>
              <a:tr h="0">
                <a:tc>
                  <a:txBody>
                    <a:bodyPr/>
                    <a:lstStyle/>
                    <a:p>
                      <a:pPr lvl="0" indent="0" marL="0">
                        <a:buNone/>
                      </a:pPr>
                      <a:r>
                        <a:rPr/>
                        <a:t>Average Annual Precipitation (in/yr) x log(AADT)</a:t>
                      </a:r>
                    </a:p>
                  </a:txBody>
                </a:tc>
                <a:tc>
                  <a:txBody>
                    <a:bodyPr/>
                    <a:lstStyle/>
                    <a:p>
                      <a:endParaRPr/>
                    </a:p>
                  </a:txBody>
                </a:tc>
                <a:tc>
                  <a:txBody>
                    <a:bodyPr/>
                    <a:lstStyle/>
                    <a:p>
                      <a:pPr lvl="0" indent="0" marL="0">
                        <a:buNone/>
                      </a:pPr>
                      <a:r>
                        <a:rPr/>
                        <a:t>0.006028</a:t>
                      </a:r>
                    </a:p>
                  </a:txBody>
                </a:tc>
                <a:tc>
                  <a:txBody>
                    <a:bodyPr/>
                    <a:lstStyle/>
                    <a:p>
                      <a:endParaRPr/>
                    </a:p>
                  </a:txBody>
                </a:tc>
                <a:tc>
                  <a:txBody>
                    <a:bodyPr/>
                    <a:lstStyle/>
                    <a:p>
                      <a:endParaRPr/>
                    </a:p>
                  </a:txBody>
                </a:tc>
              </a:tr>
              <a:tr h="0">
                <a:tc>
                  <a:txBody>
                    <a:bodyPr/>
                    <a:lstStyle/>
                    <a:p>
                      <a:pPr lvl="0" indent="0" marL="0">
                        <a:buNone/>
                      </a:pPr>
                      <a:r>
                        <a:rPr/>
                        <a:t>Average Longitudinal Slope (%)</a:t>
                      </a:r>
                    </a:p>
                  </a:txBody>
                </a:tc>
                <a:tc>
                  <a:txBody>
                    <a:bodyPr/>
                    <a:lstStyle/>
                    <a:p>
                      <a:endParaRPr/>
                    </a:p>
                  </a:txBody>
                </a:tc>
                <a:tc>
                  <a:txBody>
                    <a:bodyPr/>
                    <a:lstStyle/>
                    <a:p>
                      <a:pPr lvl="0" indent="0" marL="0">
                        <a:buNone/>
                      </a:pPr>
                      <a:r>
                        <a:rPr/>
                        <a:t>-1.4595</a:t>
                      </a:r>
                    </a:p>
                  </a:txBody>
                </a:tc>
                <a:tc>
                  <a:txBody>
                    <a:bodyPr/>
                    <a:lstStyle/>
                    <a:p>
                      <a:endParaRPr/>
                    </a:p>
                  </a:txBody>
                </a:tc>
                <a:tc>
                  <a:txBody>
                    <a:bodyPr/>
                    <a:lstStyle/>
                    <a:p>
                      <a:endParaRPr/>
                    </a:p>
                  </a:txBody>
                </a:tc>
              </a:tr>
              <a:tr h="0">
                <a:tc>
                  <a:txBody>
                    <a:bodyPr/>
                    <a:lstStyle/>
                    <a:p>
                      <a:pPr lvl="0" indent="0" marL="0">
                        <a:buNone/>
                      </a:pPr>
                      <a:r>
                        <a:rPr/>
                        <a:t>Average Longitudinal Slope (%) x log(AADT)</a:t>
                      </a:r>
                    </a:p>
                  </a:txBody>
                </a:tc>
                <a:tc>
                  <a:txBody>
                    <a:bodyPr/>
                    <a:lstStyle/>
                    <a:p>
                      <a:endParaRPr/>
                    </a:p>
                  </a:txBody>
                </a:tc>
                <a:tc>
                  <a:txBody>
                    <a:bodyPr/>
                    <a:lstStyle/>
                    <a:p>
                      <a:pPr lvl="0" indent="0" marL="0">
                        <a:buNone/>
                      </a:pPr>
                      <a:r>
                        <a:rPr/>
                        <a:t>0.149102</a:t>
                      </a:r>
                    </a:p>
                  </a:txBody>
                </a:tc>
                <a:tc>
                  <a:txBody>
                    <a:bodyPr/>
                    <a:lstStyle/>
                    <a:p>
                      <a:endParaRPr/>
                    </a:p>
                  </a:txBody>
                </a:tc>
                <a:tc>
                  <a:txBody>
                    <a:bodyPr/>
                    <a:lstStyle/>
                    <a:p>
                      <a:endParaRPr/>
                    </a:p>
                  </a:txBody>
                </a:tc>
              </a:tr>
              <a:tr h="0">
                <a:tc>
                  <a:txBody>
                    <a:bodyPr/>
                    <a:lstStyle/>
                    <a:p>
                      <a:pPr lvl="0" indent="0" marL="0">
                        <a:buNone/>
                      </a:pPr>
                      <a:r>
                        <a:rPr/>
                        <a:t>Exposure Index</a:t>
                      </a:r>
                    </a:p>
                  </a:txBody>
                </a:tc>
                <a:tc>
                  <a:txBody>
                    <a:bodyPr/>
                    <a:lstStyle/>
                    <a:p>
                      <a:pPr lvl="0" indent="0" marL="0">
                        <a:buNone/>
                      </a:pPr>
                      <a:r>
                        <a:rPr/>
                        <a:t>-0.066386</a:t>
                      </a:r>
                    </a:p>
                  </a:txBody>
                </a:tc>
                <a:tc>
                  <a:txBody>
                    <a:bodyPr/>
                    <a:lstStyle/>
                    <a:p>
                      <a:endParaRPr/>
                    </a:p>
                  </a:txBody>
                </a:tc>
                <a:tc>
                  <a:txBody>
                    <a:bodyPr/>
                    <a:lstStyle/>
                    <a:p>
                      <a:endParaRPr/>
                    </a:p>
                  </a:txBody>
                </a:tc>
                <a:tc>
                  <a:txBody>
                    <a:bodyPr/>
                    <a:lstStyle/>
                    <a:p>
                      <a:endParaRPr/>
                    </a:p>
                  </a:txBody>
                </a:tc>
              </a:tr>
              <a:tr h="0">
                <a:tc>
                  <a:txBody>
                    <a:bodyPr/>
                    <a:lstStyle/>
                    <a:p>
                      <a:pPr lvl="0" indent="0" marL="0">
                        <a:buNone/>
                      </a:pPr>
                      <a:r>
                        <a:rPr/>
                        <a:t>Grade-Break Rate per Mile</a:t>
                      </a:r>
                    </a:p>
                  </a:txBody>
                </a:tc>
                <a:tc>
                  <a:txBody>
                    <a:bodyPr/>
                    <a:lstStyle/>
                    <a:p>
                      <a:pPr lvl="0" indent="0" marL="0">
                        <a:buNone/>
                      </a:pPr>
                      <a:r>
                        <a:rPr/>
                        <a:t>0.011867</a:t>
                      </a:r>
                    </a:p>
                  </a:txBody>
                </a:tc>
                <a:tc>
                  <a:txBody>
                    <a:bodyPr/>
                    <a:lstStyle/>
                    <a:p>
                      <a:endParaRPr/>
                    </a:p>
                  </a:txBody>
                </a:tc>
                <a:tc>
                  <a:txBody>
                    <a:bodyPr/>
                    <a:lstStyle/>
                    <a:p>
                      <a:endParaRPr/>
                    </a:p>
                  </a:txBody>
                </a:tc>
                <a:tc>
                  <a:txBody>
                    <a:bodyPr/>
                    <a:lstStyle/>
                    <a:p>
                      <a:endParaRPr/>
                    </a:p>
                  </a:txBody>
                </a:tc>
              </a:tr>
              <a:tr h="0">
                <a:tc>
                  <a:txBody>
                    <a:bodyPr/>
                    <a:lstStyle/>
                    <a:p>
                      <a:pPr lvl="0" indent="0" marL="0">
                        <a:buNone/>
                      </a:pPr>
                      <a:r>
                        <a:rPr/>
                        <a:t>High-Snow Days per Year (snowfall &gt; 1 in/day)</a:t>
                      </a:r>
                    </a:p>
                  </a:txBody>
                </a:tc>
                <a:tc>
                  <a:txBody>
                    <a:bodyPr/>
                    <a:lstStyle/>
                    <a:p>
                      <a:pPr lvl="0" indent="0" marL="0">
                        <a:buNone/>
                      </a:pPr>
                      <a:r>
                        <a:rPr/>
                        <a:t>0.212231</a:t>
                      </a:r>
                    </a:p>
                  </a:txBody>
                </a:tc>
                <a:tc>
                  <a:txBody>
                    <a:bodyPr/>
                    <a:lstStyle/>
                    <a:p>
                      <a:endParaRPr/>
                    </a:p>
                  </a:txBody>
                </a:tc>
                <a:tc>
                  <a:txBody>
                    <a:bodyPr/>
                    <a:lstStyle/>
                    <a:p>
                      <a:endParaRPr/>
                    </a:p>
                  </a:txBody>
                </a:tc>
                <a:tc>
                  <a:txBody>
                    <a:bodyPr/>
                    <a:lstStyle/>
                    <a:p>
                      <a:endParaRPr/>
                    </a:p>
                  </a:txBody>
                </a:tc>
              </a:tr>
              <a:tr h="0">
                <a:tc>
                  <a:txBody>
                    <a:bodyPr/>
                    <a:lstStyle/>
                    <a:p>
                      <a:pPr lvl="0" indent="0" marL="0">
                        <a:buNone/>
                      </a:pPr>
                      <a:r>
                        <a:rPr/>
                        <a:t>Horizontal Curve Density (curves per mile)</a:t>
                      </a:r>
                    </a:p>
                  </a:txBody>
                </a:tc>
                <a:tc>
                  <a:txBody>
                    <a:bodyPr/>
                    <a:lstStyle/>
                    <a:p>
                      <a:pPr lvl="0" indent="0" marL="0">
                        <a:buNone/>
                      </a:pPr>
                      <a:r>
                        <a:rPr/>
                        <a:t>0.061300</a:t>
                      </a:r>
                    </a:p>
                  </a:txBody>
                </a:tc>
                <a:tc>
                  <a:txBody>
                    <a:bodyPr/>
                    <a:lstStyle/>
                    <a:p>
                      <a:endParaRPr/>
                    </a:p>
                  </a:txBody>
                </a:tc>
                <a:tc>
                  <a:txBody>
                    <a:bodyPr/>
                    <a:lstStyle/>
                    <a:p>
                      <a:endParaRPr/>
                    </a:p>
                  </a:txBody>
                </a:tc>
                <a:tc>
                  <a:txBody>
                    <a:bodyPr/>
                    <a:lstStyle/>
                    <a:p>
                      <a:endParaRPr/>
                    </a:p>
                  </a:txBody>
                </a:tc>
              </a:tr>
              <a:tr h="0">
                <a:tc>
                  <a:txBody>
                    <a:bodyPr/>
                    <a:lstStyle/>
                    <a:p>
                      <a:pPr lvl="0" indent="0" marL="0">
                        <a:buNone/>
                      </a:pPr>
                      <a:r>
                        <a:rPr/>
                        <a:t>Intercept</a:t>
                      </a:r>
                    </a:p>
                  </a:txBody>
                </a:tc>
                <a:tc>
                  <a:txBody>
                    <a:bodyPr/>
                    <a:lstStyle/>
                    <a:p>
                      <a:pPr lvl="0" indent="0" marL="0">
                        <a:buNone/>
                      </a:pPr>
                      <a:r>
                        <a:rPr/>
                        <a:t>-8.2280</a:t>
                      </a:r>
                    </a:p>
                  </a:txBody>
                </a:tc>
                <a:tc>
                  <a:txBody>
                    <a:bodyPr/>
                    <a:lstStyle/>
                    <a:p>
                      <a:pPr lvl="0" indent="0" marL="0">
                        <a:buNone/>
                      </a:pPr>
                      <a:r>
                        <a:rPr/>
                        <a:t>-7.0970</a:t>
                      </a:r>
                    </a:p>
                  </a:txBody>
                </a:tc>
                <a:tc>
                  <a:txBody>
                    <a:bodyPr/>
                    <a:lstStyle/>
                    <a:p>
                      <a:endParaRPr/>
                    </a:p>
                  </a:txBody>
                </a:tc>
                <a:tc>
                  <a:txBody>
                    <a:bodyPr/>
                    <a:lstStyle/>
                    <a:p>
                      <a:endParaRPr/>
                    </a:p>
                  </a:txBody>
                </a:tc>
              </a:tr>
              <a:tr h="0">
                <a:tc>
                  <a:txBody>
                    <a:bodyPr/>
                    <a:lstStyle/>
                    <a:p>
                      <a:pPr lvl="0" indent="0" marL="0">
                        <a:buNone/>
                      </a:pPr>
                      <a:r>
                        <a:rPr/>
                        <a:t>Intersection Density (intersections per mile)</a:t>
                      </a:r>
                    </a:p>
                  </a:txBody>
                </a:tc>
                <a:tc>
                  <a:txBody>
                    <a:bodyPr/>
                    <a:lstStyle/>
                    <a:p>
                      <a:pPr lvl="0" indent="0" marL="0">
                        <a:buNone/>
                      </a:pPr>
                      <a:r>
                        <a:rPr/>
                        <a:t>-0.027817</a:t>
                      </a:r>
                    </a:p>
                  </a:txBody>
                </a:tc>
                <a:tc>
                  <a:txBody>
                    <a:bodyPr/>
                    <a:lstStyle/>
                    <a:p>
                      <a:endParaRPr/>
                    </a:p>
                  </a:txBody>
                </a:tc>
                <a:tc>
                  <a:txBody>
                    <a:bodyPr/>
                    <a:lstStyle/>
                    <a:p>
                      <a:endParaRPr/>
                    </a:p>
                  </a:txBody>
                </a:tc>
                <a:tc>
                  <a:txBody>
                    <a:bodyPr/>
                    <a:lstStyle/>
                    <a:p>
                      <a:endParaRPr/>
                    </a:p>
                  </a:txBody>
                </a:tc>
              </a:tr>
              <a:tr h="0">
                <a:tc>
                  <a:txBody>
                    <a:bodyPr/>
                    <a:lstStyle/>
                    <a:p>
                      <a:pPr lvl="0" indent="0" marL="0">
                        <a:buNone/>
                      </a:pPr>
                      <a:r>
                        <a:rPr/>
                        <a:t>Lane Width (ft)</a:t>
                      </a:r>
                    </a:p>
                  </a:txBody>
                </a:tc>
                <a:tc>
                  <a:txBody>
                    <a:bodyPr/>
                    <a:lstStyle/>
                    <a:p>
                      <a:endParaRPr/>
                    </a:p>
                  </a:txBody>
                </a:tc>
                <a:tc>
                  <a:txBody>
                    <a:bodyPr/>
                    <a:lstStyle/>
                    <a:p>
                      <a:pPr lvl="0" indent="0" marL="0">
                        <a:buNone/>
                      </a:pPr>
                      <a:r>
                        <a:rPr/>
                        <a:t>-0.093587</a:t>
                      </a:r>
                    </a:p>
                  </a:txBody>
                </a:tc>
                <a:tc>
                  <a:txBody>
                    <a:bodyPr/>
                    <a:lstStyle/>
                    <a:p>
                      <a:endParaRPr/>
                    </a:p>
                  </a:txBody>
                </a:tc>
                <a:tc>
                  <a:txBody>
                    <a:bodyPr/>
                    <a:lstStyle/>
                    <a:p>
                      <a:endParaRPr/>
                    </a:p>
                  </a:txBody>
                </a:tc>
              </a:tr>
              <a:tr h="0">
                <a:tc>
                  <a:txBody>
                    <a:bodyPr/>
                    <a:lstStyle/>
                    <a:p>
                      <a:pPr lvl="0" indent="0" marL="0">
                        <a:buNone/>
                      </a:pPr>
                      <a:r>
                        <a:rPr/>
                        <a:t>Lane Width (ft) x log(AADT)</a:t>
                      </a:r>
                    </a:p>
                  </a:txBody>
                </a:tc>
                <a:tc>
                  <a:txBody>
                    <a:bodyPr/>
                    <a:lstStyle/>
                    <a:p>
                      <a:endParaRPr/>
                    </a:p>
                  </a:txBody>
                </a:tc>
                <a:tc>
                  <a:txBody>
                    <a:bodyPr/>
                    <a:lstStyle/>
                    <a:p>
                      <a:pPr lvl="0" indent="0" marL="0">
                        <a:buNone/>
                      </a:pPr>
                      <a:r>
                        <a:rPr/>
                        <a:t>0.007206</a:t>
                      </a:r>
                    </a:p>
                  </a:txBody>
                </a:tc>
                <a:tc>
                  <a:txBody>
                    <a:bodyPr/>
                    <a:lstStyle/>
                    <a:p>
                      <a:endParaRPr/>
                    </a:p>
                  </a:txBody>
                </a:tc>
                <a:tc>
                  <a:txBody>
                    <a:bodyPr/>
                    <a:lstStyle/>
                    <a:p>
                      <a:endParaRPr/>
                    </a:p>
                  </a:txBody>
                </a:tc>
              </a:tr>
              <a:tr h="0">
                <a:tc>
                  <a:txBody>
                    <a:bodyPr/>
                    <a:lstStyle/>
                    <a:p>
                      <a:pPr lvl="0" indent="0" marL="0">
                        <a:buNone/>
                      </a:pPr>
                      <a:r>
                        <a:rPr/>
                        <a:t>Low-Precipitation Days per Year (precip &lt; 1.5 in/month)</a:t>
                      </a:r>
                    </a:p>
                  </a:txBody>
                </a:tc>
                <a:tc>
                  <a:txBody>
                    <a:bodyPr/>
                    <a:lstStyle/>
                    <a:p>
                      <a:pPr lvl="0" indent="0" marL="0">
                        <a:buNone/>
                      </a:pPr>
                      <a:r>
                        <a:rPr/>
                        <a:t>-0.124630</a:t>
                      </a:r>
                    </a:p>
                  </a:txBody>
                </a:tc>
                <a:tc>
                  <a:txBody>
                    <a:bodyPr/>
                    <a:lstStyle/>
                    <a:p>
                      <a:endParaRPr/>
                    </a:p>
                  </a:txBody>
                </a:tc>
                <a:tc>
                  <a:txBody>
                    <a:bodyPr/>
                    <a:lstStyle/>
                    <a:p>
                      <a:endParaRPr/>
                    </a:p>
                  </a:txBody>
                </a:tc>
                <a:tc>
                  <a:txBody>
                    <a:bodyPr/>
                    <a:lstStyle/>
                    <a:p>
                      <a:endParaRPr/>
                    </a:p>
                  </a:txBody>
                </a:tc>
              </a:tr>
              <a:tr h="0">
                <a:tc>
                  <a:txBody>
                    <a:bodyPr/>
                    <a:lstStyle/>
                    <a:p>
                      <a:pPr lvl="0" indent="0" marL="0">
                        <a:buNone/>
                      </a:pPr>
                      <a:r>
                        <a:rPr/>
                        <a:t>Minimum Vertical Grade (%)</a:t>
                      </a:r>
                    </a:p>
                  </a:txBody>
                </a:tc>
                <a:tc>
                  <a:txBody>
                    <a:bodyPr/>
                    <a:lstStyle/>
                    <a:p>
                      <a:endParaRPr/>
                    </a:p>
                  </a:txBody>
                </a:tc>
                <a:tc>
                  <a:txBody>
                    <a:bodyPr/>
                    <a:lstStyle/>
                    <a:p>
                      <a:pPr lvl="0" indent="0" marL="0">
                        <a:buNone/>
                      </a:pPr>
                      <a:r>
                        <a:rPr/>
                        <a:t>-0.060196</a:t>
                      </a:r>
                    </a:p>
                  </a:txBody>
                </a:tc>
                <a:tc>
                  <a:txBody>
                    <a:bodyPr/>
                    <a:lstStyle/>
                    <a:p>
                      <a:endParaRPr/>
                    </a:p>
                  </a:txBody>
                </a:tc>
                <a:tc>
                  <a:txBody>
                    <a:bodyPr/>
                    <a:lstStyle/>
                    <a:p>
                      <a:endParaRPr/>
                    </a:p>
                  </a:txBody>
                </a:tc>
              </a:tr>
              <a:tr h="0">
                <a:tc>
                  <a:txBody>
                    <a:bodyPr/>
                    <a:lstStyle/>
                    <a:p>
                      <a:pPr lvl="0" indent="0" marL="0">
                        <a:buNone/>
                      </a:pPr>
                      <a:r>
                        <a:rPr/>
                        <a:t>Number of Horizontal Curves (count)</a:t>
                      </a:r>
                    </a:p>
                  </a:txBody>
                </a:tc>
                <a:tc>
                  <a:txBody>
                    <a:bodyPr/>
                    <a:lstStyle/>
                    <a:p>
                      <a:endParaRPr/>
                    </a:p>
                  </a:txBody>
                </a:tc>
                <a:tc>
                  <a:txBody>
                    <a:bodyPr/>
                    <a:lstStyle/>
                    <a:p>
                      <a:pPr lvl="0" indent="0" marL="0">
                        <a:buNone/>
                      </a:pPr>
                      <a:r>
                        <a:rPr/>
                        <a:t>-0.022981</a:t>
                      </a:r>
                    </a:p>
                  </a:txBody>
                </a:tc>
                <a:tc>
                  <a:txBody>
                    <a:bodyPr/>
                    <a:lstStyle/>
                    <a:p>
                      <a:endParaRPr/>
                    </a:p>
                  </a:txBody>
                </a:tc>
                <a:tc>
                  <a:txBody>
                    <a:bodyPr/>
                    <a:lstStyle/>
                    <a:p>
                      <a:endParaRPr/>
                    </a:p>
                  </a:txBody>
                </a:tc>
              </a:tr>
              <a:tr h="0">
                <a:tc>
                  <a:txBody>
                    <a:bodyPr/>
                    <a:lstStyle/>
                    <a:p>
                      <a:pPr lvl="0" indent="0" marL="0">
                        <a:buNone/>
                      </a:pPr>
                      <a:r>
                        <a:rPr/>
                        <a:t>Pavement Friction, Skid Number (higher = more grip)</a:t>
                      </a:r>
                    </a:p>
                  </a:txBody>
                </a:tc>
                <a:tc>
                  <a:txBody>
                    <a:bodyPr/>
                    <a:lstStyle/>
                    <a:p>
                      <a:pPr lvl="0" indent="0" marL="0">
                        <a:buNone/>
                      </a:pPr>
                      <a:r>
                        <a:rPr/>
                        <a:t>0.015220</a:t>
                      </a:r>
                    </a:p>
                  </a:txBody>
                </a:tc>
                <a:tc>
                  <a:txBody>
                    <a:bodyPr/>
                    <a:lstStyle/>
                    <a:p>
                      <a:endParaRPr/>
                    </a:p>
                  </a:txBody>
                </a:tc>
                <a:tc>
                  <a:txBody>
                    <a:bodyPr/>
                    <a:lstStyle/>
                    <a:p>
                      <a:endParaRPr/>
                    </a:p>
                  </a:txBody>
                </a:tc>
                <a:tc>
                  <a:txBody>
                    <a:bodyPr/>
                    <a:lstStyle/>
                    <a:p>
                      <a:endParaRPr/>
                    </a:p>
                  </a:txBody>
                </a:tc>
              </a:tr>
              <a:tr h="0">
                <a:tc>
                  <a:txBody>
                    <a:bodyPr/>
                    <a:lstStyle/>
                    <a:p>
                      <a:pPr lvl="0" indent="0" marL="0">
                        <a:buNone/>
                      </a:pPr>
                      <a:r>
                        <a:rPr/>
                        <a:t>Posted Speed Limit (mph)</a:t>
                      </a:r>
                    </a:p>
                  </a:txBody>
                </a:tc>
                <a:tc>
                  <a:txBody>
                    <a:bodyPr/>
                    <a:lstStyle/>
                    <a:p>
                      <a:endParaRPr/>
                    </a:p>
                  </a:txBody>
                </a:tc>
                <a:tc>
                  <a:txBody>
                    <a:bodyPr/>
                    <a:lstStyle/>
                    <a:p>
                      <a:pPr lvl="0" indent="0" marL="0">
                        <a:buNone/>
                      </a:pPr>
                      <a:r>
                        <a:rPr/>
                        <a:t>-0.011960</a:t>
                      </a:r>
                    </a:p>
                  </a:txBody>
                </a:tc>
                <a:tc>
                  <a:txBody>
                    <a:bodyPr/>
                    <a:lstStyle/>
                    <a:p>
                      <a:endParaRPr/>
                    </a:p>
                  </a:txBody>
                </a:tc>
                <a:tc>
                  <a:txBody>
                    <a:bodyPr/>
                    <a:lstStyle/>
                    <a:p>
                      <a:endParaRPr/>
                    </a:p>
                  </a:txBody>
                </a:tc>
              </a:tr>
              <a:tr h="0">
                <a:tc>
                  <a:txBody>
                    <a:bodyPr/>
                    <a:lstStyle/>
                    <a:p>
                      <a:pPr lvl="0" indent="0" marL="0">
                        <a:buNone/>
                      </a:pPr>
                      <a:r>
                        <a:rPr/>
                        <a:t>log(AADT)</a:t>
                      </a:r>
                    </a:p>
                  </a:txBody>
                </a:tc>
                <a:tc>
                  <a:txBody>
                    <a:bodyPr/>
                    <a:lstStyle/>
                    <a:p>
                      <a:endParaRPr/>
                    </a:p>
                  </a:txBody>
                </a:tc>
                <a:tc>
                  <a:txBody>
                    <a:bodyPr/>
                    <a:lstStyle/>
                    <a:p>
                      <a:pPr lvl="0" indent="0" marL="0">
                        <a:buNone/>
                      </a:pPr>
                      <a:r>
                        <a:rPr/>
                        <a:t>0.883433</a:t>
                      </a:r>
                    </a:p>
                  </a:txBody>
                </a:tc>
                <a:tc>
                  <a:txBody>
                    <a:bodyPr/>
                    <a:lstStyle/>
                    <a:p>
                      <a:endParaRPr/>
                    </a:p>
                  </a:txBody>
                </a:tc>
                <a:tc>
                  <a:txBody>
                    <a:bodyPr/>
                    <a:lstStyle/>
                    <a:p>
                      <a:endParaRPr/>
                    </a:p>
                  </a:txBody>
                </a:tc>
              </a:tr>
            </a:tbl>
          </a:graphicData>
        </a:graphic>
      </p:graphicFrame>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Washington Highway CMF Analysis</dc:title>
  <dc:creator>MetaCount Research Group</dc:creator>
  <cp:keywords/>
  <dcterms:created xsi:type="dcterms:W3CDTF">2026-05-17T06:08:43Z</dcterms:created>
  <dcterms:modified xsi:type="dcterms:W3CDTF">2026-05-17T06:08:43Z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date">
    <vt:lpwstr>2026-05-17</vt:lpwstr>
  </property>
  <property fmtid="{D5CDD505-2E9C-101B-9397-08002B2CF9AE}" pid="6" name="execute">
    <vt:lpwstr/>
  </property>
  <property fmtid="{D5CDD505-2E9C-101B-9397-08002B2CF9AE}" pid="7" name="header-includes">
    <vt:lpwstr/>
  </property>
  <property fmtid="{D5CDD505-2E9C-101B-9397-08002B2CF9AE}" pid="8" name="include-after">
    <vt:lpwstr/>
  </property>
  <property fmtid="{D5CDD505-2E9C-101B-9397-08002B2CF9AE}" pid="9" name="include-before">
    <vt:lpwstr/>
  </property>
  <property fmtid="{D5CDD505-2E9C-101B-9397-08002B2CF9AE}" pid="10" name="labels">
    <vt:lpwstr/>
  </property>
  <property fmtid="{D5CDD505-2E9C-101B-9397-08002B2CF9AE}" pid="11" name="subtitle">
    <vt:lpwstr>Hierarchical Crash Modification Factors</vt:lpwstr>
  </property>
  <property fmtid="{D5CDD505-2E9C-101B-9397-08002B2CF9AE}" pid="12" name="toc-title">
    <vt:lpwstr>Table of contents</vt:lpwstr>
  </property>
</Properties>
</file>